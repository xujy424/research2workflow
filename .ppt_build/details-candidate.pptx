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1667132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依据用户周报、月报及项目代码拟定</a:t>
            </a:r>
            <a:r>
              <a:rPr lang="en-US" altLang="zh-CN"/>
              <a:t>2027</a:t>
            </a:r>
            <a:r>
              <a:rPr lang="zh-CN" altLang="en-US"/>
              <a:t>年计划。</a:t>
            </a:r>
            <a:r>
              <a:rPr lang="en-US" altLang="zh-CN"/>
              <a:t>PRIME</a:t>
            </a:r>
            <a:r>
              <a:rPr lang="zh-CN" altLang="en-US"/>
              <a:t>风格感知和标签自适应均为待检验方向。自适应权重在验证集选择，独立样本仅用于最终检验。</a:t>
            </a:r>
            <a:r>
              <a:rPr lang="en-US" altLang="zh-CN"/>
              <a:t>GRU</a:t>
            </a:r>
            <a:r>
              <a:rPr lang="zh-CN" altLang="en-US"/>
              <a:t>与机器学习即本页</a:t>
            </a:r>
            <a:r>
              <a:rPr lang="en-US" altLang="zh-CN"/>
              <a:t>AI</a:t>
            </a:r>
            <a:r>
              <a:rPr lang="zh-CN" altLang="en-US"/>
              <a:t>技术的具体应用，不等同于大语言模型。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依据用户周报与月报拟定</a:t>
            </a:r>
            <a:r>
              <a:rPr lang="en-US" altLang="zh-CN"/>
              <a:t>2027</a:t>
            </a:r>
            <a:r>
              <a:rPr lang="zh-CN" altLang="en-US"/>
              <a:t>年计划。</a:t>
            </a:r>
            <a:r>
              <a:rPr lang="en-US" altLang="zh-CN"/>
              <a:t>AI</a:t>
            </a:r>
            <a:r>
              <a:rPr lang="zh-CN" altLang="en-US"/>
              <a:t>用于因子增量检验、风格感知和条件配权，监控与复盘保留人工判断。模拟盘仅纳入通过样本外与成本检验的原型，不将待研究功能写作已有成果。参考用户提供的</a:t>
            </a:r>
            <a:r>
              <a:rPr lang="en-US" altLang="zh-CN"/>
              <a:t>2027</a:t>
            </a:r>
            <a:r>
              <a:rPr lang="zh-CN" altLang="en-US"/>
              <a:t>年度经营计划</a:t>
            </a:r>
            <a:r>
              <a:rPr lang="en-US" altLang="zh-CN"/>
              <a:t>_</a:t>
            </a:r>
            <a:r>
              <a:rPr lang="zh-CN" altLang="en-US"/>
              <a:t>量化研究</a:t>
            </a:r>
            <a:r>
              <a:rPr lang="en-US" altLang="zh-CN"/>
              <a:t>_</a:t>
            </a:r>
            <a:r>
              <a:rPr lang="zh-CN" altLang="en-US"/>
              <a:t>结合月报周报</a:t>
            </a:r>
            <a:r>
              <a:rPr lang="en-US" altLang="zh-CN"/>
              <a:t>_</a:t>
            </a:r>
            <a:r>
              <a:rPr lang="zh-CN" altLang="en-US"/>
              <a:t>更新版</a:t>
            </a:r>
            <a:r>
              <a:rPr lang="en-US" altLang="zh-CN"/>
              <a:t>.pptx</a:t>
            </a:r>
            <a:r>
              <a:rPr lang="zh-CN" altLang="en-US"/>
              <a:t>。策略一对行业市值、动量与反转做残差化或中性控制。策略二输出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个月历史分位，候选因子含动量、反转、价值、成长及低波。统一风险和交易约束后比较各类配置，报告超额、回撤、换手及容量。季度节点为拟定计划。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风格感知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多任务学习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样本外验证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0">
                <a:solidFill>
                  <a:prstClr val="black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endParaRPr lang="zh-CN" altLang="en-US" sz="1100" b="0" dirty="0">
              <a:solidFill>
                <a:prstClr val="black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年目标：以</a:t>
            </a:r>
            <a:r>
              <a:rPr lang="en-US" altLang="zh-CN" sz="1600"/>
              <a:t>AI</a:t>
            </a:r>
            <a:r>
              <a:rPr lang="zh-CN" altLang="en-US" sz="1600"/>
              <a:t>风格感知与多期限监督升级</a:t>
            </a:r>
            <a:r>
              <a:rPr lang="en-US" altLang="zh-CN" sz="1600"/>
              <a:t>2</a:t>
            </a:r>
            <a:r>
              <a:rPr lang="zh-CN" altLang="en-US" sz="1600"/>
              <a:t>项模型组件。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FE5180-05C1-F58E-8CF8-C90975B94AC9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AI风格感知：条件输入与状态门控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99178D-0B54-83E2-EF8E-F278E8CF8494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Q1统一L2、预期及成长因子的生效时点，构建大小盘、成长价值与风险状态样本。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1DF07B-C4F8-5469-C7B6-016E6781887F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Q2借鉴PRIME加入状态输入与门控，对比无状态GRU和分位规则，检验未来因子收益。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9945CB-AF5F-687F-60C3-F518DF541FC1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多任务学习：共享GRU，预测不同期限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7EBE03-990A-F26C-D9D8-601D7D68A600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设置1、3、5日预测头，各自拟合真实收益，以等权损失训练，对比单一5日标签。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FCA643-70A6-BA2E-2C3C-4DFFB0BBB19F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先检验5日RankIC与成本后收益，优于单任务后再试自适应权重，独立样本留作终检。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8FF4E8-DBF6-87F5-7629-949F23FC5FA6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滚动验证：识别模型的真实增量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B77F86-D848-7FE6-3A77-EE29E5F698C3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Q3分别检验状态门控与多任务的贡献，比较分域RankIC、分组单调性及成本后超额。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0FA1A4-3458-8990-02E5-915FFDE21914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Q4跟踪通过检验的模拟盘，归档数据口径、模型配置与失效条件，训练验证按标签期隔离。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1036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38200" y="121031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: 圆角 8"/>
          <p:cNvSpPr/>
          <p:nvPr/>
        </p:nvSpPr>
        <p:spPr>
          <a:xfrm>
            <a:off x="3069943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434397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选股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7798851" y="1557364"/>
            <a:ext cx="1389344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市场状态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0315092" y="1557364"/>
            <a:ext cx="1266530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配权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箭头: 右 16"/>
          <p:cNvSpPr/>
          <p:nvPr/>
        </p:nvSpPr>
        <p:spPr>
          <a:xfrm>
            <a:off x="4310827" y="161535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6834234" y="1622399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9392206" y="162239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172"/>
          <p:cNvSpPr/>
          <p:nvPr/>
        </p:nvSpPr>
        <p:spPr>
          <a:xfrm>
            <a:off x="2585616" y="2332128"/>
            <a:ext cx="2010410" cy="4088906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8" y="35"/>
                  <a:pt x="177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8" y="1"/>
                  <a:pt x="5328" y="5"/>
                </a:cubicBezTo>
                <a:cubicBezTo>
                  <a:pt x="5348" y="8"/>
                  <a:pt x="5368" y="13"/>
                  <a:pt x="5388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2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2" y="12807"/>
                  <a:pt x="5530" y="12824"/>
                </a:cubicBezTo>
                <a:cubicBezTo>
                  <a:pt x="5518" y="12841"/>
                  <a:pt x="5505" y="12857"/>
                  <a:pt x="5491" y="12872"/>
                </a:cubicBezTo>
                <a:cubicBezTo>
                  <a:pt x="5476" y="12887"/>
                  <a:pt x="5460" y="12900"/>
                  <a:pt x="5442" y="12912"/>
                </a:cubicBezTo>
                <a:cubicBezTo>
                  <a:pt x="5425" y="12923"/>
                  <a:pt x="5407" y="12933"/>
                  <a:pt x="5388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8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7" y="12933"/>
                  <a:pt x="158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任意多边形 173"/>
          <p:cNvSpPr/>
          <p:nvPr/>
        </p:nvSpPr>
        <p:spPr>
          <a:xfrm>
            <a:off x="2585496" y="2217767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754263" y="2762730"/>
            <a:ext cx="1736615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增强指增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特征构造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18535" y="3238384"/>
            <a:ext cx="1847850" cy="2790892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▪"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Q1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按时段、订单规模及主动方向拆分委托与成交样本。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▪"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提取订单流不平衡、交易聚集和冲击后流动性恢复，补充成长与预期因子。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任意多边形 176"/>
          <p:cNvSpPr/>
          <p:nvPr/>
        </p:nvSpPr>
        <p:spPr>
          <a:xfrm>
            <a:off x="4989381" y="2359802"/>
            <a:ext cx="2009775" cy="4061232"/>
          </a:xfrm>
          <a:custGeom>
            <a:avLst/>
            <a:gdLst/>
            <a:ahLst/>
            <a:cxnLst/>
            <a:rect l="0" t="0" r="r" b="b"/>
            <a:pathLst>
              <a:path w="5583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1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7" y="65"/>
                  <a:pt x="123" y="54"/>
                  <a:pt x="141" y="44"/>
                </a:cubicBezTo>
                <a:cubicBezTo>
                  <a:pt x="158" y="35"/>
                  <a:pt x="176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7" y="1"/>
                  <a:pt x="5328" y="5"/>
                </a:cubicBezTo>
                <a:cubicBezTo>
                  <a:pt x="5348" y="8"/>
                  <a:pt x="5368" y="13"/>
                  <a:pt x="5387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59" y="54"/>
                  <a:pt x="5476" y="65"/>
                  <a:pt x="5490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1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1" y="230"/>
                  <a:pt x="5583" y="247"/>
                  <a:pt x="5583" y="264"/>
                </a:cubicBezTo>
                <a:lnTo>
                  <a:pt x="5583" y="12648"/>
                </a:lnTo>
                <a:cubicBezTo>
                  <a:pt x="5583" y="12669"/>
                  <a:pt x="5581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1" y="12807"/>
                  <a:pt x="5530" y="12824"/>
                </a:cubicBezTo>
                <a:cubicBezTo>
                  <a:pt x="5518" y="12841"/>
                  <a:pt x="5505" y="12857"/>
                  <a:pt x="5490" y="12872"/>
                </a:cubicBezTo>
                <a:cubicBezTo>
                  <a:pt x="5476" y="12887"/>
                  <a:pt x="5459" y="12900"/>
                  <a:pt x="5442" y="12912"/>
                </a:cubicBezTo>
                <a:cubicBezTo>
                  <a:pt x="5425" y="12923"/>
                  <a:pt x="5407" y="12933"/>
                  <a:pt x="5387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7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6" y="12933"/>
                  <a:pt x="158" y="12923"/>
                  <a:pt x="141" y="12912"/>
                </a:cubicBezTo>
                <a:cubicBezTo>
                  <a:pt x="123" y="12900"/>
                  <a:pt x="107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1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任意多边形 177"/>
          <p:cNvSpPr/>
          <p:nvPr/>
        </p:nvSpPr>
        <p:spPr>
          <a:xfrm>
            <a:off x="4989366" y="2245441"/>
            <a:ext cx="2009880" cy="114480"/>
          </a:xfrm>
          <a:custGeom>
            <a:avLst/>
            <a:gdLst/>
            <a:ahLst/>
            <a:cxnLst/>
            <a:rect l="0" t="0" r="r" b="b"/>
            <a:pathLst>
              <a:path w="5583" h="318">
                <a:moveTo>
                  <a:pt x="0" y="0"/>
                </a:moveTo>
                <a:lnTo>
                  <a:pt x="5583" y="0"/>
                </a:lnTo>
                <a:lnTo>
                  <a:pt x="5583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34" name="任意多边形 178"/>
          <p:cNvSpPr/>
          <p:nvPr/>
        </p:nvSpPr>
        <p:spPr>
          <a:xfrm>
            <a:off x="5779926" y="2386467"/>
            <a:ext cx="428760" cy="343080"/>
          </a:xfrm>
          <a:custGeom>
            <a:avLst/>
            <a:gdLst/>
            <a:ahLst/>
            <a:cxnLst/>
            <a:rect l="0" t="0" r="r" b="b"/>
            <a:pathLst>
              <a:path w="1191" h="953">
                <a:moveTo>
                  <a:pt x="326" y="725"/>
                </a:moveTo>
                <a:cubicBezTo>
                  <a:pt x="308" y="755"/>
                  <a:pt x="298" y="789"/>
                  <a:pt x="298" y="824"/>
                </a:cubicBezTo>
                <a:cubicBezTo>
                  <a:pt x="280" y="831"/>
                  <a:pt x="260" y="834"/>
                  <a:pt x="239" y="834"/>
                </a:cubicBezTo>
                <a:cubicBezTo>
                  <a:pt x="140" y="834"/>
                  <a:pt x="60" y="754"/>
                  <a:pt x="60" y="656"/>
                </a:cubicBezTo>
                <a:lnTo>
                  <a:pt x="60" y="120"/>
                </a:lnTo>
                <a:cubicBezTo>
                  <a:pt x="27" y="120"/>
                  <a:pt x="0" y="93"/>
                  <a:pt x="0" y="60"/>
                </a:cubicBezTo>
                <a:cubicBezTo>
                  <a:pt x="0" y="27"/>
                  <a:pt x="27" y="0"/>
                  <a:pt x="60" y="0"/>
                </a:cubicBezTo>
                <a:lnTo>
                  <a:pt x="179" y="0"/>
                </a:lnTo>
                <a:lnTo>
                  <a:pt x="298" y="0"/>
                </a:lnTo>
                <a:lnTo>
                  <a:pt x="417" y="0"/>
                </a:lnTo>
                <a:cubicBezTo>
                  <a:pt x="450" y="0"/>
                  <a:pt x="477" y="27"/>
                  <a:pt x="477" y="60"/>
                </a:cubicBezTo>
                <a:cubicBezTo>
                  <a:pt x="477" y="93"/>
                  <a:pt x="450" y="120"/>
                  <a:pt x="417" y="120"/>
                </a:cubicBezTo>
                <a:lnTo>
                  <a:pt x="417" y="577"/>
                </a:lnTo>
                <a:lnTo>
                  <a:pt x="326" y="725"/>
                </a:lnTo>
                <a:moveTo>
                  <a:pt x="179" y="120"/>
                </a:moveTo>
                <a:lnTo>
                  <a:pt x="179" y="298"/>
                </a:lnTo>
                <a:lnTo>
                  <a:pt x="298" y="298"/>
                </a:lnTo>
                <a:lnTo>
                  <a:pt x="298" y="120"/>
                </a:lnTo>
                <a:lnTo>
                  <a:pt x="179" y="120"/>
                </a:lnTo>
                <a:moveTo>
                  <a:pt x="655" y="0"/>
                </a:moveTo>
                <a:lnTo>
                  <a:pt x="894" y="0"/>
                </a:lnTo>
                <a:lnTo>
                  <a:pt x="953" y="0"/>
                </a:lnTo>
                <a:cubicBezTo>
                  <a:pt x="986" y="0"/>
                  <a:pt x="1013" y="27"/>
                  <a:pt x="1013" y="60"/>
                </a:cubicBezTo>
                <a:cubicBezTo>
                  <a:pt x="1013" y="93"/>
                  <a:pt x="986" y="120"/>
                  <a:pt x="953" y="120"/>
                </a:cubicBezTo>
                <a:lnTo>
                  <a:pt x="953" y="401"/>
                </a:lnTo>
                <a:lnTo>
                  <a:pt x="1172" y="756"/>
                </a:lnTo>
                <a:cubicBezTo>
                  <a:pt x="1185" y="777"/>
                  <a:pt x="1191" y="800"/>
                  <a:pt x="1191" y="824"/>
                </a:cubicBezTo>
                <a:cubicBezTo>
                  <a:pt x="1191" y="895"/>
                  <a:pt x="1133" y="953"/>
                  <a:pt x="1062" y="953"/>
                </a:cubicBezTo>
                <a:lnTo>
                  <a:pt x="487" y="953"/>
                </a:lnTo>
                <a:cubicBezTo>
                  <a:pt x="416" y="953"/>
                  <a:pt x="358" y="895"/>
                  <a:pt x="358" y="824"/>
                </a:cubicBezTo>
                <a:cubicBezTo>
                  <a:pt x="358" y="800"/>
                  <a:pt x="364" y="777"/>
                  <a:pt x="377" y="756"/>
                </a:cubicBezTo>
                <a:lnTo>
                  <a:pt x="596" y="401"/>
                </a:lnTo>
                <a:lnTo>
                  <a:pt x="596" y="120"/>
                </a:lnTo>
                <a:cubicBezTo>
                  <a:pt x="563" y="120"/>
                  <a:pt x="536" y="93"/>
                  <a:pt x="536" y="60"/>
                </a:cubicBezTo>
                <a:cubicBezTo>
                  <a:pt x="536" y="27"/>
                  <a:pt x="563" y="0"/>
                  <a:pt x="596" y="0"/>
                </a:cubicBezTo>
                <a:lnTo>
                  <a:pt x="655" y="0"/>
                </a:lnTo>
                <a:moveTo>
                  <a:pt x="715" y="120"/>
                </a:moveTo>
                <a:lnTo>
                  <a:pt x="715" y="418"/>
                </a:lnTo>
                <a:cubicBezTo>
                  <a:pt x="715" y="428"/>
                  <a:pt x="712" y="439"/>
                  <a:pt x="706" y="449"/>
                </a:cubicBezTo>
                <a:lnTo>
                  <a:pt x="615" y="596"/>
                </a:lnTo>
                <a:lnTo>
                  <a:pt x="934" y="596"/>
                </a:lnTo>
                <a:lnTo>
                  <a:pt x="843" y="449"/>
                </a:lnTo>
                <a:cubicBezTo>
                  <a:pt x="837" y="439"/>
                  <a:pt x="834" y="429"/>
                  <a:pt x="834" y="418"/>
                </a:cubicBezTo>
                <a:lnTo>
                  <a:pt x="834" y="120"/>
                </a:lnTo>
                <a:lnTo>
                  <a:pt x="715" y="120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09547" y="2832272"/>
            <a:ext cx="926536" cy="430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L2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增强指增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筛选组合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35736" y="3235702"/>
            <a:ext cx="1847850" cy="2510816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Q2</a:t>
            </a:r>
            <a:r>
              <a:rPr lang="zh-CN" altLang="en-US" sz="1400">
                <a:latin typeface="微软雅黑" panose="020B0503020204020204" pitchFamily="34" charset="-122"/>
              </a:rPr>
              <a:t>用机器学习检验因子增量，控制行业市值及动量反转的影响。</a:t>
            </a:r>
          </a:p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zh-CN" altLang="en-US" sz="1400">
                <a:latin typeface="微软雅黑" panose="020B0503020204020204" pitchFamily="34" charset="-122"/>
              </a:rPr>
              <a:t>按</a:t>
            </a:r>
            <a:r>
              <a:rPr lang="en-US" altLang="zh-CN" sz="1400">
                <a:latin typeface="微软雅黑" panose="020B0503020204020204" pitchFamily="34" charset="-122"/>
              </a:rPr>
              <a:t>ICIR</a:t>
            </a:r>
            <a:r>
              <a:rPr lang="zh-CN" altLang="en-US" sz="1400">
                <a:latin typeface="微软雅黑" panose="020B0503020204020204" pitchFamily="34" charset="-122"/>
              </a:rPr>
              <a:t>和相关性筛选，加入风险模型、换手与容量约束。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sp>
        <p:nvSpPr>
          <p:cNvPr id="38" name="任意多边形 182"/>
          <p:cNvSpPr/>
          <p:nvPr/>
        </p:nvSpPr>
        <p:spPr>
          <a:xfrm>
            <a:off x="7522152" y="2359802"/>
            <a:ext cx="2019300" cy="4061232"/>
          </a:xfrm>
          <a:custGeom>
            <a:avLst/>
            <a:gdLst/>
            <a:ahLst/>
            <a:cxnLst/>
            <a:rect l="0" t="0" r="r" b="b"/>
            <a:pathLst>
              <a:path w="5610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4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5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92" y="0"/>
                </a:lnTo>
                <a:cubicBezTo>
                  <a:pt x="5313" y="0"/>
                  <a:pt x="5333" y="1"/>
                  <a:pt x="5354" y="5"/>
                </a:cubicBezTo>
                <a:cubicBezTo>
                  <a:pt x="5374" y="8"/>
                  <a:pt x="5394" y="13"/>
                  <a:pt x="5413" y="20"/>
                </a:cubicBezTo>
                <a:cubicBezTo>
                  <a:pt x="5433" y="26"/>
                  <a:pt x="5451" y="35"/>
                  <a:pt x="5468" y="44"/>
                </a:cubicBezTo>
                <a:cubicBezTo>
                  <a:pt x="5486" y="54"/>
                  <a:pt x="5502" y="65"/>
                  <a:pt x="5517" y="77"/>
                </a:cubicBezTo>
                <a:cubicBezTo>
                  <a:pt x="5532" y="89"/>
                  <a:pt x="5545" y="103"/>
                  <a:pt x="5557" y="117"/>
                </a:cubicBezTo>
                <a:cubicBezTo>
                  <a:pt x="5568" y="132"/>
                  <a:pt x="5578" y="147"/>
                  <a:pt x="5586" y="163"/>
                </a:cubicBezTo>
                <a:cubicBezTo>
                  <a:pt x="5594" y="179"/>
                  <a:pt x="5600" y="196"/>
                  <a:pt x="5604" y="213"/>
                </a:cubicBezTo>
                <a:cubicBezTo>
                  <a:pt x="5608" y="230"/>
                  <a:pt x="5610" y="247"/>
                  <a:pt x="5610" y="264"/>
                </a:cubicBezTo>
                <a:lnTo>
                  <a:pt x="5610" y="12648"/>
                </a:lnTo>
                <a:cubicBezTo>
                  <a:pt x="5610" y="12669"/>
                  <a:pt x="5608" y="12689"/>
                  <a:pt x="5604" y="12710"/>
                </a:cubicBezTo>
                <a:cubicBezTo>
                  <a:pt x="5600" y="12730"/>
                  <a:pt x="5594" y="12750"/>
                  <a:pt x="5586" y="12769"/>
                </a:cubicBezTo>
                <a:cubicBezTo>
                  <a:pt x="5578" y="12788"/>
                  <a:pt x="5568" y="12807"/>
                  <a:pt x="5557" y="12824"/>
                </a:cubicBezTo>
                <a:cubicBezTo>
                  <a:pt x="5545" y="12841"/>
                  <a:pt x="5532" y="12857"/>
                  <a:pt x="5517" y="12872"/>
                </a:cubicBezTo>
                <a:cubicBezTo>
                  <a:pt x="5502" y="12887"/>
                  <a:pt x="5486" y="12900"/>
                  <a:pt x="5468" y="12912"/>
                </a:cubicBezTo>
                <a:cubicBezTo>
                  <a:pt x="5451" y="12923"/>
                  <a:pt x="5433" y="12933"/>
                  <a:pt x="5413" y="12941"/>
                </a:cubicBezTo>
                <a:cubicBezTo>
                  <a:pt x="5394" y="12949"/>
                  <a:pt x="5374" y="12955"/>
                  <a:pt x="5354" y="12959"/>
                </a:cubicBezTo>
                <a:cubicBezTo>
                  <a:pt x="5333" y="12963"/>
                  <a:pt x="5313" y="12965"/>
                  <a:pt x="5292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5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4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任意多边形 183"/>
          <p:cNvSpPr/>
          <p:nvPr/>
        </p:nvSpPr>
        <p:spPr>
          <a:xfrm>
            <a:off x="7521882" y="2245441"/>
            <a:ext cx="2019600" cy="114480"/>
          </a:xfrm>
          <a:custGeom>
            <a:avLst/>
            <a:gdLst/>
            <a:ahLst/>
            <a:cxnLst/>
            <a:rect l="0" t="0" r="r" b="b"/>
            <a:pathLst>
              <a:path w="5610" h="318">
                <a:moveTo>
                  <a:pt x="0" y="0"/>
                </a:moveTo>
                <a:lnTo>
                  <a:pt x="5610" y="0"/>
                </a:lnTo>
                <a:lnTo>
                  <a:pt x="561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13536" y="2855918"/>
            <a:ext cx="1077218" cy="430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状态感知配置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指标与面板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64062" y="3245862"/>
            <a:ext cx="1847850" cy="2790892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Q1</a:t>
            </a:r>
            <a:r>
              <a:rPr lang="zh-CN" altLang="en-US" sz="1400">
                <a:latin typeface="微软雅黑" panose="020B0503020204020204" pitchFamily="34" charset="-122"/>
              </a:rPr>
              <a:t>建立大小盘、行业轮动、</a:t>
            </a:r>
            <a:r>
              <a:rPr lang="en-US" altLang="zh-CN" sz="1400">
                <a:latin typeface="微软雅黑" panose="020B0503020204020204" pitchFamily="34" charset="-122"/>
              </a:rPr>
              <a:t>ETF</a:t>
            </a:r>
            <a:r>
              <a:rPr lang="zh-CN" altLang="en-US" sz="1400">
                <a:latin typeface="微软雅黑" panose="020B0503020204020204" pitchFamily="34" charset="-122"/>
              </a:rPr>
              <a:t>申赎及流动性压力指标库。</a:t>
            </a:r>
          </a:p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zh-CN" altLang="en-US" sz="1400">
                <a:latin typeface="微软雅黑" panose="020B0503020204020204" pitchFamily="34" charset="-122"/>
              </a:rPr>
              <a:t>输出多窗口历史分位，检验对未来因子收益的预测力，区分输入与监控。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sp>
        <p:nvSpPr>
          <p:cNvPr id="44" name="任意多边形 188"/>
          <p:cNvSpPr/>
          <p:nvPr/>
        </p:nvSpPr>
        <p:spPr>
          <a:xfrm>
            <a:off x="9943084" y="2359802"/>
            <a:ext cx="2010410" cy="4061232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79"/>
                  <a:pt x="25" y="163"/>
                </a:cubicBezTo>
                <a:cubicBezTo>
                  <a:pt x="33" y="147"/>
                  <a:pt x="42" y="132"/>
                  <a:pt x="54" y="117"/>
                </a:cubicBezTo>
                <a:cubicBezTo>
                  <a:pt x="66" y="103"/>
                  <a:pt x="79" y="89"/>
                  <a:pt x="93" y="77"/>
                </a:cubicBezTo>
                <a:cubicBezTo>
                  <a:pt x="108" y="65"/>
                  <a:pt x="124" y="54"/>
                  <a:pt x="142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6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67" y="0"/>
                </a:lnTo>
                <a:cubicBezTo>
                  <a:pt x="5287" y="0"/>
                  <a:pt x="5308" y="1"/>
                  <a:pt x="5329" y="5"/>
                </a:cubicBezTo>
                <a:cubicBezTo>
                  <a:pt x="5349" y="8"/>
                  <a:pt x="5369" y="13"/>
                  <a:pt x="5388" y="20"/>
                </a:cubicBezTo>
                <a:cubicBezTo>
                  <a:pt x="5407" y="26"/>
                  <a:pt x="5426" y="35"/>
                  <a:pt x="5443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6" y="89"/>
                  <a:pt x="5519" y="103"/>
                  <a:pt x="5531" y="117"/>
                </a:cubicBezTo>
                <a:cubicBezTo>
                  <a:pt x="5542" y="132"/>
                  <a:pt x="5552" y="147"/>
                  <a:pt x="5560" y="163"/>
                </a:cubicBezTo>
                <a:cubicBezTo>
                  <a:pt x="5568" y="179"/>
                  <a:pt x="5574" y="196"/>
                  <a:pt x="5578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8" y="12710"/>
                </a:cubicBezTo>
                <a:cubicBezTo>
                  <a:pt x="5574" y="12730"/>
                  <a:pt x="5568" y="12750"/>
                  <a:pt x="5560" y="12769"/>
                </a:cubicBezTo>
                <a:cubicBezTo>
                  <a:pt x="5552" y="12788"/>
                  <a:pt x="5542" y="12807"/>
                  <a:pt x="5531" y="12824"/>
                </a:cubicBezTo>
                <a:cubicBezTo>
                  <a:pt x="5519" y="12841"/>
                  <a:pt x="5506" y="12857"/>
                  <a:pt x="5491" y="12872"/>
                </a:cubicBezTo>
                <a:cubicBezTo>
                  <a:pt x="5476" y="12887"/>
                  <a:pt x="5460" y="12900"/>
                  <a:pt x="5443" y="12912"/>
                </a:cubicBezTo>
                <a:cubicBezTo>
                  <a:pt x="5426" y="12923"/>
                  <a:pt x="5407" y="12933"/>
                  <a:pt x="5388" y="12941"/>
                </a:cubicBezTo>
                <a:cubicBezTo>
                  <a:pt x="5369" y="12949"/>
                  <a:pt x="5349" y="12955"/>
                  <a:pt x="5329" y="12959"/>
                </a:cubicBezTo>
                <a:cubicBezTo>
                  <a:pt x="5308" y="12963"/>
                  <a:pt x="5287" y="12965"/>
                  <a:pt x="5267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6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2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9" y="12857"/>
                  <a:pt x="66" y="12841"/>
                  <a:pt x="54" y="12824"/>
                </a:cubicBezTo>
                <a:cubicBezTo>
                  <a:pt x="42" y="12807"/>
                  <a:pt x="33" y="12788"/>
                  <a:pt x="25" y="12769"/>
                </a:cubicBezTo>
                <a:cubicBezTo>
                  <a:pt x="17" y="12750"/>
                  <a:pt x="11" y="12730"/>
                  <a:pt x="7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任意多边形 189"/>
          <p:cNvSpPr/>
          <p:nvPr/>
        </p:nvSpPr>
        <p:spPr>
          <a:xfrm>
            <a:off x="9943389" y="2245441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6" name="任意多边形 190"/>
          <p:cNvSpPr/>
          <p:nvPr/>
        </p:nvSpPr>
        <p:spPr>
          <a:xfrm>
            <a:off x="10733949" y="2386467"/>
            <a:ext cx="429120" cy="343080"/>
          </a:xfrm>
          <a:custGeom>
            <a:avLst/>
            <a:gdLst/>
            <a:ahLst/>
            <a:cxnLst/>
            <a:rect l="0" t="0" r="r" b="b"/>
            <a:pathLst>
              <a:path w="1192" h="953">
                <a:moveTo>
                  <a:pt x="596" y="0"/>
                </a:moveTo>
                <a:cubicBezTo>
                  <a:pt x="629" y="0"/>
                  <a:pt x="656" y="27"/>
                  <a:pt x="656" y="60"/>
                </a:cubicBezTo>
                <a:lnTo>
                  <a:pt x="656" y="179"/>
                </a:lnTo>
                <a:lnTo>
                  <a:pt x="880" y="179"/>
                </a:lnTo>
                <a:cubicBezTo>
                  <a:pt x="954" y="179"/>
                  <a:pt x="1013" y="239"/>
                  <a:pt x="1013" y="313"/>
                </a:cubicBezTo>
                <a:lnTo>
                  <a:pt x="1013" y="819"/>
                </a:lnTo>
                <a:cubicBezTo>
                  <a:pt x="1013" y="893"/>
                  <a:pt x="954" y="953"/>
                  <a:pt x="880" y="953"/>
                </a:cubicBezTo>
                <a:lnTo>
                  <a:pt x="313" y="953"/>
                </a:lnTo>
                <a:cubicBezTo>
                  <a:pt x="239" y="953"/>
                  <a:pt x="179" y="893"/>
                  <a:pt x="179" y="819"/>
                </a:cubicBezTo>
                <a:lnTo>
                  <a:pt x="179" y="313"/>
                </a:lnTo>
                <a:cubicBezTo>
                  <a:pt x="179" y="239"/>
                  <a:pt x="239" y="179"/>
                  <a:pt x="313" y="179"/>
                </a:cubicBezTo>
                <a:lnTo>
                  <a:pt x="536" y="179"/>
                </a:lnTo>
                <a:lnTo>
                  <a:pt x="536" y="60"/>
                </a:lnTo>
                <a:cubicBezTo>
                  <a:pt x="536" y="27"/>
                  <a:pt x="563" y="0"/>
                  <a:pt x="596" y="0"/>
                </a:cubicBezTo>
                <a:moveTo>
                  <a:pt x="387" y="715"/>
                </a:moveTo>
                <a:cubicBezTo>
                  <a:pt x="371" y="715"/>
                  <a:pt x="358" y="729"/>
                  <a:pt x="358" y="745"/>
                </a:cubicBezTo>
                <a:cubicBezTo>
                  <a:pt x="358" y="761"/>
                  <a:pt x="371" y="775"/>
                  <a:pt x="387" y="775"/>
                </a:cubicBezTo>
                <a:lnTo>
                  <a:pt x="447" y="775"/>
                </a:lnTo>
                <a:cubicBezTo>
                  <a:pt x="463" y="775"/>
                  <a:pt x="477" y="761"/>
                  <a:pt x="477" y="745"/>
                </a:cubicBezTo>
                <a:cubicBezTo>
                  <a:pt x="477" y="729"/>
                  <a:pt x="463" y="715"/>
                  <a:pt x="447" y="715"/>
                </a:cubicBezTo>
                <a:lnTo>
                  <a:pt x="387" y="715"/>
                </a:lnTo>
                <a:moveTo>
                  <a:pt x="566" y="715"/>
                </a:moveTo>
                <a:cubicBezTo>
                  <a:pt x="550" y="715"/>
                  <a:pt x="536" y="729"/>
                  <a:pt x="536" y="745"/>
                </a:cubicBezTo>
                <a:cubicBezTo>
                  <a:pt x="536" y="761"/>
                  <a:pt x="550" y="775"/>
                  <a:pt x="566" y="775"/>
                </a:cubicBezTo>
                <a:lnTo>
                  <a:pt x="626" y="775"/>
                </a:lnTo>
                <a:cubicBezTo>
                  <a:pt x="643" y="775"/>
                  <a:pt x="656" y="761"/>
                  <a:pt x="656" y="745"/>
                </a:cubicBezTo>
                <a:cubicBezTo>
                  <a:pt x="656" y="729"/>
                  <a:pt x="643" y="715"/>
                  <a:pt x="626" y="715"/>
                </a:cubicBezTo>
                <a:lnTo>
                  <a:pt x="566" y="715"/>
                </a:lnTo>
                <a:moveTo>
                  <a:pt x="746" y="715"/>
                </a:moveTo>
                <a:cubicBezTo>
                  <a:pt x="729" y="715"/>
                  <a:pt x="716" y="729"/>
                  <a:pt x="716" y="745"/>
                </a:cubicBezTo>
                <a:cubicBezTo>
                  <a:pt x="716" y="761"/>
                  <a:pt x="729" y="775"/>
                  <a:pt x="746" y="775"/>
                </a:cubicBezTo>
                <a:lnTo>
                  <a:pt x="805" y="775"/>
                </a:lnTo>
                <a:cubicBezTo>
                  <a:pt x="822" y="775"/>
                  <a:pt x="835" y="761"/>
                  <a:pt x="835" y="745"/>
                </a:cubicBezTo>
                <a:cubicBezTo>
                  <a:pt x="835" y="729"/>
                  <a:pt x="822" y="715"/>
                  <a:pt x="805" y="715"/>
                </a:cubicBezTo>
                <a:lnTo>
                  <a:pt x="746" y="715"/>
                </a:lnTo>
                <a:moveTo>
                  <a:pt x="492" y="477"/>
                </a:moveTo>
                <a:cubicBezTo>
                  <a:pt x="492" y="467"/>
                  <a:pt x="490" y="458"/>
                  <a:pt x="486" y="449"/>
                </a:cubicBezTo>
                <a:cubicBezTo>
                  <a:pt x="482" y="439"/>
                  <a:pt x="477" y="431"/>
                  <a:pt x="470" y="424"/>
                </a:cubicBezTo>
                <a:cubicBezTo>
                  <a:pt x="463" y="417"/>
                  <a:pt x="455" y="412"/>
                  <a:pt x="446" y="408"/>
                </a:cubicBezTo>
                <a:cubicBezTo>
                  <a:pt x="437" y="405"/>
                  <a:pt x="427" y="403"/>
                  <a:pt x="417" y="403"/>
                </a:cubicBezTo>
                <a:cubicBezTo>
                  <a:pt x="407" y="403"/>
                  <a:pt x="398" y="405"/>
                  <a:pt x="389" y="408"/>
                </a:cubicBezTo>
                <a:cubicBezTo>
                  <a:pt x="380" y="412"/>
                  <a:pt x="372" y="417"/>
                  <a:pt x="365" y="424"/>
                </a:cubicBezTo>
                <a:cubicBezTo>
                  <a:pt x="358" y="431"/>
                  <a:pt x="352" y="439"/>
                  <a:pt x="348" y="449"/>
                </a:cubicBezTo>
                <a:cubicBezTo>
                  <a:pt x="345" y="458"/>
                  <a:pt x="343" y="467"/>
                  <a:pt x="343" y="477"/>
                </a:cubicBezTo>
                <a:cubicBezTo>
                  <a:pt x="343" y="487"/>
                  <a:pt x="345" y="496"/>
                  <a:pt x="348" y="506"/>
                </a:cubicBezTo>
                <a:cubicBezTo>
                  <a:pt x="352" y="515"/>
                  <a:pt x="358" y="523"/>
                  <a:pt x="365" y="530"/>
                </a:cubicBezTo>
                <a:cubicBezTo>
                  <a:pt x="372" y="537"/>
                  <a:pt x="380" y="542"/>
                  <a:pt x="389" y="546"/>
                </a:cubicBezTo>
                <a:cubicBezTo>
                  <a:pt x="398" y="550"/>
                  <a:pt x="407" y="551"/>
                  <a:pt x="417" y="551"/>
                </a:cubicBezTo>
                <a:cubicBezTo>
                  <a:pt x="427" y="551"/>
                  <a:pt x="437" y="550"/>
                  <a:pt x="446" y="546"/>
                </a:cubicBezTo>
                <a:cubicBezTo>
                  <a:pt x="455" y="542"/>
                  <a:pt x="463" y="537"/>
                  <a:pt x="470" y="530"/>
                </a:cubicBezTo>
                <a:cubicBezTo>
                  <a:pt x="477" y="523"/>
                  <a:pt x="482" y="515"/>
                  <a:pt x="486" y="506"/>
                </a:cubicBezTo>
                <a:cubicBezTo>
                  <a:pt x="490" y="496"/>
                  <a:pt x="492" y="487"/>
                  <a:pt x="492" y="477"/>
                </a:cubicBezTo>
                <a:moveTo>
                  <a:pt x="775" y="551"/>
                </a:moveTo>
                <a:cubicBezTo>
                  <a:pt x="785" y="551"/>
                  <a:pt x="795" y="550"/>
                  <a:pt x="804" y="546"/>
                </a:cubicBezTo>
                <a:cubicBezTo>
                  <a:pt x="813" y="542"/>
                  <a:pt x="821" y="537"/>
                  <a:pt x="828" y="530"/>
                </a:cubicBezTo>
                <a:cubicBezTo>
                  <a:pt x="835" y="523"/>
                  <a:pt x="840" y="515"/>
                  <a:pt x="844" y="506"/>
                </a:cubicBezTo>
                <a:cubicBezTo>
                  <a:pt x="848" y="496"/>
                  <a:pt x="850" y="487"/>
                  <a:pt x="850" y="477"/>
                </a:cubicBezTo>
                <a:cubicBezTo>
                  <a:pt x="850" y="467"/>
                  <a:pt x="848" y="458"/>
                  <a:pt x="844" y="449"/>
                </a:cubicBezTo>
                <a:cubicBezTo>
                  <a:pt x="840" y="439"/>
                  <a:pt x="835" y="431"/>
                  <a:pt x="828" y="424"/>
                </a:cubicBezTo>
                <a:cubicBezTo>
                  <a:pt x="821" y="417"/>
                  <a:pt x="813" y="412"/>
                  <a:pt x="804" y="408"/>
                </a:cubicBezTo>
                <a:cubicBezTo>
                  <a:pt x="795" y="405"/>
                  <a:pt x="785" y="403"/>
                  <a:pt x="775" y="403"/>
                </a:cubicBezTo>
                <a:cubicBezTo>
                  <a:pt x="765" y="403"/>
                  <a:pt x="756" y="405"/>
                  <a:pt x="747" y="408"/>
                </a:cubicBezTo>
                <a:cubicBezTo>
                  <a:pt x="738" y="412"/>
                  <a:pt x="730" y="417"/>
                  <a:pt x="723" y="424"/>
                </a:cubicBezTo>
                <a:cubicBezTo>
                  <a:pt x="716" y="431"/>
                  <a:pt x="710" y="439"/>
                  <a:pt x="707" y="449"/>
                </a:cubicBezTo>
                <a:cubicBezTo>
                  <a:pt x="703" y="458"/>
                  <a:pt x="701" y="467"/>
                  <a:pt x="701" y="477"/>
                </a:cubicBezTo>
                <a:cubicBezTo>
                  <a:pt x="701" y="487"/>
                  <a:pt x="703" y="496"/>
                  <a:pt x="707" y="506"/>
                </a:cubicBezTo>
                <a:cubicBezTo>
                  <a:pt x="710" y="515"/>
                  <a:pt x="716" y="523"/>
                  <a:pt x="723" y="530"/>
                </a:cubicBezTo>
                <a:cubicBezTo>
                  <a:pt x="730" y="537"/>
                  <a:pt x="738" y="542"/>
                  <a:pt x="747" y="546"/>
                </a:cubicBezTo>
                <a:cubicBezTo>
                  <a:pt x="756" y="550"/>
                  <a:pt x="765" y="551"/>
                  <a:pt x="775" y="551"/>
                </a:cubicBezTo>
                <a:moveTo>
                  <a:pt x="90" y="418"/>
                </a:moveTo>
                <a:lnTo>
                  <a:pt x="120" y="418"/>
                </a:lnTo>
                <a:lnTo>
                  <a:pt x="120" y="775"/>
                </a:lnTo>
                <a:lnTo>
                  <a:pt x="90" y="775"/>
                </a:lnTo>
                <a:cubicBezTo>
                  <a:pt x="40" y="775"/>
                  <a:pt x="0" y="735"/>
                  <a:pt x="0" y="685"/>
                </a:cubicBezTo>
                <a:lnTo>
                  <a:pt x="0" y="507"/>
                </a:lnTo>
                <a:cubicBezTo>
                  <a:pt x="0" y="458"/>
                  <a:pt x="40" y="418"/>
                  <a:pt x="90" y="418"/>
                </a:cubicBezTo>
                <a:moveTo>
                  <a:pt x="1103" y="418"/>
                </a:moveTo>
                <a:cubicBezTo>
                  <a:pt x="1152" y="418"/>
                  <a:pt x="1192" y="458"/>
                  <a:pt x="1192" y="507"/>
                </a:cubicBezTo>
                <a:lnTo>
                  <a:pt x="1192" y="685"/>
                </a:lnTo>
                <a:cubicBezTo>
                  <a:pt x="1192" y="735"/>
                  <a:pt x="1152" y="775"/>
                  <a:pt x="1103" y="775"/>
                </a:cubicBezTo>
                <a:lnTo>
                  <a:pt x="1073" y="775"/>
                </a:lnTo>
                <a:lnTo>
                  <a:pt x="1073" y="418"/>
                </a:lnTo>
                <a:lnTo>
                  <a:pt x="1103" y="418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171049" y="2810067"/>
            <a:ext cx="1677173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状态感知配置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动态权重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024364" y="3277634"/>
            <a:ext cx="1847850" cy="2790892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Q2</a:t>
            </a:r>
            <a:r>
              <a:rPr lang="zh-CN" altLang="en-US" sz="1400">
                <a:latin typeface="微软雅黑" panose="020B0503020204020204" pitchFamily="34" charset="-122"/>
              </a:rPr>
              <a:t>比较等权、固定</a:t>
            </a:r>
            <a:r>
              <a:rPr lang="en-US" altLang="zh-CN" sz="1400">
                <a:latin typeface="微软雅黑" panose="020B0503020204020204" pitchFamily="34" charset="-122"/>
              </a:rPr>
              <a:t>ICIR</a:t>
            </a:r>
            <a:r>
              <a:rPr lang="zh-CN" altLang="en-US" sz="1400">
                <a:latin typeface="微软雅黑" panose="020B0503020204020204" pitchFamily="34" charset="-122"/>
              </a:rPr>
              <a:t>、分位规则与</a:t>
            </a:r>
            <a:r>
              <a:rPr lang="en-US" altLang="zh-CN" sz="1400">
                <a:latin typeface="微软雅黑" panose="020B0503020204020204" pitchFamily="34" charset="-122"/>
              </a:rPr>
              <a:t>AI</a:t>
            </a:r>
            <a:r>
              <a:rPr lang="zh-CN" altLang="en-US" sz="1400">
                <a:latin typeface="微软雅黑" panose="020B0503020204020204" pitchFamily="34" charset="-122"/>
              </a:rPr>
              <a:t>状态门控配置。</a:t>
            </a:r>
          </a:p>
          <a:p>
            <a:pPr>
              <a:spcAft>
                <a:spcPts val="1600"/>
              </a:spcAft>
              <a:buFont typeface="Arial" panose="020B0604020202020204" pitchFamily="34" charset="0"/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Q3</a:t>
            </a:r>
            <a:r>
              <a:rPr lang="zh-CN" altLang="en-US" sz="1400">
                <a:latin typeface="微软雅黑" panose="020B0503020204020204" pitchFamily="34" charset="-122"/>
              </a:rPr>
              <a:t>做成本压力测试，</a:t>
            </a:r>
            <a:r>
              <a:rPr lang="en-US" altLang="zh-CN" sz="1400">
                <a:latin typeface="微软雅黑" panose="020B0503020204020204" pitchFamily="34" charset="-122"/>
              </a:rPr>
              <a:t>Q4</a:t>
            </a:r>
            <a:r>
              <a:rPr lang="zh-CN" altLang="en-US" sz="1400">
                <a:latin typeface="微软雅黑" panose="020B0503020204020204" pitchFamily="34" charset="-122"/>
              </a:rPr>
              <a:t>模拟盘复盘超额、回撤和换手，保留人工调整。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pic>
        <p:nvPicPr>
          <p:cNvPr id="50" name="图形 49" descr="上升趋势条形图 纯色填充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5039" y="2336251"/>
            <a:ext cx="386093" cy="386093"/>
          </a:xfrm>
          <a:prstGeom prst="rect">
            <a:avLst/>
          </a:prstGeom>
        </p:spPr>
      </p:pic>
      <p:sp>
        <p:nvSpPr>
          <p:cNvPr id="28" name="任意多边形 174"/>
          <p:cNvSpPr/>
          <p:nvPr/>
        </p:nvSpPr>
        <p:spPr>
          <a:xfrm>
            <a:off x="8381381" y="2407100"/>
            <a:ext cx="300600" cy="343080"/>
          </a:xfrm>
          <a:custGeom>
            <a:avLst/>
            <a:gdLst/>
            <a:ahLst/>
            <a:cxnLst/>
            <a:rect l="0" t="0" r="r" b="b"/>
            <a:pathLst>
              <a:path w="835" h="953">
                <a:moveTo>
                  <a:pt x="417" y="31"/>
                </a:moveTo>
                <a:cubicBezTo>
                  <a:pt x="404" y="31"/>
                  <a:pt x="397" y="25"/>
                  <a:pt x="388" y="18"/>
                </a:cubicBezTo>
                <a:cubicBezTo>
                  <a:pt x="376" y="10"/>
                  <a:pt x="361" y="0"/>
                  <a:pt x="328" y="0"/>
                </a:cubicBezTo>
                <a:cubicBezTo>
                  <a:pt x="271" y="0"/>
                  <a:pt x="231" y="82"/>
                  <a:pt x="205" y="167"/>
                </a:cubicBezTo>
                <a:cubicBezTo>
                  <a:pt x="117" y="183"/>
                  <a:pt x="60" y="210"/>
                  <a:pt x="60" y="239"/>
                </a:cubicBezTo>
                <a:cubicBezTo>
                  <a:pt x="60" y="266"/>
                  <a:pt x="106" y="289"/>
                  <a:pt x="180" y="306"/>
                </a:cubicBezTo>
                <a:cubicBezTo>
                  <a:pt x="179" y="313"/>
                  <a:pt x="179" y="321"/>
                  <a:pt x="179" y="328"/>
                </a:cubicBezTo>
                <a:cubicBezTo>
                  <a:pt x="179" y="360"/>
                  <a:pt x="185" y="390"/>
                  <a:pt x="196" y="418"/>
                </a:cubicBezTo>
                <a:lnTo>
                  <a:pt x="85" y="418"/>
                </a:lnTo>
                <a:cubicBezTo>
                  <a:pt x="71" y="418"/>
                  <a:pt x="60" y="429"/>
                  <a:pt x="60" y="442"/>
                </a:cubicBezTo>
                <a:cubicBezTo>
                  <a:pt x="60" y="446"/>
                  <a:pt x="60" y="449"/>
                  <a:pt x="61" y="452"/>
                </a:cubicBezTo>
                <a:lnTo>
                  <a:pt x="134" y="632"/>
                </a:lnTo>
                <a:cubicBezTo>
                  <a:pt x="53" y="692"/>
                  <a:pt x="0" y="789"/>
                  <a:pt x="0" y="898"/>
                </a:cubicBezTo>
                <a:cubicBezTo>
                  <a:pt x="0" y="929"/>
                  <a:pt x="25" y="953"/>
                  <a:pt x="55" y="953"/>
                </a:cubicBezTo>
                <a:lnTo>
                  <a:pt x="779" y="953"/>
                </a:lnTo>
                <a:cubicBezTo>
                  <a:pt x="810" y="953"/>
                  <a:pt x="835" y="929"/>
                  <a:pt x="835" y="898"/>
                </a:cubicBezTo>
                <a:cubicBezTo>
                  <a:pt x="835" y="789"/>
                  <a:pt x="782" y="693"/>
                  <a:pt x="701" y="632"/>
                </a:cubicBezTo>
                <a:lnTo>
                  <a:pt x="773" y="452"/>
                </a:lnTo>
                <a:cubicBezTo>
                  <a:pt x="774" y="449"/>
                  <a:pt x="775" y="446"/>
                  <a:pt x="775" y="442"/>
                </a:cubicBezTo>
                <a:cubicBezTo>
                  <a:pt x="775" y="429"/>
                  <a:pt x="764" y="418"/>
                  <a:pt x="750" y="418"/>
                </a:cubicBezTo>
                <a:lnTo>
                  <a:pt x="639" y="418"/>
                </a:lnTo>
                <a:cubicBezTo>
                  <a:pt x="650" y="390"/>
                  <a:pt x="656" y="360"/>
                  <a:pt x="656" y="328"/>
                </a:cubicBezTo>
                <a:cubicBezTo>
                  <a:pt x="656" y="321"/>
                  <a:pt x="656" y="313"/>
                  <a:pt x="655" y="306"/>
                </a:cubicBezTo>
                <a:cubicBezTo>
                  <a:pt x="728" y="289"/>
                  <a:pt x="775" y="266"/>
                  <a:pt x="775" y="239"/>
                </a:cubicBezTo>
                <a:cubicBezTo>
                  <a:pt x="775" y="210"/>
                  <a:pt x="718" y="183"/>
                  <a:pt x="630" y="167"/>
                </a:cubicBezTo>
                <a:cubicBezTo>
                  <a:pt x="604" y="82"/>
                  <a:pt x="564" y="0"/>
                  <a:pt x="506" y="0"/>
                </a:cubicBezTo>
                <a:cubicBezTo>
                  <a:pt x="473" y="0"/>
                  <a:pt x="458" y="10"/>
                  <a:pt x="446" y="18"/>
                </a:cubicBezTo>
                <a:cubicBezTo>
                  <a:pt x="437" y="25"/>
                  <a:pt x="429" y="31"/>
                  <a:pt x="417" y="31"/>
                </a:cubicBezTo>
                <a:moveTo>
                  <a:pt x="522" y="418"/>
                </a:moveTo>
                <a:lnTo>
                  <a:pt x="498" y="418"/>
                </a:lnTo>
                <a:cubicBezTo>
                  <a:pt x="467" y="418"/>
                  <a:pt x="440" y="398"/>
                  <a:pt x="430" y="369"/>
                </a:cubicBezTo>
                <a:cubicBezTo>
                  <a:pt x="426" y="356"/>
                  <a:pt x="408" y="356"/>
                  <a:pt x="403" y="369"/>
                </a:cubicBezTo>
                <a:cubicBezTo>
                  <a:pt x="394" y="398"/>
                  <a:pt x="366" y="418"/>
                  <a:pt x="336" y="418"/>
                </a:cubicBezTo>
                <a:lnTo>
                  <a:pt x="313" y="418"/>
                </a:lnTo>
                <a:cubicBezTo>
                  <a:pt x="272" y="418"/>
                  <a:pt x="238" y="384"/>
                  <a:pt x="238" y="343"/>
                </a:cubicBezTo>
                <a:lnTo>
                  <a:pt x="238" y="316"/>
                </a:lnTo>
                <a:cubicBezTo>
                  <a:pt x="291" y="324"/>
                  <a:pt x="352" y="328"/>
                  <a:pt x="417" y="328"/>
                </a:cubicBezTo>
                <a:cubicBezTo>
                  <a:pt x="482" y="328"/>
                  <a:pt x="544" y="324"/>
                  <a:pt x="596" y="316"/>
                </a:cubicBezTo>
                <a:lnTo>
                  <a:pt x="596" y="343"/>
                </a:lnTo>
                <a:cubicBezTo>
                  <a:pt x="596" y="384"/>
                  <a:pt x="563" y="418"/>
                  <a:pt x="522" y="418"/>
                </a:cubicBezTo>
                <a:moveTo>
                  <a:pt x="357" y="596"/>
                </a:moveTo>
                <a:lnTo>
                  <a:pt x="387" y="656"/>
                </a:lnTo>
                <a:lnTo>
                  <a:pt x="328" y="894"/>
                </a:lnTo>
                <a:lnTo>
                  <a:pt x="238" y="537"/>
                </a:lnTo>
                <a:lnTo>
                  <a:pt x="357" y="596"/>
                </a:lnTo>
                <a:moveTo>
                  <a:pt x="596" y="537"/>
                </a:moveTo>
                <a:lnTo>
                  <a:pt x="506" y="894"/>
                </a:lnTo>
                <a:lnTo>
                  <a:pt x="447" y="656"/>
                </a:lnTo>
                <a:lnTo>
                  <a:pt x="476" y="596"/>
                </a:lnTo>
                <a:lnTo>
                  <a:pt x="596" y="537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C711BE2-EFF0-17B5-1629-EB59278D02C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0">
                <a:solidFill>
                  <a:prstClr val="black"/>
                </a:solidFill>
                <a:latin typeface="微软雅黑" panose="020B0503020204020204" pitchFamily="34" charset="-122"/>
                <a:ea typeface="微软雅黑"/>
              </a:rPr>
              <a:t>2</a:t>
            </a:r>
            <a:endParaRPr lang="zh-CN" altLang="en-US" sz="1100" b="0" dirty="0">
              <a:solidFill>
                <a:prstClr val="black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B0623-F833-3C15-72A2-7210C7CB93B5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年目标：储备</a:t>
            </a:r>
            <a:r>
              <a:rPr lang="en-US" altLang="zh-CN" sz="1600"/>
              <a:t>L2</a:t>
            </a:r>
            <a:r>
              <a:rPr lang="zh-CN" altLang="en-US" sz="1600"/>
              <a:t>增强指增与</a:t>
            </a:r>
            <a:r>
              <a:rPr lang="en-US" altLang="zh-CN" sz="1600"/>
              <a:t>AI</a:t>
            </a:r>
            <a:r>
              <a:rPr lang="zh-CN" altLang="en-US" sz="1600"/>
              <a:t>状态感知配置两项策略。</a:t>
            </a:r>
            <a:endParaRPr lang="zh-CN" alt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562</Words>
  <Application>Microsoft Office PowerPoint</Application>
  <PresentationFormat>宽屏</PresentationFormat>
  <Paragraphs>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Arial</vt:lpstr>
      <vt:lpstr>Calibri</vt:lpstr>
      <vt:lpstr>Calibri Light</vt:lpstr>
      <vt:lpstr>Segoe UI Symbol</vt:lpstr>
      <vt:lpstr>Times New Roman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3588</cp:revision>
  <cp:lastPrinted>2025-11-18T11:22:18Z</cp:lastPrinted>
  <dcterms:created xsi:type="dcterms:W3CDTF">2022-03-16T10:45:00Z</dcterms:created>
  <dcterms:modified xsi:type="dcterms:W3CDTF">2026-10-26T06:19:10Z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