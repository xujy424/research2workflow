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214737777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依据用户周报、月报、项目代码与用户提供的</a:t>
            </a:r>
            <a:r>
              <a:rPr lang="en-US" altLang="zh-CN"/>
              <a:t>2027</a:t>
            </a:r>
            <a:r>
              <a:rPr lang="zh-CN" altLang="en-US"/>
              <a:t>年度经营计划</a:t>
            </a:r>
            <a:r>
              <a:rPr lang="en-US" altLang="zh-CN"/>
              <a:t>_</a:t>
            </a:r>
            <a:r>
              <a:rPr lang="zh-CN" altLang="en-US"/>
              <a:t>量化研究</a:t>
            </a:r>
            <a:r>
              <a:rPr lang="en-US" altLang="zh-CN"/>
              <a:t>_</a:t>
            </a:r>
            <a:r>
              <a:rPr lang="zh-CN" altLang="en-US"/>
              <a:t>结合月报周报</a:t>
            </a:r>
            <a:r>
              <a:rPr lang="en-US" altLang="zh-CN"/>
              <a:t>_</a:t>
            </a:r>
            <a:r>
              <a:rPr lang="zh-CN" altLang="en-US"/>
              <a:t>更新版</a:t>
            </a:r>
            <a:r>
              <a:rPr lang="en-US" altLang="zh-CN"/>
              <a:t>.pptx</a:t>
            </a:r>
            <a:r>
              <a:rPr lang="zh-CN" altLang="en-US"/>
              <a:t>拟定。状态门控、多任务学习与</a:t>
            </a:r>
            <a:r>
              <a:rPr lang="en-US" altLang="zh-CN"/>
              <a:t>AI</a:t>
            </a:r>
            <a:r>
              <a:rPr lang="zh-CN" altLang="en-US"/>
              <a:t>配权均为待验证研究，季度节点及交付物是</a:t>
            </a:r>
            <a:r>
              <a:rPr lang="en-US" altLang="zh-CN"/>
              <a:t>2027</a:t>
            </a:r>
            <a:r>
              <a:rPr lang="zh-CN" altLang="en-US"/>
              <a:t>年计划。指标可输出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个月历史分位，须满足历史长度。模型调参使用验证集，独立测试仅用于最终检验，边界按标签期限隔离。仅将通过样本外与成本检验的原型纳入模拟盘，不承诺收益。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依据用户周报、月报、项目代码与用户提供的</a:t>
            </a:r>
            <a:r>
              <a:rPr lang="en-US" altLang="zh-CN"/>
              <a:t>2027</a:t>
            </a:r>
            <a:r>
              <a:rPr lang="zh-CN" altLang="en-US"/>
              <a:t>年度经营计划</a:t>
            </a:r>
            <a:r>
              <a:rPr lang="en-US" altLang="zh-CN"/>
              <a:t>_</a:t>
            </a:r>
            <a:r>
              <a:rPr lang="zh-CN" altLang="en-US"/>
              <a:t>量化研究</a:t>
            </a:r>
            <a:r>
              <a:rPr lang="en-US" altLang="zh-CN"/>
              <a:t>_</a:t>
            </a:r>
            <a:r>
              <a:rPr lang="zh-CN" altLang="en-US"/>
              <a:t>结合月报周报</a:t>
            </a:r>
            <a:r>
              <a:rPr lang="en-US" altLang="zh-CN"/>
              <a:t>_</a:t>
            </a:r>
            <a:r>
              <a:rPr lang="zh-CN" altLang="en-US"/>
              <a:t>更新版</a:t>
            </a:r>
            <a:r>
              <a:rPr lang="en-US" altLang="zh-CN"/>
              <a:t>.pptx</a:t>
            </a:r>
            <a:r>
              <a:rPr lang="zh-CN" altLang="en-US"/>
              <a:t>拟定。状态门控、多任务学习与</a:t>
            </a:r>
            <a:r>
              <a:rPr lang="en-US" altLang="zh-CN"/>
              <a:t>AI</a:t>
            </a:r>
            <a:r>
              <a:rPr lang="zh-CN" altLang="en-US"/>
              <a:t>配权均为待验证研究，季度节点及交付物是</a:t>
            </a:r>
            <a:r>
              <a:rPr lang="en-US" altLang="zh-CN"/>
              <a:t>2027</a:t>
            </a:r>
            <a:r>
              <a:rPr lang="zh-CN" altLang="en-US"/>
              <a:t>年计划。指标可输出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、</a:t>
            </a:r>
            <a:r>
              <a:rPr lang="en-US" altLang="zh-CN"/>
              <a:t>36</a:t>
            </a:r>
            <a:r>
              <a:rPr lang="zh-CN" altLang="en-US"/>
              <a:t>个月历史分位，须满足历史长度。模型调参使用验证集，独立测试仅用于最终检验，边界按标签期限隔离。仅将通过样本外与成本检验的原型纳入模拟盘，不承诺收益。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1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0E560F31-B7C4-C0AE-CD15-402ED44FC108}"/>
              </a:ext>
            </a:extLst>
          </p:cNvPr>
          <p:cNvSpPr>
            <a:spLocks noGrp="1"/>
          </p:cNvSpPr>
          <p:nvPr/>
        </p:nvSpPr>
        <p:spPr>
          <a:xfrm>
            <a:off x="2590800" y="1304925"/>
            <a:ext cx="9048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16243B"/>
                </a:solidFill>
              </a:defRPr>
            </a:pPr>
            <a:r>
              <a:rPr sz="1600" b="1">
                <a:solidFill>
                  <a:srgbClr val="16243B"/>
                </a:solidFill>
              </a:rPr>
              <a:t>以风格感知和多期限监督改造现有时序模型，形成2项可复用的AI研究组件。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E9349F5-008E-2067-737F-7A3F191E05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386488"/>
              </p:ext>
            </p:extLst>
          </p:nvPr>
        </p:nvGraphicFramePr>
        <p:xfrm>
          <a:off x="2590800" y="1800225"/>
          <a:ext cx="9124950" cy="1135952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数据与因子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市场状态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AI模型结构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增量验证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L2量价、成长与预期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统一时点、缺失及异常值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大小盘、成长价值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趋势反转、行业轮动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历史风险分位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共享GRU主干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状态门控与1/3/5日预测头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无状态与单期限基线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滚动检验及成本后评价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heading-a">
            <a:extLst>
              <a:ext uri="{FF2B5EF4-FFF2-40B4-BE49-F238E27FC236}">
                <a16:creationId xmlns:a16="http://schemas.microsoft.com/office/drawing/2014/main" id="{D718B28F-CB38-55CA-786A-603D8B7A58A3}"/>
              </a:ext>
            </a:extLst>
          </p:cNvPr>
          <p:cNvSpPr>
            <a:spLocks noGrp="1"/>
          </p:cNvSpPr>
          <p:nvPr/>
        </p:nvSpPr>
        <p:spPr>
          <a:xfrm>
            <a:off x="2590800" y="3114675"/>
            <a:ext cx="43434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改造一  PRIME式风格感知</a:t>
            </a:r>
          </a:p>
        </p:txBody>
      </p:sp>
      <p:sp>
        <p:nvSpPr>
          <p:cNvPr id="19" name="heading-b">
            <a:extLst>
              <a:ext uri="{FF2B5EF4-FFF2-40B4-BE49-F238E27FC236}">
                <a16:creationId xmlns:a16="http://schemas.microsoft.com/office/drawing/2014/main" id="{4E767FA4-3AC9-2E0C-D263-3A98E4AEA868}"/>
              </a:ext>
            </a:extLst>
          </p:cNvPr>
          <p:cNvSpPr>
            <a:spLocks noGrp="1"/>
          </p:cNvSpPr>
          <p:nvPr/>
        </p:nvSpPr>
        <p:spPr>
          <a:xfrm>
            <a:off x="7277100" y="3114675"/>
            <a:ext cx="4438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改造二  多期限标签联合学习</a:t>
            </a:r>
          </a:p>
        </p:txBody>
      </p:sp>
      <p:sp>
        <p:nvSpPr>
          <p:cNvPr id="20" name="bullet-a0">
            <a:extLst>
              <a:ext uri="{FF2B5EF4-FFF2-40B4-BE49-F238E27FC236}">
                <a16:creationId xmlns:a16="http://schemas.microsoft.com/office/drawing/2014/main" id="{5AFC548C-6CDA-5D59-89F1-1241970C504D}"/>
              </a:ext>
            </a:extLst>
          </p:cNvPr>
          <p:cNvSpPr>
            <a:spLocks noGrp="1"/>
          </p:cNvSpPr>
          <p:nvPr/>
        </p:nvSpPr>
        <p:spPr>
          <a:xfrm>
            <a:off x="2676525" y="3476625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建立状态指标与各类因子收益的历史样本，先用分位规则检验风格对因子强弱的解释力。</a:t>
            </a:r>
          </a:p>
        </p:txBody>
      </p:sp>
      <p:sp>
        <p:nvSpPr>
          <p:cNvPr id="21" name="bullet-b0">
            <a:extLst>
              <a:ext uri="{FF2B5EF4-FFF2-40B4-BE49-F238E27FC236}">
                <a16:creationId xmlns:a16="http://schemas.microsoft.com/office/drawing/2014/main" id="{5FFF8358-EC7B-4D77-A9A9-64F7ACE5C5DB}"/>
              </a:ext>
            </a:extLst>
          </p:cNvPr>
          <p:cNvSpPr>
            <a:spLocks noGrp="1"/>
          </p:cNvSpPr>
          <p:nvPr/>
        </p:nvSpPr>
        <p:spPr>
          <a:xfrm>
            <a:off x="7362825" y="3476625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共享GRU主干，三个预测头分别拟合未来1、3、5日真实收益，初始任务损失等权求和。</a:t>
            </a:r>
          </a:p>
        </p:txBody>
      </p:sp>
      <p:sp>
        <p:nvSpPr>
          <p:cNvPr id="22" name="bullet-a1">
            <a:extLst>
              <a:ext uri="{FF2B5EF4-FFF2-40B4-BE49-F238E27FC236}">
                <a16:creationId xmlns:a16="http://schemas.microsoft.com/office/drawing/2014/main" id="{FB144CB1-7C2E-1FF2-E32D-8F5D7D79F330}"/>
              </a:ext>
            </a:extLst>
          </p:cNvPr>
          <p:cNvSpPr>
            <a:spLocks noGrp="1"/>
          </p:cNvSpPr>
          <p:nvPr/>
        </p:nvSpPr>
        <p:spPr>
          <a:xfrm>
            <a:off x="2676525" y="4191000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将市场状态作为GRU的条件输入或门控变量，与无状态模型比较，观察不同阶段的权重变化。</a:t>
            </a:r>
          </a:p>
        </p:txBody>
      </p:sp>
      <p:sp>
        <p:nvSpPr>
          <p:cNvPr id="23" name="bullet-b1">
            <a:extLst>
              <a:ext uri="{FF2B5EF4-FFF2-40B4-BE49-F238E27FC236}">
                <a16:creationId xmlns:a16="http://schemas.microsoft.com/office/drawing/2014/main" id="{AC92E0E2-5F7E-2AEB-1AA6-628285355831}"/>
              </a:ext>
            </a:extLst>
          </p:cNvPr>
          <p:cNvSpPr>
            <a:spLocks noGrp="1"/>
          </p:cNvSpPr>
          <p:nvPr/>
        </p:nvSpPr>
        <p:spPr>
          <a:xfrm>
            <a:off x="7362825" y="4191000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先与单一5日标签比较RankIC、收益单调性和成本后收益，确认增益后再试自适应任务权重。</a:t>
            </a:r>
          </a:p>
        </p:txBody>
      </p:sp>
      <p:sp>
        <p:nvSpPr>
          <p:cNvPr id="24" name="bullet-a2">
            <a:extLst>
              <a:ext uri="{FF2B5EF4-FFF2-40B4-BE49-F238E27FC236}">
                <a16:creationId xmlns:a16="http://schemas.microsoft.com/office/drawing/2014/main" id="{44C252AF-2E82-EADE-24DC-5D14AFA29FCE}"/>
              </a:ext>
            </a:extLst>
          </p:cNvPr>
          <p:cNvSpPr>
            <a:spLocks noGrp="1"/>
          </p:cNvSpPr>
          <p:nvPr/>
        </p:nvSpPr>
        <p:spPr>
          <a:xfrm>
            <a:off x="2676525" y="4905375"/>
            <a:ext cx="425767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滚动训练并逐项移除状态特征，检验前瞻预测增量，区分事后解释与可交易信号。</a:t>
            </a:r>
          </a:p>
        </p:txBody>
      </p:sp>
      <p:sp>
        <p:nvSpPr>
          <p:cNvPr id="25" name="bullet-b2">
            <a:extLst>
              <a:ext uri="{FF2B5EF4-FFF2-40B4-BE49-F238E27FC236}">
                <a16:creationId xmlns:a16="http://schemas.microsoft.com/office/drawing/2014/main" id="{5217C1BD-ECBE-5337-D1FD-3F0EF2B7A26F}"/>
              </a:ext>
            </a:extLst>
          </p:cNvPr>
          <p:cNvSpPr>
            <a:spLocks noGrp="1"/>
          </p:cNvSpPr>
          <p:nvPr/>
        </p:nvSpPr>
        <p:spPr>
          <a:xfrm>
            <a:off x="7362825" y="4905375"/>
            <a:ext cx="4352925" cy="666750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训练与验证按标签期隔离，在验证集选择参数，独立测试集终检，避免反复调参透支样本。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21928747-C5C3-4902-B07D-44E41142C6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137347"/>
              </p:ext>
            </p:extLst>
          </p:nvPr>
        </p:nvGraphicFramePr>
        <p:xfrm>
          <a:off x="2590800" y="5781675"/>
          <a:ext cx="9124950" cy="666750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Q1  数据与基线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Q2  模型原型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Q3  增量验收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Q4  组件交付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统一数据口径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状态库与单任务基线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状态门控与多任务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固定实验对照组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消融、分域与成本检验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记录有效及失效场景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通过检验后模拟跟踪</a:t>
                      </a:r>
                    </a:p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模型配置与报告入库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2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16" name="intro">
            <a:extLst>
              <a:ext uri="{FF2B5EF4-FFF2-40B4-BE49-F238E27FC236}">
                <a16:creationId xmlns:a16="http://schemas.microsoft.com/office/drawing/2014/main" id="{DA2F9397-971E-9F69-7F02-2DAC6AB68694}"/>
              </a:ext>
            </a:extLst>
          </p:cNvPr>
          <p:cNvSpPr>
            <a:spLocks noGrp="1"/>
          </p:cNvSpPr>
          <p:nvPr/>
        </p:nvSpPr>
        <p:spPr>
          <a:xfrm>
            <a:off x="2590800" y="1304925"/>
            <a:ext cx="91249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16243B"/>
                </a:solidFill>
              </a:defRPr>
            </a:defPPr>
            <a:lvl1pPr>
              <a:defRPr sz="1600" b="1">
                <a:solidFill>
                  <a:srgbClr val="16243B"/>
                </a:solidFill>
              </a:defRPr>
            </a:lvl1pPr>
            <a:lvl2pPr>
              <a:defRPr sz="1600" b="1">
                <a:solidFill>
                  <a:srgbClr val="16243B"/>
                </a:solidFill>
              </a:defRPr>
            </a:lvl2pPr>
            <a:lvl3pPr>
              <a:defRPr sz="1600" b="1">
                <a:solidFill>
                  <a:srgbClr val="16243B"/>
                </a:solidFill>
              </a:defRPr>
            </a:lvl3pPr>
            <a:lvl4pPr>
              <a:defRPr sz="1600" b="1">
                <a:solidFill>
                  <a:srgbClr val="16243B"/>
                </a:solidFill>
              </a:defRPr>
            </a:lvl4pPr>
            <a:lvl5pPr>
              <a:defRPr sz="1600" b="1">
                <a:solidFill>
                  <a:srgbClr val="16243B"/>
                </a:solidFill>
              </a:defRPr>
            </a:lvl5pPr>
            <a:lvl6pPr>
              <a:defRPr sz="1600" b="1">
                <a:solidFill>
                  <a:srgbClr val="16243B"/>
                </a:solidFill>
              </a:defRPr>
            </a:lvl6pPr>
            <a:lvl7pPr>
              <a:defRPr sz="1600" b="1">
                <a:solidFill>
                  <a:srgbClr val="16243B"/>
                </a:solidFill>
              </a:defRPr>
            </a:lvl7pPr>
            <a:lvl8pPr>
              <a:defRPr sz="1600" b="1">
                <a:solidFill>
                  <a:srgbClr val="16243B"/>
                </a:solidFill>
              </a:defRPr>
            </a:lvl8pPr>
            <a:lvl9pPr>
              <a:defRPr sz="1600" b="1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16243B"/>
                </a:solidFill>
              </a:defRPr>
            </a:pPr>
            <a:r>
              <a:rPr sz="1600" b="1">
                <a:solidFill>
                  <a:srgbClr val="16243B"/>
                </a:solidFill>
              </a:rPr>
              <a:t>储备L2微观结构增强指增与AI状态感知配置两项策略，以成本后表现和模拟盘验收。</a:t>
            </a:r>
          </a:p>
        </p:txBody>
      </p:sp>
      <p:sp>
        <p:nvSpPr>
          <p:cNvPr id="17" name="strategy1">
            <a:extLst>
              <a:ext uri="{FF2B5EF4-FFF2-40B4-BE49-F238E27FC236}">
                <a16:creationId xmlns:a16="http://schemas.microsoft.com/office/drawing/2014/main" id="{C1AE5ABA-9B59-AC62-0741-5213C4A01172}"/>
              </a:ext>
            </a:extLst>
          </p:cNvPr>
          <p:cNvSpPr>
            <a:spLocks noGrp="1"/>
          </p:cNvSpPr>
          <p:nvPr/>
        </p:nvSpPr>
        <p:spPr>
          <a:xfrm>
            <a:off x="2590800" y="1952625"/>
            <a:ext cx="16383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策略一</a:t>
            </a: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L2微观结构</a:t>
            </a: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增强指增</a:t>
            </a:r>
          </a:p>
        </p:txBody>
      </p:sp>
      <p:sp>
        <p:nvSpPr>
          <p:cNvPr id="18" name="strategy1-purpose">
            <a:extLst>
              <a:ext uri="{FF2B5EF4-FFF2-40B4-BE49-F238E27FC236}">
                <a16:creationId xmlns:a16="http://schemas.microsoft.com/office/drawing/2014/main" id="{463DF140-FE4D-0E9F-ACFC-D7FA9344EDCC}"/>
              </a:ext>
            </a:extLst>
          </p:cNvPr>
          <p:cNvSpPr>
            <a:spLocks noGrp="1"/>
          </p:cNvSpPr>
          <p:nvPr/>
        </p:nvSpPr>
        <p:spPr>
          <a:xfrm>
            <a:off x="2590800" y="2905125"/>
            <a:ext cx="16954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订单行为形成</a:t>
            </a: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日频信号，补充</a:t>
            </a: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成长与预期因子。</a:t>
            </a:r>
          </a:p>
        </p:txBody>
      </p:sp>
      <p:sp>
        <p:nvSpPr>
          <p:cNvPr id="19" name="s1-head">
            <a:extLst>
              <a:ext uri="{FF2B5EF4-FFF2-40B4-BE49-F238E27FC236}">
                <a16:creationId xmlns:a16="http://schemas.microsoft.com/office/drawing/2014/main" id="{A59D1C4C-2C66-1BEE-28C6-684E99DD4976}"/>
              </a:ext>
            </a:extLst>
          </p:cNvPr>
          <p:cNvSpPr>
            <a:spLocks noGrp="1"/>
          </p:cNvSpPr>
          <p:nvPr/>
        </p:nvSpPr>
        <p:spPr>
          <a:xfrm>
            <a:off x="4552950" y="1895475"/>
            <a:ext cx="4143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信号构造与AI筛选</a:t>
            </a:r>
          </a:p>
        </p:txBody>
      </p:sp>
      <p:sp>
        <p:nvSpPr>
          <p:cNvPr id="20" name="bullet-s1a">
            <a:extLst>
              <a:ext uri="{FF2B5EF4-FFF2-40B4-BE49-F238E27FC236}">
                <a16:creationId xmlns:a16="http://schemas.microsoft.com/office/drawing/2014/main" id="{297BED01-B671-8C3C-2F0D-47AE5F59D2A0}"/>
              </a:ext>
            </a:extLst>
          </p:cNvPr>
          <p:cNvSpPr>
            <a:spLocks noGrp="1"/>
          </p:cNvSpPr>
          <p:nvPr/>
        </p:nvSpPr>
        <p:spPr>
          <a:xfrm>
            <a:off x="4638675" y="2276475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按时段、订单规模及主动方向拆分样本，构造订单流不平衡、交易聚集和冲击后流动性恢复因子。</a:t>
            </a:r>
          </a:p>
        </p:txBody>
      </p:sp>
      <p:sp>
        <p:nvSpPr>
          <p:cNvPr id="21" name="bullet-s1b">
            <a:extLst>
              <a:ext uri="{FF2B5EF4-FFF2-40B4-BE49-F238E27FC236}">
                <a16:creationId xmlns:a16="http://schemas.microsoft.com/office/drawing/2014/main" id="{AC907602-F34A-F6D5-218D-084BC833DEE2}"/>
              </a:ext>
            </a:extLst>
          </p:cNvPr>
          <p:cNvSpPr>
            <a:spLocks noGrp="1"/>
          </p:cNvSpPr>
          <p:nvPr/>
        </p:nvSpPr>
        <p:spPr>
          <a:xfrm>
            <a:off x="4638675" y="3028950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控制行业市值和动量反转，以机器学习检验新增信息，结合ICIR、相关性及分组收益筛选。</a:t>
            </a:r>
          </a:p>
        </p:txBody>
      </p:sp>
      <p:sp>
        <p:nvSpPr>
          <p:cNvPr id="22" name="s1-eval">
            <a:extLst>
              <a:ext uri="{FF2B5EF4-FFF2-40B4-BE49-F238E27FC236}">
                <a16:creationId xmlns:a16="http://schemas.microsoft.com/office/drawing/2014/main" id="{7283D021-177C-7600-B98E-5BA3832108D6}"/>
              </a:ext>
            </a:extLst>
          </p:cNvPr>
          <p:cNvSpPr>
            <a:spLocks noGrp="1"/>
          </p:cNvSpPr>
          <p:nvPr/>
        </p:nvSpPr>
        <p:spPr>
          <a:xfrm>
            <a:off x="9105900" y="1895475"/>
            <a:ext cx="2609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组合约束与验收</a:t>
            </a:r>
          </a:p>
        </p:txBody>
      </p:sp>
      <p:sp>
        <p:nvSpPr>
          <p:cNvPr id="23" name="bullet-s1c">
            <a:extLst>
              <a:ext uri="{FF2B5EF4-FFF2-40B4-BE49-F238E27FC236}">
                <a16:creationId xmlns:a16="http://schemas.microsoft.com/office/drawing/2014/main" id="{86E09081-4F8F-11FD-5BE5-DF9BB58B569E}"/>
              </a:ext>
            </a:extLst>
          </p:cNvPr>
          <p:cNvSpPr>
            <a:spLocks noGrp="1"/>
          </p:cNvSpPr>
          <p:nvPr/>
        </p:nvSpPr>
        <p:spPr>
          <a:xfrm>
            <a:off x="9191625" y="2276475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接入风险模型，限制行业偏离、个股权重及换手，按成交额检验容量。</a:t>
            </a:r>
          </a:p>
        </p:txBody>
      </p:sp>
      <p:sp>
        <p:nvSpPr>
          <p:cNvPr id="24" name="bullet-s1d">
            <a:extLst>
              <a:ext uri="{FF2B5EF4-FFF2-40B4-BE49-F238E27FC236}">
                <a16:creationId xmlns:a16="http://schemas.microsoft.com/office/drawing/2014/main" id="{A144CA7D-ED77-F3AE-3400-6A6B78AB77AF}"/>
              </a:ext>
            </a:extLst>
          </p:cNvPr>
          <p:cNvSpPr>
            <a:spLocks noGrp="1"/>
          </p:cNvSpPr>
          <p:nvPr/>
        </p:nvSpPr>
        <p:spPr>
          <a:xfrm>
            <a:off x="9191625" y="3028950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比较基础组合与新增因子组合，报告成本后超额、回撤和换手。</a:t>
            </a:r>
          </a:p>
        </p:txBody>
      </p:sp>
      <p:sp>
        <p:nvSpPr>
          <p:cNvPr id="25" name="strategy2">
            <a:extLst>
              <a:ext uri="{FF2B5EF4-FFF2-40B4-BE49-F238E27FC236}">
                <a16:creationId xmlns:a16="http://schemas.microsoft.com/office/drawing/2014/main" id="{C9115F3C-DD89-6DBA-4447-08A819657942}"/>
              </a:ext>
            </a:extLst>
          </p:cNvPr>
          <p:cNvSpPr>
            <a:spLocks noGrp="1"/>
          </p:cNvSpPr>
          <p:nvPr/>
        </p:nvSpPr>
        <p:spPr>
          <a:xfrm>
            <a:off x="2590800" y="4010025"/>
            <a:ext cx="17145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策略二</a:t>
            </a: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AI状态感知</a:t>
            </a:r>
          </a:p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动态因子配置</a:t>
            </a:r>
          </a:p>
        </p:txBody>
      </p:sp>
      <p:sp>
        <p:nvSpPr>
          <p:cNvPr id="26" name="strategy2-purpose">
            <a:extLst>
              <a:ext uri="{FF2B5EF4-FFF2-40B4-BE49-F238E27FC236}">
                <a16:creationId xmlns:a16="http://schemas.microsoft.com/office/drawing/2014/main" id="{3B6821FC-4D80-21F0-FD62-3027E5266E32}"/>
              </a:ext>
            </a:extLst>
          </p:cNvPr>
          <p:cNvSpPr>
            <a:spLocks noGrp="1"/>
          </p:cNvSpPr>
          <p:nvPr/>
        </p:nvSpPr>
        <p:spPr>
          <a:xfrm>
            <a:off x="2590800" y="4962525"/>
            <a:ext cx="1714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提前识别因子强弱，</a:t>
            </a: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检验动态配权对</a:t>
            </a:r>
          </a:p>
          <a:p>
            <a:pPr>
              <a:lnSpc>
                <a:spcPct val="120000"/>
              </a:lnSpc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固定配置的增益。</a:t>
            </a:r>
          </a:p>
        </p:txBody>
      </p:sp>
      <p:sp>
        <p:nvSpPr>
          <p:cNvPr id="27" name="s2-head">
            <a:extLst>
              <a:ext uri="{FF2B5EF4-FFF2-40B4-BE49-F238E27FC236}">
                <a16:creationId xmlns:a16="http://schemas.microsoft.com/office/drawing/2014/main" id="{7CACFA54-EB0F-C789-DB22-0948F8DB8A30}"/>
              </a:ext>
            </a:extLst>
          </p:cNvPr>
          <p:cNvSpPr>
            <a:spLocks noGrp="1"/>
          </p:cNvSpPr>
          <p:nvPr/>
        </p:nvSpPr>
        <p:spPr>
          <a:xfrm>
            <a:off x="4552950" y="3952875"/>
            <a:ext cx="4143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状态指标与动态配权</a:t>
            </a:r>
          </a:p>
        </p:txBody>
      </p:sp>
      <p:sp>
        <p:nvSpPr>
          <p:cNvPr id="28" name="bullet-s2a">
            <a:extLst>
              <a:ext uri="{FF2B5EF4-FFF2-40B4-BE49-F238E27FC236}">
                <a16:creationId xmlns:a16="http://schemas.microsoft.com/office/drawing/2014/main" id="{6E283D46-73D7-7AA1-2AAD-CFDA7B197200}"/>
              </a:ext>
            </a:extLst>
          </p:cNvPr>
          <p:cNvSpPr>
            <a:spLocks noGrp="1"/>
          </p:cNvSpPr>
          <p:nvPr/>
        </p:nvSpPr>
        <p:spPr>
          <a:xfrm>
            <a:off x="4638675" y="4333875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建设大小盘、行业轮动、ETF申赎与流动性压力指标，输出多窗口历史分位，区分模型输入与监控。</a:t>
            </a:r>
          </a:p>
        </p:txBody>
      </p:sp>
      <p:sp>
        <p:nvSpPr>
          <p:cNvPr id="29" name="bullet-s2b">
            <a:extLst>
              <a:ext uri="{FF2B5EF4-FFF2-40B4-BE49-F238E27FC236}">
                <a16:creationId xmlns:a16="http://schemas.microsoft.com/office/drawing/2014/main" id="{522E873E-A857-6A5A-9347-DADFADEAC595}"/>
              </a:ext>
            </a:extLst>
          </p:cNvPr>
          <p:cNvSpPr>
            <a:spLocks noGrp="1"/>
          </p:cNvSpPr>
          <p:nvPr/>
        </p:nvSpPr>
        <p:spPr>
          <a:xfrm>
            <a:off x="4638675" y="5086350"/>
            <a:ext cx="4057650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以动量、反转、价值、成长和低波为候选，比较等权、固定ICIR、分位规则与AI状态门控配置。</a:t>
            </a:r>
          </a:p>
        </p:txBody>
      </p:sp>
      <p:sp>
        <p:nvSpPr>
          <p:cNvPr id="30" name="s2-eval">
            <a:extLst>
              <a:ext uri="{FF2B5EF4-FFF2-40B4-BE49-F238E27FC236}">
                <a16:creationId xmlns:a16="http://schemas.microsoft.com/office/drawing/2014/main" id="{F93A1021-1B75-92D5-C5CF-6255B0A25849}"/>
              </a:ext>
            </a:extLst>
          </p:cNvPr>
          <p:cNvSpPr>
            <a:spLocks noGrp="1"/>
          </p:cNvSpPr>
          <p:nvPr/>
        </p:nvSpPr>
        <p:spPr>
          <a:xfrm>
            <a:off x="9105900" y="3952875"/>
            <a:ext cx="2609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00" b="1">
                <a:solidFill>
                  <a:srgbClr val="392B91"/>
                </a:solidFill>
              </a:defRPr>
            </a:defPPr>
            <a:lvl1pPr>
              <a:defRPr sz="1600" b="1">
                <a:solidFill>
                  <a:srgbClr val="392B91"/>
                </a:solidFill>
              </a:defRPr>
            </a:lvl1pPr>
            <a:lvl2pPr>
              <a:defRPr sz="1600" b="1">
                <a:solidFill>
                  <a:srgbClr val="392B91"/>
                </a:solidFill>
              </a:defRPr>
            </a:lvl2pPr>
            <a:lvl3pPr>
              <a:defRPr sz="1600" b="1">
                <a:solidFill>
                  <a:srgbClr val="392B91"/>
                </a:solidFill>
              </a:defRPr>
            </a:lvl3pPr>
            <a:lvl4pPr>
              <a:defRPr sz="1600" b="1">
                <a:solidFill>
                  <a:srgbClr val="392B91"/>
                </a:solidFill>
              </a:defRPr>
            </a:lvl4pPr>
            <a:lvl5pPr>
              <a:defRPr sz="1600" b="1">
                <a:solidFill>
                  <a:srgbClr val="392B91"/>
                </a:solidFill>
              </a:defRPr>
            </a:lvl5pPr>
            <a:lvl6pPr>
              <a:defRPr sz="1600" b="1">
                <a:solidFill>
                  <a:srgbClr val="392B91"/>
                </a:solidFill>
              </a:defRPr>
            </a:lvl6pPr>
            <a:lvl7pPr>
              <a:defRPr sz="1600" b="1">
                <a:solidFill>
                  <a:srgbClr val="392B91"/>
                </a:solidFill>
              </a:defRPr>
            </a:lvl7pPr>
            <a:lvl8pPr>
              <a:defRPr sz="1600" b="1">
                <a:solidFill>
                  <a:srgbClr val="392B91"/>
                </a:solidFill>
              </a:defRPr>
            </a:lvl8pPr>
            <a:lvl9pPr>
              <a:defRPr sz="1600" b="1">
                <a:solidFill>
                  <a:srgbClr val="392B91"/>
                </a:solidFill>
              </a:defRPr>
            </a:lvl9pPr>
          </a:lstStyle>
          <a:p>
            <a:pPr>
              <a:lnSpc>
                <a:spcPct val="120000"/>
              </a:lnSpc>
              <a:defRPr sz="1600" b="1">
                <a:solidFill>
                  <a:srgbClr val="392B91"/>
                </a:solidFill>
              </a:defRPr>
            </a:pPr>
            <a:r>
              <a:rPr sz="1600" b="1">
                <a:solidFill>
                  <a:srgbClr val="392B91"/>
                </a:solidFill>
              </a:rPr>
              <a:t>前瞻检验与模拟跟踪</a:t>
            </a:r>
          </a:p>
        </p:txBody>
      </p:sp>
      <p:sp>
        <p:nvSpPr>
          <p:cNvPr id="31" name="bullet-s2c">
            <a:extLst>
              <a:ext uri="{FF2B5EF4-FFF2-40B4-BE49-F238E27FC236}">
                <a16:creationId xmlns:a16="http://schemas.microsoft.com/office/drawing/2014/main" id="{20253540-28DA-9919-DE8A-FEEFB1191D46}"/>
              </a:ext>
            </a:extLst>
          </p:cNvPr>
          <p:cNvSpPr>
            <a:spLocks noGrp="1"/>
          </p:cNvSpPr>
          <p:nvPr/>
        </p:nvSpPr>
        <p:spPr>
          <a:xfrm>
            <a:off x="9191625" y="4333875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固定风险和交易约束，检验未来因子收益，拆解风格暴露与配权贡献。</a:t>
            </a:r>
          </a:p>
        </p:txBody>
      </p:sp>
      <p:sp>
        <p:nvSpPr>
          <p:cNvPr id="32" name="bullet-s2d">
            <a:extLst>
              <a:ext uri="{FF2B5EF4-FFF2-40B4-BE49-F238E27FC236}">
                <a16:creationId xmlns:a16="http://schemas.microsoft.com/office/drawing/2014/main" id="{844F87EF-F880-7AE9-588A-ED3B0F6B4816}"/>
              </a:ext>
            </a:extLst>
          </p:cNvPr>
          <p:cNvSpPr>
            <a:spLocks noGrp="1"/>
          </p:cNvSpPr>
          <p:nvPr/>
        </p:nvSpPr>
        <p:spPr>
          <a:xfrm>
            <a:off x="9191625" y="5086350"/>
            <a:ext cx="2524125" cy="67627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>
            <a:noAutofit/>
          </a:bodyPr>
          <a:lstStyle>
            <a:defPPr>
              <a:defRPr sz="1400" b="0">
                <a:solidFill>
                  <a:srgbClr val="16243B"/>
                </a:solidFill>
              </a:defRPr>
            </a:defPPr>
            <a:lvl1pPr>
              <a:defRPr sz="1400" b="0">
                <a:solidFill>
                  <a:srgbClr val="16243B"/>
                </a:solidFill>
              </a:defRPr>
            </a:lvl1pPr>
            <a:lvl2pPr>
              <a:defRPr sz="1400" b="0">
                <a:solidFill>
                  <a:srgbClr val="16243B"/>
                </a:solidFill>
              </a:defRPr>
            </a:lvl2pPr>
            <a:lvl3pPr>
              <a:defRPr sz="1400" b="0">
                <a:solidFill>
                  <a:srgbClr val="16243B"/>
                </a:solidFill>
              </a:defRPr>
            </a:lvl3pPr>
            <a:lvl4pPr>
              <a:defRPr sz="1400" b="0">
                <a:solidFill>
                  <a:srgbClr val="16243B"/>
                </a:solidFill>
              </a:defRPr>
            </a:lvl4pPr>
            <a:lvl5pPr>
              <a:defRPr sz="1400" b="0">
                <a:solidFill>
                  <a:srgbClr val="16243B"/>
                </a:solidFill>
              </a:defRPr>
            </a:lvl5pPr>
            <a:lvl6pPr>
              <a:defRPr sz="1400" b="0">
                <a:solidFill>
                  <a:srgbClr val="16243B"/>
                </a:solidFill>
              </a:defRPr>
            </a:lvl6pPr>
            <a:lvl7pPr>
              <a:defRPr sz="1400" b="0">
                <a:solidFill>
                  <a:srgbClr val="16243B"/>
                </a:solidFill>
              </a:defRPr>
            </a:lvl7pPr>
            <a:lvl8pPr>
              <a:defRPr sz="1400" b="0">
                <a:solidFill>
                  <a:srgbClr val="16243B"/>
                </a:solidFill>
              </a:defRPr>
            </a:lvl8pPr>
            <a:lvl9pPr>
              <a:defRPr sz="1400" b="0">
                <a:solidFill>
                  <a:srgbClr val="16243B"/>
                </a:solidFill>
              </a:defRPr>
            </a:lvl9pPr>
          </a:lstStyle>
          <a:p>
            <a:pPr marL="342900" indent="-342900">
              <a:lnSpc>
                <a:spcPct val="12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16243B"/>
                </a:solidFill>
              </a:defRPr>
            </a:pPr>
            <a:r>
              <a:rPr sz="1400" b="0">
                <a:solidFill>
                  <a:srgbClr val="16243B"/>
                </a:solidFill>
              </a:rPr>
              <a:t>监控模型衰减和预警，按月复盘，人工决定保留、降权或调整。</a:t>
            </a: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C04AF268-77FB-7F22-4546-2BA1EEE52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424485"/>
              </p:ext>
            </p:extLst>
          </p:nvPr>
        </p:nvGraphicFramePr>
        <p:xfrm>
          <a:off x="2590800" y="6019800"/>
          <a:ext cx="9124950" cy="428625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Q1  基础准备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Q2  原型研究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Q3  严格检验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Q4  策略储备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>
                      <a:solidFill>
                        <a:srgbClr val="D7DDEA"/>
                      </a:solidFill>
                      <a:prstDash val="soli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392B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指标库、基准与股票池</a:t>
                      </a:r>
                    </a:p>
                  </a:txBody>
                  <a:tcPr marL="101600" marR="63500" marT="38100" marB="38100">
                    <a:lnL w="6668">
                      <a:solidFill>
                        <a:srgbClr val="D7DDEA"/>
                      </a:solidFill>
                      <a:prstDash val="soli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因子筛选、配置对照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滚动样本外与成本压力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</a:pPr>
                      <a:r>
                        <a:rPr sz="1400" b="0">
                          <a:solidFill>
                            <a:srgbClr val="16243B"/>
                          </a:solidFill>
                          <a:latin typeface="微软雅黑" panose="020B0503020204020204" pitchFamily="34" charset="-122"/>
                        </a:rPr>
                        <a:t>模拟盘、说明书与复盘</a:t>
                      </a:r>
                    </a:p>
                  </a:txBody>
                  <a:tcPr marL="101600" marR="63500" marT="38100" marB="38100">
                    <a:lnL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7DDEA"/>
                      </a:solidFill>
                      <a:prstDash val="solid"/>
                    </a:lnR>
                    <a:lnT w="6668" cap="flat" cmpd="sng" algn="ctr">
                      <a:solidFill>
                        <a:srgbClr val="D7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7DDEA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9615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514</Words>
  <Application>Microsoft Office PowerPoint</Application>
  <PresentationFormat>宽屏</PresentationFormat>
  <Paragraphs>87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Arial</vt:lpstr>
      <vt:lpstr>Calibri</vt:lpstr>
      <vt:lpstr>Calibri Light</vt:lpstr>
      <vt:lpstr>Segoe UI Symbol</vt:lpstr>
      <vt:lpstr>Times New Roman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3588</cp:revision>
  <cp:lastPrinted>2025-11-18T11:22:18Z</cp:lastPrinted>
  <dcterms:created xsi:type="dcterms:W3CDTF">2022-03-16T10:45:00Z</dcterms:created>
  <dcterms:modified xsi:type="dcterms:W3CDTF">2026-10-26T06:36:00Z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