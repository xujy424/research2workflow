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147377131" r:id="rId2"/>
    <p:sldId id="2147377128" r:id="rId3"/>
    <p:sldId id="2147377129" r:id="rId4"/>
    <p:sldId id="214737713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8" autoAdjust="0"/>
    <p:restoredTop sz="94660"/>
  </p:normalViewPr>
  <p:slideViewPr>
    <p:cSldViewPr snapToGrid="0">
      <p:cViewPr varScale="1">
        <p:scale>
          <a:sx n="80" d="100"/>
          <a:sy n="80" d="100"/>
        </p:scale>
        <p:origin x="6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B5B481-7893-451E-BF93-C23D4EAFDA60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C405A-D644-4E29-8349-1D2334A3C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300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C405A-D644-4E29-8349-1D2334A3C45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714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D8EC-4685-4A08-A6F8-6CE8F581F04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33972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D8EC-4685-4A08-A6F8-6CE8F581F04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171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D8EC-4685-4A08-A6F8-6CE8F581F04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542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D8EC-4685-4A08-A6F8-6CE8F581F04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952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D8EC-4685-4A08-A6F8-6CE8F581F04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383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D8EC-4685-4A08-A6F8-6CE8F581F04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370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D8EC-4685-4A08-A6F8-6CE8F581F04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268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D8EC-4685-4A08-A6F8-6CE8F581F04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155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D8EC-4685-4A08-A6F8-6CE8F581F04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096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D8EC-4685-4A08-A6F8-6CE8F581F04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310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D8EC-4685-4A08-A6F8-6CE8F581F04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667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D8EC-4685-4A08-A6F8-6CE8F581F04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pic>
        <p:nvPicPr>
          <p:cNvPr id="8" name="Picture 11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4963" y="224992"/>
            <a:ext cx="2146075" cy="567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0033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C2D8EC-4685-4A08-A6F8-6CE8F581F04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63261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34">
            <a:extLst>
              <a:ext uri="{FF2B5EF4-FFF2-40B4-BE49-F238E27FC236}">
                <a16:creationId xmlns:a16="http://schemas.microsoft.com/office/drawing/2014/main" id="{529652D2-EF1E-48DE-13BD-F494A2A742CD}"/>
              </a:ext>
            </a:extLst>
          </p:cNvPr>
          <p:cNvSpPr/>
          <p:nvPr/>
        </p:nvSpPr>
        <p:spPr>
          <a:xfrm>
            <a:off x="7964424" y="4882896"/>
            <a:ext cx="3822192" cy="813816"/>
          </a:xfrm>
          <a:prstGeom prst="rect">
            <a:avLst/>
          </a:prstGeom>
          <a:solidFill>
            <a:srgbClr val="FAFAFE"/>
          </a:solidFill>
          <a:ln w="5715">
            <a:solidFill>
              <a:srgbClr val="CDD1D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33">
            <a:extLst>
              <a:ext uri="{FF2B5EF4-FFF2-40B4-BE49-F238E27FC236}">
                <a16:creationId xmlns:a16="http://schemas.microsoft.com/office/drawing/2014/main" id="{86AC331F-4FBC-5A65-2D3C-1308ABD986AA}"/>
              </a:ext>
            </a:extLst>
          </p:cNvPr>
          <p:cNvSpPr/>
          <p:nvPr/>
        </p:nvSpPr>
        <p:spPr>
          <a:xfrm>
            <a:off x="3895344" y="4882896"/>
            <a:ext cx="4069080" cy="813816"/>
          </a:xfrm>
          <a:prstGeom prst="rect">
            <a:avLst/>
          </a:prstGeom>
          <a:solidFill>
            <a:srgbClr val="FAFAFE"/>
          </a:solidFill>
          <a:ln w="5715">
            <a:solidFill>
              <a:srgbClr val="CDD1D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32">
            <a:extLst>
              <a:ext uri="{FF2B5EF4-FFF2-40B4-BE49-F238E27FC236}">
                <a16:creationId xmlns:a16="http://schemas.microsoft.com/office/drawing/2014/main" id="{C47F4750-078D-56C3-940F-147A5E691C70}"/>
              </a:ext>
            </a:extLst>
          </p:cNvPr>
          <p:cNvSpPr/>
          <p:nvPr/>
        </p:nvSpPr>
        <p:spPr>
          <a:xfrm>
            <a:off x="2542032" y="4882896"/>
            <a:ext cx="1353312" cy="813816"/>
          </a:xfrm>
          <a:prstGeom prst="rect">
            <a:avLst/>
          </a:prstGeom>
          <a:solidFill>
            <a:srgbClr val="F2F4FB"/>
          </a:solidFill>
          <a:ln w="5715">
            <a:solidFill>
              <a:srgbClr val="CDD1D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31">
            <a:extLst>
              <a:ext uri="{FF2B5EF4-FFF2-40B4-BE49-F238E27FC236}">
                <a16:creationId xmlns:a16="http://schemas.microsoft.com/office/drawing/2014/main" id="{FCE44F0B-1EA5-2F99-05C3-B44CB4F5687D}"/>
              </a:ext>
            </a:extLst>
          </p:cNvPr>
          <p:cNvSpPr/>
          <p:nvPr/>
        </p:nvSpPr>
        <p:spPr>
          <a:xfrm>
            <a:off x="7964424" y="4069080"/>
            <a:ext cx="3822192" cy="813816"/>
          </a:xfrm>
          <a:prstGeom prst="rect">
            <a:avLst/>
          </a:prstGeom>
          <a:solidFill>
            <a:srgbClr val="FFFFFF"/>
          </a:solidFill>
          <a:ln w="5715">
            <a:solidFill>
              <a:srgbClr val="CDD1D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30">
            <a:extLst>
              <a:ext uri="{FF2B5EF4-FFF2-40B4-BE49-F238E27FC236}">
                <a16:creationId xmlns:a16="http://schemas.microsoft.com/office/drawing/2014/main" id="{2519453A-D23C-E6EE-5024-3F59F8A445F9}"/>
              </a:ext>
            </a:extLst>
          </p:cNvPr>
          <p:cNvSpPr/>
          <p:nvPr/>
        </p:nvSpPr>
        <p:spPr>
          <a:xfrm>
            <a:off x="3895344" y="4069080"/>
            <a:ext cx="4069080" cy="813816"/>
          </a:xfrm>
          <a:prstGeom prst="rect">
            <a:avLst/>
          </a:prstGeom>
          <a:solidFill>
            <a:srgbClr val="FFFFFF"/>
          </a:solidFill>
          <a:ln w="5715">
            <a:solidFill>
              <a:srgbClr val="CDD1D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29">
            <a:extLst>
              <a:ext uri="{FF2B5EF4-FFF2-40B4-BE49-F238E27FC236}">
                <a16:creationId xmlns:a16="http://schemas.microsoft.com/office/drawing/2014/main" id="{B9E505E7-1014-EFD2-581D-DA59020C5AC1}"/>
              </a:ext>
            </a:extLst>
          </p:cNvPr>
          <p:cNvSpPr/>
          <p:nvPr/>
        </p:nvSpPr>
        <p:spPr>
          <a:xfrm>
            <a:off x="2542032" y="4069080"/>
            <a:ext cx="1353312" cy="813816"/>
          </a:xfrm>
          <a:prstGeom prst="rect">
            <a:avLst/>
          </a:prstGeom>
          <a:solidFill>
            <a:srgbClr val="F2F4FB"/>
          </a:solidFill>
          <a:ln w="5715">
            <a:solidFill>
              <a:srgbClr val="CDD1D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28">
            <a:extLst>
              <a:ext uri="{FF2B5EF4-FFF2-40B4-BE49-F238E27FC236}">
                <a16:creationId xmlns:a16="http://schemas.microsoft.com/office/drawing/2014/main" id="{3F39E175-9F83-AB6B-3645-C41D01487286}"/>
              </a:ext>
            </a:extLst>
          </p:cNvPr>
          <p:cNvSpPr/>
          <p:nvPr/>
        </p:nvSpPr>
        <p:spPr>
          <a:xfrm>
            <a:off x="7964424" y="3255264"/>
            <a:ext cx="3822192" cy="813816"/>
          </a:xfrm>
          <a:prstGeom prst="rect">
            <a:avLst/>
          </a:prstGeom>
          <a:solidFill>
            <a:srgbClr val="FAFAFE"/>
          </a:solidFill>
          <a:ln w="5715">
            <a:solidFill>
              <a:srgbClr val="CDD1D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27">
            <a:extLst>
              <a:ext uri="{FF2B5EF4-FFF2-40B4-BE49-F238E27FC236}">
                <a16:creationId xmlns:a16="http://schemas.microsoft.com/office/drawing/2014/main" id="{F2342CC6-B1BC-7646-394A-847D818522E8}"/>
              </a:ext>
            </a:extLst>
          </p:cNvPr>
          <p:cNvSpPr/>
          <p:nvPr/>
        </p:nvSpPr>
        <p:spPr>
          <a:xfrm>
            <a:off x="3895344" y="3255264"/>
            <a:ext cx="4069080" cy="813816"/>
          </a:xfrm>
          <a:prstGeom prst="rect">
            <a:avLst/>
          </a:prstGeom>
          <a:solidFill>
            <a:srgbClr val="FAFAFE"/>
          </a:solidFill>
          <a:ln w="5715">
            <a:solidFill>
              <a:srgbClr val="CDD1D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26">
            <a:extLst>
              <a:ext uri="{FF2B5EF4-FFF2-40B4-BE49-F238E27FC236}">
                <a16:creationId xmlns:a16="http://schemas.microsoft.com/office/drawing/2014/main" id="{FB5B98F9-804B-F760-4CA1-99428850F38E}"/>
              </a:ext>
            </a:extLst>
          </p:cNvPr>
          <p:cNvSpPr/>
          <p:nvPr/>
        </p:nvSpPr>
        <p:spPr>
          <a:xfrm>
            <a:off x="2542032" y="3255264"/>
            <a:ext cx="1353312" cy="813816"/>
          </a:xfrm>
          <a:prstGeom prst="rect">
            <a:avLst/>
          </a:prstGeom>
          <a:solidFill>
            <a:srgbClr val="F2F4FB"/>
          </a:solidFill>
          <a:ln w="5715">
            <a:solidFill>
              <a:srgbClr val="CDD1D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25">
            <a:extLst>
              <a:ext uri="{FF2B5EF4-FFF2-40B4-BE49-F238E27FC236}">
                <a16:creationId xmlns:a16="http://schemas.microsoft.com/office/drawing/2014/main" id="{EAD291DF-CEFB-A36F-A131-8922CE73AE1C}"/>
              </a:ext>
            </a:extLst>
          </p:cNvPr>
          <p:cNvSpPr/>
          <p:nvPr/>
        </p:nvSpPr>
        <p:spPr>
          <a:xfrm>
            <a:off x="7964424" y="2441448"/>
            <a:ext cx="3822192" cy="813816"/>
          </a:xfrm>
          <a:prstGeom prst="rect">
            <a:avLst/>
          </a:prstGeom>
          <a:solidFill>
            <a:srgbClr val="FFFFFF"/>
          </a:solidFill>
          <a:ln w="5715">
            <a:solidFill>
              <a:srgbClr val="CDD1D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24">
            <a:extLst>
              <a:ext uri="{FF2B5EF4-FFF2-40B4-BE49-F238E27FC236}">
                <a16:creationId xmlns:a16="http://schemas.microsoft.com/office/drawing/2014/main" id="{0A2AEFBF-F5BC-5359-7E16-110308ABCC19}"/>
              </a:ext>
            </a:extLst>
          </p:cNvPr>
          <p:cNvSpPr/>
          <p:nvPr/>
        </p:nvSpPr>
        <p:spPr>
          <a:xfrm>
            <a:off x="3895344" y="2441448"/>
            <a:ext cx="4069080" cy="813816"/>
          </a:xfrm>
          <a:prstGeom prst="rect">
            <a:avLst/>
          </a:prstGeom>
          <a:solidFill>
            <a:srgbClr val="FFFFFF"/>
          </a:solidFill>
          <a:ln w="5715">
            <a:solidFill>
              <a:srgbClr val="CDD1D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23">
            <a:extLst>
              <a:ext uri="{FF2B5EF4-FFF2-40B4-BE49-F238E27FC236}">
                <a16:creationId xmlns:a16="http://schemas.microsoft.com/office/drawing/2014/main" id="{DF015B2F-232D-83D2-B287-B4792A966191}"/>
              </a:ext>
            </a:extLst>
          </p:cNvPr>
          <p:cNvSpPr/>
          <p:nvPr/>
        </p:nvSpPr>
        <p:spPr>
          <a:xfrm>
            <a:off x="2542032" y="2441448"/>
            <a:ext cx="1353312" cy="813816"/>
          </a:xfrm>
          <a:prstGeom prst="rect">
            <a:avLst/>
          </a:prstGeom>
          <a:solidFill>
            <a:srgbClr val="F2F4FB"/>
          </a:solidFill>
          <a:ln w="5715">
            <a:solidFill>
              <a:srgbClr val="CDD1D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22">
            <a:extLst>
              <a:ext uri="{FF2B5EF4-FFF2-40B4-BE49-F238E27FC236}">
                <a16:creationId xmlns:a16="http://schemas.microsoft.com/office/drawing/2014/main" id="{4828DCFD-62B4-B627-1F44-005C17031637}"/>
              </a:ext>
            </a:extLst>
          </p:cNvPr>
          <p:cNvSpPr/>
          <p:nvPr/>
        </p:nvSpPr>
        <p:spPr>
          <a:xfrm>
            <a:off x="7964424" y="1627632"/>
            <a:ext cx="3822192" cy="813816"/>
          </a:xfrm>
          <a:prstGeom prst="rect">
            <a:avLst/>
          </a:prstGeom>
          <a:solidFill>
            <a:srgbClr val="FAFAFE"/>
          </a:solidFill>
          <a:ln w="5715">
            <a:solidFill>
              <a:srgbClr val="CDD1D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21">
            <a:extLst>
              <a:ext uri="{FF2B5EF4-FFF2-40B4-BE49-F238E27FC236}">
                <a16:creationId xmlns:a16="http://schemas.microsoft.com/office/drawing/2014/main" id="{21ABD3E3-00EE-6460-04DC-E55F9B31B9B5}"/>
              </a:ext>
            </a:extLst>
          </p:cNvPr>
          <p:cNvSpPr/>
          <p:nvPr/>
        </p:nvSpPr>
        <p:spPr>
          <a:xfrm>
            <a:off x="3895344" y="1627632"/>
            <a:ext cx="4069080" cy="813816"/>
          </a:xfrm>
          <a:prstGeom prst="rect">
            <a:avLst/>
          </a:prstGeom>
          <a:solidFill>
            <a:srgbClr val="FAFAFE"/>
          </a:solidFill>
          <a:ln w="5715">
            <a:solidFill>
              <a:srgbClr val="CDD1D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20">
            <a:extLst>
              <a:ext uri="{FF2B5EF4-FFF2-40B4-BE49-F238E27FC236}">
                <a16:creationId xmlns:a16="http://schemas.microsoft.com/office/drawing/2014/main" id="{2565AC50-8E21-3902-55D7-1CDD2BC0A49E}"/>
              </a:ext>
            </a:extLst>
          </p:cNvPr>
          <p:cNvSpPr/>
          <p:nvPr/>
        </p:nvSpPr>
        <p:spPr>
          <a:xfrm>
            <a:off x="2542032" y="1627632"/>
            <a:ext cx="1353312" cy="813816"/>
          </a:xfrm>
          <a:prstGeom prst="rect">
            <a:avLst/>
          </a:prstGeom>
          <a:solidFill>
            <a:srgbClr val="F2F4FB"/>
          </a:solidFill>
          <a:ln w="5715">
            <a:solidFill>
              <a:srgbClr val="CDD1D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19">
            <a:extLst>
              <a:ext uri="{FF2B5EF4-FFF2-40B4-BE49-F238E27FC236}">
                <a16:creationId xmlns:a16="http://schemas.microsoft.com/office/drawing/2014/main" id="{6564C8C1-9980-0D67-661E-2383A12CA905}"/>
              </a:ext>
            </a:extLst>
          </p:cNvPr>
          <p:cNvSpPr/>
          <p:nvPr/>
        </p:nvSpPr>
        <p:spPr>
          <a:xfrm>
            <a:off x="7964424" y="1188720"/>
            <a:ext cx="3822192" cy="438912"/>
          </a:xfrm>
          <a:prstGeom prst="rect">
            <a:avLst/>
          </a:prstGeom>
          <a:solidFill>
            <a:srgbClr val="2F2487"/>
          </a:solidFill>
          <a:ln w="6350">
            <a:solidFill>
              <a:srgbClr val="2F248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18">
            <a:extLst>
              <a:ext uri="{FF2B5EF4-FFF2-40B4-BE49-F238E27FC236}">
                <a16:creationId xmlns:a16="http://schemas.microsoft.com/office/drawing/2014/main" id="{9998272C-01ED-8CBF-08EE-C6366A8EB93E}"/>
              </a:ext>
            </a:extLst>
          </p:cNvPr>
          <p:cNvSpPr/>
          <p:nvPr/>
        </p:nvSpPr>
        <p:spPr>
          <a:xfrm>
            <a:off x="3895344" y="1188720"/>
            <a:ext cx="4069080" cy="438912"/>
          </a:xfrm>
          <a:prstGeom prst="rect">
            <a:avLst/>
          </a:prstGeom>
          <a:solidFill>
            <a:srgbClr val="2F2487"/>
          </a:solidFill>
          <a:ln w="6350">
            <a:solidFill>
              <a:srgbClr val="2F248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17">
            <a:extLst>
              <a:ext uri="{FF2B5EF4-FFF2-40B4-BE49-F238E27FC236}">
                <a16:creationId xmlns:a16="http://schemas.microsoft.com/office/drawing/2014/main" id="{ADE97280-1715-E86E-4D6B-A03BE303E7E2}"/>
              </a:ext>
            </a:extLst>
          </p:cNvPr>
          <p:cNvSpPr/>
          <p:nvPr/>
        </p:nvSpPr>
        <p:spPr>
          <a:xfrm>
            <a:off x="2542032" y="1188720"/>
            <a:ext cx="1353312" cy="438912"/>
          </a:xfrm>
          <a:prstGeom prst="rect">
            <a:avLst/>
          </a:prstGeom>
          <a:solidFill>
            <a:srgbClr val="2F2487"/>
          </a:solidFill>
          <a:ln w="6350">
            <a:solidFill>
              <a:srgbClr val="2F248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0149F7-EFE4-B4BC-971B-3A5C187C57D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27114" y="1341120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1E6E214-B005-93D5-2E01-93DAA4195E60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07775839"/>
              </p:ext>
            </p:extLst>
          </p:nvPr>
        </p:nvGraphicFramePr>
        <p:xfrm>
          <a:off x="824574" y="2034604"/>
          <a:ext cx="1414346" cy="353040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6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富国基金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西部利得基金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国金基金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673218"/>
                  </a:ext>
                </a:extLst>
              </a:tr>
              <a:tr h="706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博道基金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025990"/>
                  </a:ext>
                </a:extLst>
              </a:tr>
              <a:tr h="706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浙商基金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745640"/>
                  </a:ext>
                </a:extLst>
              </a:tr>
            </a:tbl>
          </a:graphicData>
        </a:graphic>
      </p:graphicFrame>
      <p:sp>
        <p:nvSpPr>
          <p:cNvPr id="25" name="Text 35">
            <a:extLst>
              <a:ext uri="{FF2B5EF4-FFF2-40B4-BE49-F238E27FC236}">
                <a16:creationId xmlns:a16="http://schemas.microsoft.com/office/drawing/2014/main" id="{A2B18C89-D593-3F5E-1DC0-81ADD0FCAD27}"/>
              </a:ext>
            </a:extLst>
          </p:cNvPr>
          <p:cNvSpPr txBox="1"/>
          <p:nvPr/>
        </p:nvSpPr>
        <p:spPr>
          <a:xfrm>
            <a:off x="2587752" y="127101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20" b="1" dirty="0" err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投研主线</a:t>
            </a:r>
            <a:endParaRPr lang="en-US" sz="1220" b="1" dirty="0">
              <a:solidFill>
                <a:srgbClr val="FFFFFF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36">
            <a:extLst>
              <a:ext uri="{FF2B5EF4-FFF2-40B4-BE49-F238E27FC236}">
                <a16:creationId xmlns:a16="http://schemas.microsoft.com/office/drawing/2014/main" id="{EA3A0DA5-23A9-D193-D562-87946469B2B0}"/>
              </a:ext>
            </a:extLst>
          </p:cNvPr>
          <p:cNvSpPr txBox="1"/>
          <p:nvPr/>
        </p:nvSpPr>
        <p:spPr>
          <a:xfrm>
            <a:off x="3941064" y="127101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220" b="1" dirty="0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策略理论与</a:t>
            </a:r>
            <a:r>
              <a:rPr sz="1220" b="1" dirty="0" err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研究基础</a:t>
            </a:r>
            <a:endParaRPr lang="en-US" sz="1220" b="1" dirty="0">
              <a:solidFill>
                <a:srgbClr val="FFFFFF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 37">
            <a:extLst>
              <a:ext uri="{FF2B5EF4-FFF2-40B4-BE49-F238E27FC236}">
                <a16:creationId xmlns:a16="http://schemas.microsoft.com/office/drawing/2014/main" id="{2754CFD9-E87B-1F7E-4E46-5C04870F8FEB}"/>
              </a:ext>
            </a:extLst>
          </p:cNvPr>
          <p:cNvSpPr txBox="1"/>
          <p:nvPr/>
        </p:nvSpPr>
        <p:spPr>
          <a:xfrm>
            <a:off x="8010144" y="127101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20" b="1" dirty="0" err="1">
                <a:solidFill>
                  <a:srgbClr val="FFFFF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策略沉淀与应用价值</a:t>
            </a:r>
            <a:endParaRPr lang="en-US" sz="1220" b="1" dirty="0">
              <a:solidFill>
                <a:srgbClr val="FFFFFF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38">
            <a:extLst>
              <a:ext uri="{FF2B5EF4-FFF2-40B4-BE49-F238E27FC236}">
                <a16:creationId xmlns:a16="http://schemas.microsoft.com/office/drawing/2014/main" id="{A2F719DB-E931-3403-DA08-0A5163E35D0E}"/>
              </a:ext>
            </a:extLst>
          </p:cNvPr>
          <p:cNvSpPr txBox="1"/>
          <p:nvPr/>
        </p:nvSpPr>
        <p:spPr>
          <a:xfrm>
            <a:off x="2651760" y="1677924"/>
            <a:ext cx="1133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120" b="1">
                <a:solidFill>
                  <a:srgbClr val="1C1C20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端到端深度学习</a:t>
            </a:r>
            <a:endParaRPr sz="1120" b="1" dirty="0">
              <a:solidFill>
                <a:srgbClr val="1C1C20"/>
              </a:solidFill>
              <a:latin typeface="Microsoft YaHei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 39">
            <a:extLst>
              <a:ext uri="{FF2B5EF4-FFF2-40B4-BE49-F238E27FC236}">
                <a16:creationId xmlns:a16="http://schemas.microsoft.com/office/drawing/2014/main" id="{04EDF79F-0582-E3C8-2668-866932170C04}"/>
              </a:ext>
            </a:extLst>
          </p:cNvPr>
          <p:cNvSpPr txBox="1"/>
          <p:nvPr/>
        </p:nvSpPr>
        <p:spPr>
          <a:xfrm>
            <a:off x="4005072" y="1677924"/>
            <a:ext cx="3849624" cy="713232"/>
          </a:xfrm>
          <a:prstGeom prst="rect">
            <a:avLst/>
          </a:prstGeom>
          <a:noFill/>
          <a:ln/>
        </p:spPr>
        <p:txBody>
          <a:bodyPr wrap="square" lIns="63500" tIns="38100" rIns="63500" bIns="38100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围绕量化投资场景搭建端到端深度学习框架，统一数据接口、样本构建、滚动训练、验证回测与特征变换流程。模型侧从人工因子线性组合，拓展为对价格、成交、财务和事件变量非线性关系的表征学习；财报事件驱动模型进一步引入事件距离、事件类型编码与</a:t>
            </a:r>
            <a:r>
              <a:rPr lang="en-US" altLang="zh-CN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Cross-Attention</a:t>
            </a:r>
            <a:r>
              <a:rPr lang="zh-CN" altLang="en-US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，融合公告事件和市场特征。</a:t>
            </a:r>
            <a:endParaRPr lang="en-US" sz="860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Text 40">
            <a:extLst>
              <a:ext uri="{FF2B5EF4-FFF2-40B4-BE49-F238E27FC236}">
                <a16:creationId xmlns:a16="http://schemas.microsoft.com/office/drawing/2014/main" id="{F42D12E0-70CB-3C80-5581-F5BC04D634D8}"/>
              </a:ext>
            </a:extLst>
          </p:cNvPr>
          <p:cNvSpPr txBox="1"/>
          <p:nvPr/>
        </p:nvSpPr>
        <p:spPr>
          <a:xfrm>
            <a:off x="8074152" y="1677924"/>
            <a:ext cx="3602736" cy="713232"/>
          </a:xfrm>
          <a:prstGeom prst="rect">
            <a:avLst/>
          </a:prstGeom>
          <a:noFill/>
          <a:ln/>
        </p:spPr>
        <p:txBody>
          <a:bodyPr wrap="square" lIns="63500" tIns="38100" rIns="63500" bIns="3810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860">
                <a:solidFill>
                  <a:srgbClr val="1C1C20"/>
                </a:solidFill>
                <a:latin typeface="Microsoft YaHei" panose="020B0503020204020204" pitchFamily="34" charset="-122"/>
              </a:rPr>
              <a:t>沉淀“数据</a:t>
            </a:r>
            <a:r>
              <a:rPr lang="en-US" altLang="zh-CN" sz="860">
                <a:solidFill>
                  <a:srgbClr val="1C1C20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860">
                <a:solidFill>
                  <a:srgbClr val="1C1C20"/>
                </a:solidFill>
                <a:latin typeface="Microsoft YaHei" panose="020B0503020204020204" pitchFamily="34" charset="-122"/>
              </a:rPr>
              <a:t>因子</a:t>
            </a:r>
            <a:r>
              <a:rPr lang="en-US" altLang="zh-CN" sz="860">
                <a:solidFill>
                  <a:srgbClr val="1C1C20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860">
                <a:solidFill>
                  <a:srgbClr val="1C1C20"/>
                </a:solidFill>
                <a:latin typeface="Microsoft YaHei" panose="020B0503020204020204" pitchFamily="34" charset="-122"/>
              </a:rPr>
              <a:t>模型</a:t>
            </a:r>
            <a:r>
              <a:rPr lang="en-US" altLang="zh-CN" sz="860">
                <a:solidFill>
                  <a:srgbClr val="1C1C20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860">
                <a:solidFill>
                  <a:srgbClr val="1C1C20"/>
                </a:solidFill>
                <a:latin typeface="Microsoft YaHei" panose="020B0503020204020204" pitchFamily="34" charset="-122"/>
              </a:rPr>
              <a:t>回测</a:t>
            </a:r>
            <a:r>
              <a:rPr lang="en-US" altLang="zh-CN" sz="860">
                <a:solidFill>
                  <a:srgbClr val="1C1C20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860">
                <a:solidFill>
                  <a:srgbClr val="1C1C20"/>
                </a:solidFill>
                <a:latin typeface="Microsoft YaHei" panose="020B0503020204020204" pitchFamily="34" charset="-122"/>
              </a:rPr>
              <a:t>监控”的权益量化研发链路，把研究假设转化为可回测、可样本外跟踪的预测信号。后续可复用至业绩预告、业绩快报、分红送转、增发配股和临时公告等事件场景。</a:t>
            </a:r>
            <a:endParaRPr lang="en-US" sz="860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Text 41">
            <a:extLst>
              <a:ext uri="{FF2B5EF4-FFF2-40B4-BE49-F238E27FC236}">
                <a16:creationId xmlns:a16="http://schemas.microsoft.com/office/drawing/2014/main" id="{6E15B27E-0D3E-5125-28D9-4DA97035ACE6}"/>
              </a:ext>
            </a:extLst>
          </p:cNvPr>
          <p:cNvSpPr txBox="1"/>
          <p:nvPr/>
        </p:nvSpPr>
        <p:spPr>
          <a:xfrm>
            <a:off x="2651760" y="2491740"/>
            <a:ext cx="1133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>
                <a:solidFill>
                  <a:srgbClr val="1C1C20"/>
                </a:solidFill>
                <a:latin typeface="Microsoft YaHei" panose="020B0503020204020204" pitchFamily="34" charset="-122"/>
              </a:rPr>
              <a:t>LLM</a:t>
            </a:r>
            <a:r>
              <a:rPr lang="zh-CN" altLang="en-US" sz="1120" b="1">
                <a:solidFill>
                  <a:srgbClr val="1C1C20"/>
                </a:solidFill>
                <a:latin typeface="Microsoft YaHei" panose="020B0503020204020204" pitchFamily="34" charset="-122"/>
              </a:rPr>
              <a:t>与</a:t>
            </a:r>
          </a:p>
          <a:p>
            <a:pPr marL="0" indent="0" algn="ctr">
              <a:buNone/>
            </a:pPr>
            <a:r>
              <a:rPr lang="zh-CN" altLang="en-US" sz="1120" b="1">
                <a:solidFill>
                  <a:srgbClr val="1C1C20"/>
                </a:solidFill>
                <a:latin typeface="Microsoft YaHei" panose="020B0503020204020204" pitchFamily="34" charset="-122"/>
              </a:rPr>
              <a:t>非结构化 </a:t>
            </a:r>
            <a:r>
              <a:rPr lang="en-US" sz="1120" b="1">
                <a:solidFill>
                  <a:srgbClr val="1C1C20"/>
                </a:solidFill>
                <a:latin typeface="Microsoft YaHei" panose="020B0503020204020204" pitchFamily="34" charset="-122"/>
              </a:rPr>
              <a:t>Alpha</a:t>
            </a:r>
            <a:endParaRPr sz="1120" b="1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Text 42">
            <a:extLst>
              <a:ext uri="{FF2B5EF4-FFF2-40B4-BE49-F238E27FC236}">
                <a16:creationId xmlns:a16="http://schemas.microsoft.com/office/drawing/2014/main" id="{68EBFA6D-B873-D73E-E1AC-9552F1EB0F8A}"/>
              </a:ext>
            </a:extLst>
          </p:cNvPr>
          <p:cNvSpPr txBox="1"/>
          <p:nvPr/>
        </p:nvSpPr>
        <p:spPr>
          <a:xfrm>
            <a:off x="4005072" y="2491740"/>
            <a:ext cx="3849624" cy="713232"/>
          </a:xfrm>
          <a:prstGeom prst="rect">
            <a:avLst/>
          </a:prstGeom>
          <a:noFill/>
          <a:ln/>
        </p:spPr>
        <p:txBody>
          <a:bodyPr wrap="square" lIns="63500" tIns="38100" rIns="63500" bIns="38100" rtlCol="0" anchor="ctr">
            <a:normAutofit/>
          </a:bodyPr>
          <a:lstStyle/>
          <a:p>
            <a:pPr marL="0" indent="0" algn="l">
              <a:buNone/>
            </a:pPr>
            <a:r>
              <a:rPr lang="en-US" altLang="zh-CN" sz="860">
                <a:solidFill>
                  <a:srgbClr val="1C1C20"/>
                </a:solidFill>
                <a:latin typeface="Microsoft YaHei" panose="020B0503020204020204" pitchFamily="34" charset="-122"/>
              </a:rPr>
              <a:t>LLM</a:t>
            </a:r>
            <a:r>
              <a:rPr lang="zh-CN" altLang="en-US" sz="860">
                <a:solidFill>
                  <a:srgbClr val="1C1C20"/>
                </a:solidFill>
                <a:latin typeface="Microsoft YaHei" panose="020B0503020204020204" pitchFamily="34" charset="-122"/>
              </a:rPr>
              <a:t>因子研究从“基本面剔除”扩展为“基本面约束</a:t>
            </a:r>
            <a:r>
              <a:rPr lang="en-US" altLang="zh-CN" sz="860">
                <a:solidFill>
                  <a:srgbClr val="1C1C20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860">
                <a:solidFill>
                  <a:srgbClr val="1C1C20"/>
                </a:solidFill>
                <a:latin typeface="Microsoft YaHei" panose="020B0503020204020204" pitchFamily="34" charset="-122"/>
              </a:rPr>
              <a:t>量价多头”，在趋势、成交活跃度和价格强度之外，进一步引入非结构化信息。重点是将新闻、公告、研报摘要、舆情、业绩会纪要、临床进展和</a:t>
            </a:r>
            <a:r>
              <a:rPr lang="en-US" altLang="zh-CN" sz="860">
                <a:solidFill>
                  <a:srgbClr val="1C1C20"/>
                </a:solidFill>
                <a:latin typeface="Microsoft YaHei" panose="020B0503020204020204" pitchFamily="34" charset="-122"/>
              </a:rPr>
              <a:t>SEC</a:t>
            </a:r>
            <a:r>
              <a:rPr lang="zh-CN" altLang="en-US" sz="860">
                <a:solidFill>
                  <a:srgbClr val="1C1C20"/>
                </a:solidFill>
                <a:latin typeface="Microsoft YaHei" panose="020B0503020204020204" pitchFamily="34" charset="-122"/>
              </a:rPr>
              <a:t>文件等转化为情绪、事件、主题强度与影响范围，并按股票、行业和时间窗口聚合。</a:t>
            </a:r>
            <a:endParaRPr lang="en-US" sz="860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Text 43">
            <a:extLst>
              <a:ext uri="{FF2B5EF4-FFF2-40B4-BE49-F238E27FC236}">
                <a16:creationId xmlns:a16="http://schemas.microsoft.com/office/drawing/2014/main" id="{B636E744-028D-757D-F58C-AFC5A57BB273}"/>
              </a:ext>
            </a:extLst>
          </p:cNvPr>
          <p:cNvSpPr txBox="1"/>
          <p:nvPr/>
        </p:nvSpPr>
        <p:spPr>
          <a:xfrm>
            <a:off x="8074152" y="2491740"/>
            <a:ext cx="3602736" cy="713232"/>
          </a:xfrm>
          <a:prstGeom prst="rect">
            <a:avLst/>
          </a:prstGeom>
          <a:noFill/>
          <a:ln/>
        </p:spPr>
        <p:txBody>
          <a:bodyPr wrap="square" lIns="63500" tIns="38100" rIns="63500" bIns="3810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860">
                <a:solidFill>
                  <a:srgbClr val="1C1C20"/>
                </a:solidFill>
                <a:latin typeface="Microsoft YaHei" panose="020B0503020204020204" pitchFamily="34" charset="-122"/>
              </a:rPr>
              <a:t>核心是把非结构化投研信息转为可检验因子：先由</a:t>
            </a:r>
            <a:r>
              <a:rPr lang="en-US" altLang="zh-CN" sz="860">
                <a:solidFill>
                  <a:srgbClr val="1C1C20"/>
                </a:solidFill>
                <a:latin typeface="Microsoft YaHei" panose="020B0503020204020204" pitchFamily="34" charset="-122"/>
              </a:rPr>
              <a:t>LLM/FinBERT/Agent</a:t>
            </a:r>
            <a:r>
              <a:rPr lang="zh-CN" altLang="en-US" sz="860">
                <a:solidFill>
                  <a:srgbClr val="1C1C20"/>
                </a:solidFill>
                <a:latin typeface="Microsoft YaHei" panose="020B0503020204020204" pitchFamily="34" charset="-122"/>
              </a:rPr>
              <a:t>抽取事件方向、强度和置信度，再通过</a:t>
            </a:r>
            <a:r>
              <a:rPr lang="en-US" altLang="zh-CN" sz="860">
                <a:solidFill>
                  <a:srgbClr val="1C1C20"/>
                </a:solidFill>
                <a:latin typeface="Microsoft YaHei" panose="020B0503020204020204" pitchFamily="34" charset="-122"/>
              </a:rPr>
              <a:t>RankIC</a:t>
            </a:r>
            <a:r>
              <a:rPr lang="zh-CN" altLang="en-US" sz="860">
                <a:solidFill>
                  <a:srgbClr val="1C1C2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860">
                <a:solidFill>
                  <a:srgbClr val="1C1C20"/>
                </a:solidFill>
                <a:latin typeface="Microsoft YaHei" panose="020B0503020204020204" pitchFamily="34" charset="-122"/>
              </a:rPr>
              <a:t>ICIR</a:t>
            </a:r>
            <a:r>
              <a:rPr lang="zh-CN" altLang="en-US" sz="860">
                <a:solidFill>
                  <a:srgbClr val="1C1C20"/>
                </a:solidFill>
                <a:latin typeface="Microsoft YaHei" panose="020B0503020204020204" pitchFamily="34" charset="-122"/>
              </a:rPr>
              <a:t>、分组收益、衰减速度和样本外表现验证增量信息，最终沉淀管理层情绪</a:t>
            </a:r>
            <a:r>
              <a:rPr lang="en-US" altLang="zh-CN" sz="860">
                <a:solidFill>
                  <a:srgbClr val="1C1C20"/>
                </a:solidFill>
                <a:latin typeface="Microsoft YaHei" panose="020B0503020204020204" pitchFamily="34" charset="-122"/>
              </a:rPr>
              <a:t>Alpha</a:t>
            </a:r>
            <a:r>
              <a:rPr lang="zh-CN" altLang="en-US" sz="860">
                <a:solidFill>
                  <a:srgbClr val="1C1C20"/>
                </a:solidFill>
                <a:latin typeface="Microsoft YaHei" panose="020B0503020204020204" pitchFamily="34" charset="-122"/>
              </a:rPr>
              <a:t>、事件冲击</a:t>
            </a:r>
            <a:r>
              <a:rPr lang="en-US" altLang="zh-CN" sz="860">
                <a:solidFill>
                  <a:srgbClr val="1C1C20"/>
                </a:solidFill>
                <a:latin typeface="Microsoft YaHei" panose="020B0503020204020204" pitchFamily="34" charset="-122"/>
              </a:rPr>
              <a:t>Alpha</a:t>
            </a:r>
            <a:r>
              <a:rPr lang="zh-CN" altLang="en-US" sz="860">
                <a:solidFill>
                  <a:srgbClr val="1C1C20"/>
                </a:solidFill>
                <a:latin typeface="Microsoft YaHei" panose="020B0503020204020204" pitchFamily="34" charset="-122"/>
              </a:rPr>
              <a:t>和产业链预期差</a:t>
            </a:r>
            <a:r>
              <a:rPr lang="en-US" altLang="zh-CN" sz="860">
                <a:solidFill>
                  <a:srgbClr val="1C1C20"/>
                </a:solidFill>
                <a:latin typeface="Microsoft YaHei" panose="020B0503020204020204" pitchFamily="34" charset="-122"/>
              </a:rPr>
              <a:t>Alpha</a:t>
            </a:r>
            <a:r>
              <a:rPr lang="zh-CN" altLang="en-US" sz="860">
                <a:solidFill>
                  <a:srgbClr val="1C1C20"/>
                </a:solidFill>
                <a:latin typeface="Microsoft YaHei" panose="020B0503020204020204" pitchFamily="34" charset="-122"/>
              </a:rPr>
              <a:t>的数据底座。</a:t>
            </a:r>
            <a:endParaRPr lang="en-US" sz="860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Text 44">
            <a:extLst>
              <a:ext uri="{FF2B5EF4-FFF2-40B4-BE49-F238E27FC236}">
                <a16:creationId xmlns:a16="http://schemas.microsoft.com/office/drawing/2014/main" id="{6618D900-77C4-0930-DAF0-F79CBE15A217}"/>
              </a:ext>
            </a:extLst>
          </p:cNvPr>
          <p:cNvSpPr txBox="1"/>
          <p:nvPr/>
        </p:nvSpPr>
        <p:spPr>
          <a:xfrm>
            <a:off x="2651760" y="3305556"/>
            <a:ext cx="1133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120" b="1">
                <a:solidFill>
                  <a:srgbClr val="1C1C20"/>
                </a:solidFill>
                <a:latin typeface="Microsoft YaHei" panose="020B0503020204020204" pitchFamily="34" charset="-122"/>
              </a:rPr>
              <a:t>固收量化与</a:t>
            </a:r>
          </a:p>
          <a:p>
            <a:pPr marL="0" indent="0" algn="ctr">
              <a:buNone/>
            </a:pPr>
            <a:r>
              <a:rPr lang="zh-CN" altLang="en-US" sz="1120" b="1">
                <a:solidFill>
                  <a:srgbClr val="1C1C20"/>
                </a:solidFill>
                <a:latin typeface="Microsoft YaHei" panose="020B0503020204020204" pitchFamily="34" charset="-122"/>
              </a:rPr>
              <a:t>转债策略</a:t>
            </a:r>
            <a:endParaRPr sz="1120" b="1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Text 45">
            <a:extLst>
              <a:ext uri="{FF2B5EF4-FFF2-40B4-BE49-F238E27FC236}">
                <a16:creationId xmlns:a16="http://schemas.microsoft.com/office/drawing/2014/main" id="{5DCB945B-9F56-969A-265B-55D5263E57D4}"/>
              </a:ext>
            </a:extLst>
          </p:cNvPr>
          <p:cNvSpPr txBox="1"/>
          <p:nvPr/>
        </p:nvSpPr>
        <p:spPr>
          <a:xfrm>
            <a:off x="4005072" y="3305556"/>
            <a:ext cx="3849624" cy="713232"/>
          </a:xfrm>
          <a:prstGeom prst="rect">
            <a:avLst/>
          </a:prstGeom>
          <a:noFill/>
          <a:ln/>
        </p:spPr>
        <p:txBody>
          <a:bodyPr wrap="square" lIns="63500" tIns="38100" rIns="63500" bIns="3810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860">
                <a:solidFill>
                  <a:srgbClr val="1C1C20"/>
                </a:solidFill>
                <a:latin typeface="Microsoft YaHei" panose="020B0503020204020204" pitchFamily="34" charset="-122"/>
              </a:rPr>
              <a:t>微盘择时在趋势</a:t>
            </a:r>
            <a:r>
              <a:rPr lang="en-US" altLang="zh-CN" sz="860">
                <a:solidFill>
                  <a:srgbClr val="1C1C20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860">
                <a:solidFill>
                  <a:srgbClr val="1C1C20"/>
                </a:solidFill>
                <a:latin typeface="Microsoft YaHei" panose="020B0503020204020204" pitchFamily="34" charset="-122"/>
              </a:rPr>
              <a:t>拐点框架上引入情绪扩散、泡沫指数与</a:t>
            </a:r>
            <a:r>
              <a:rPr lang="en-US" altLang="zh-CN" sz="860">
                <a:solidFill>
                  <a:srgbClr val="1C1C20"/>
                </a:solidFill>
                <a:latin typeface="Microsoft YaHei" panose="020B0503020204020204" pitchFamily="34" charset="-122"/>
              </a:rPr>
              <a:t>VIX</a:t>
            </a:r>
            <a:r>
              <a:rPr lang="zh-CN" altLang="en-US" sz="860">
                <a:solidFill>
                  <a:srgbClr val="1C1C20"/>
                </a:solidFill>
                <a:latin typeface="Microsoft YaHei" panose="020B0503020204020204" pitchFamily="34" charset="-122"/>
              </a:rPr>
              <a:t>冲击信号；利率量化择时关注收益率运行状态、交易结构和</a:t>
            </a:r>
            <a:r>
              <a:rPr lang="en-US" altLang="zh-CN" sz="860">
                <a:solidFill>
                  <a:srgbClr val="1C1C20"/>
                </a:solidFill>
                <a:latin typeface="Microsoft YaHei" panose="020B0503020204020204" pitchFamily="34" charset="-122"/>
              </a:rPr>
              <a:t>LPPLs</a:t>
            </a:r>
            <a:r>
              <a:rPr lang="zh-CN" altLang="en-US" sz="860">
                <a:solidFill>
                  <a:srgbClr val="1C1C20"/>
                </a:solidFill>
                <a:latin typeface="Microsoft YaHei" panose="020B0503020204020204" pitchFamily="34" charset="-122"/>
              </a:rPr>
              <a:t>等非线性指标；转债策略持续迭代</a:t>
            </a:r>
            <a:r>
              <a:rPr lang="en-US" altLang="zh-CN" sz="860">
                <a:solidFill>
                  <a:srgbClr val="1C1C20"/>
                </a:solidFill>
                <a:latin typeface="Microsoft YaHei" panose="020B0503020204020204" pitchFamily="34" charset="-122"/>
              </a:rPr>
              <a:t>AAA</a:t>
            </a:r>
            <a:r>
              <a:rPr lang="zh-CN" altLang="en-US" sz="860">
                <a:solidFill>
                  <a:srgbClr val="1C1C20"/>
                </a:solidFill>
                <a:latin typeface="Microsoft YaHei" panose="020B0503020204020204" pitchFamily="34" charset="-122"/>
              </a:rPr>
              <a:t>底仓增强、高价低溢价、赎回条款博弈和</a:t>
            </a:r>
            <a:r>
              <a:rPr lang="en-US" altLang="zh-CN" sz="860">
                <a:solidFill>
                  <a:srgbClr val="1C1C20"/>
                </a:solidFill>
                <a:latin typeface="Microsoft YaHei" panose="020B0503020204020204" pitchFamily="34" charset="-122"/>
              </a:rPr>
              <a:t>K</a:t>
            </a:r>
            <a:r>
              <a:rPr lang="zh-CN" altLang="en-US" sz="860">
                <a:solidFill>
                  <a:srgbClr val="1C1C20"/>
                </a:solidFill>
                <a:latin typeface="Microsoft YaHei" panose="020B0503020204020204" pitchFamily="34" charset="-122"/>
              </a:rPr>
              <a:t>线避险形态，形成多场景固收量化信号池。</a:t>
            </a:r>
            <a:endParaRPr lang="en-US" sz="860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Text 46">
            <a:extLst>
              <a:ext uri="{FF2B5EF4-FFF2-40B4-BE49-F238E27FC236}">
                <a16:creationId xmlns:a16="http://schemas.microsoft.com/office/drawing/2014/main" id="{7475897F-C352-F34A-5972-468E6ED3F0EB}"/>
              </a:ext>
            </a:extLst>
          </p:cNvPr>
          <p:cNvSpPr txBox="1"/>
          <p:nvPr/>
        </p:nvSpPr>
        <p:spPr>
          <a:xfrm>
            <a:off x="8074152" y="3305556"/>
            <a:ext cx="3602736" cy="713232"/>
          </a:xfrm>
          <a:prstGeom prst="rect">
            <a:avLst/>
          </a:prstGeom>
          <a:noFill/>
          <a:ln/>
        </p:spPr>
        <p:txBody>
          <a:bodyPr wrap="square" lIns="63500" tIns="38100" rIns="63500" bIns="3810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固收量化框架可概括为“市场状态识别</a:t>
            </a:r>
            <a:r>
              <a:rPr lang="en-US" altLang="zh-CN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信号触发</a:t>
            </a:r>
            <a:r>
              <a:rPr lang="en-US" altLang="zh-CN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风险过滤</a:t>
            </a:r>
            <a:r>
              <a:rPr lang="en-US" altLang="zh-CN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样本外跟踪”。其价值在于服务大类配置、利率研判、转债增强和产品回撤控制，使固收研究从单点判断转向多因子、多状态、可复盘的策略框架。</a:t>
            </a:r>
            <a:endParaRPr lang="en-US" sz="860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7" name="Text 47">
            <a:extLst>
              <a:ext uri="{FF2B5EF4-FFF2-40B4-BE49-F238E27FC236}">
                <a16:creationId xmlns:a16="http://schemas.microsoft.com/office/drawing/2014/main" id="{AA86E6D8-2FC0-9B02-5BC4-4E39166E5BB5}"/>
              </a:ext>
            </a:extLst>
          </p:cNvPr>
          <p:cNvSpPr txBox="1"/>
          <p:nvPr/>
        </p:nvSpPr>
        <p:spPr>
          <a:xfrm>
            <a:off x="2651760" y="4119372"/>
            <a:ext cx="1133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120" b="1">
                <a:solidFill>
                  <a:srgbClr val="1C1C20"/>
                </a:solidFill>
                <a:latin typeface="Microsoft YaHei" panose="020B0503020204020204" pitchFamily="34" charset="-122"/>
              </a:rPr>
              <a:t>组合优化与</a:t>
            </a:r>
          </a:p>
          <a:p>
            <a:pPr marL="0" indent="0" algn="ctr">
              <a:buNone/>
            </a:pPr>
            <a:r>
              <a:rPr lang="zh-CN" altLang="en-US" sz="1120" b="1">
                <a:solidFill>
                  <a:srgbClr val="1C1C20"/>
                </a:solidFill>
                <a:latin typeface="Microsoft YaHei" panose="020B0503020204020204" pitchFamily="34" charset="-122"/>
              </a:rPr>
              <a:t>动态权重控制</a:t>
            </a:r>
            <a:endParaRPr sz="1120" b="1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Text 48">
            <a:extLst>
              <a:ext uri="{FF2B5EF4-FFF2-40B4-BE49-F238E27FC236}">
                <a16:creationId xmlns:a16="http://schemas.microsoft.com/office/drawing/2014/main" id="{430C591F-398A-F553-CED3-DAB08C3794D4}"/>
              </a:ext>
            </a:extLst>
          </p:cNvPr>
          <p:cNvSpPr txBox="1"/>
          <p:nvPr/>
        </p:nvSpPr>
        <p:spPr>
          <a:xfrm>
            <a:off x="4005072" y="4119372"/>
            <a:ext cx="3849624" cy="713232"/>
          </a:xfrm>
          <a:prstGeom prst="rect">
            <a:avLst/>
          </a:prstGeom>
          <a:noFill/>
          <a:ln/>
        </p:spPr>
        <p:txBody>
          <a:bodyPr wrap="square" lIns="63500" tIns="38100" rIns="63500" bIns="3810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在传统因子评价基础上，研究进一步从“预测打分”延伸到“组合权重”。一方面统一输出</a:t>
            </a:r>
            <a:r>
              <a:rPr lang="en-US" altLang="zh-CN" sz="860" dirty="0" err="1">
                <a:solidFill>
                  <a:srgbClr val="1C1C20"/>
                </a:solidFill>
                <a:latin typeface="Microsoft YaHei" panose="020B0503020204020204" pitchFamily="34" charset="-122"/>
              </a:rPr>
              <a:t>RankIC</a:t>
            </a:r>
            <a:r>
              <a:rPr lang="zh-CN" altLang="en-US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ICIR</a:t>
            </a:r>
            <a:r>
              <a:rPr lang="zh-CN" altLang="en-US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、分组收益、多空收益、换手、回撤、行业暴露和样本外表现；另一方面探索</a:t>
            </a:r>
            <a:r>
              <a:rPr lang="en-US" altLang="zh-CN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PPO/DDPG</a:t>
            </a:r>
            <a:r>
              <a:rPr lang="zh-CN" altLang="en-US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等连续动作空间方法，把因子暴露、市场波动、成交活跃度和行业状态映射为仓位、行业暴露或个股权重。</a:t>
            </a:r>
            <a:endParaRPr lang="en-US" sz="860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Text 49">
            <a:extLst>
              <a:ext uri="{FF2B5EF4-FFF2-40B4-BE49-F238E27FC236}">
                <a16:creationId xmlns:a16="http://schemas.microsoft.com/office/drawing/2014/main" id="{0838D33C-32A8-8DA7-F57F-27D0842AA284}"/>
              </a:ext>
            </a:extLst>
          </p:cNvPr>
          <p:cNvSpPr txBox="1"/>
          <p:nvPr/>
        </p:nvSpPr>
        <p:spPr>
          <a:xfrm>
            <a:off x="8074152" y="4119372"/>
            <a:ext cx="3602736" cy="713232"/>
          </a:xfrm>
          <a:prstGeom prst="rect">
            <a:avLst/>
          </a:prstGeom>
          <a:noFill/>
          <a:ln/>
        </p:spPr>
        <p:txBody>
          <a:bodyPr wrap="square" lIns="63500" tIns="38100" rIns="63500" bIns="3810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860">
                <a:solidFill>
                  <a:srgbClr val="1C1C20"/>
                </a:solidFill>
                <a:latin typeface="Microsoft YaHei" panose="020B0503020204020204" pitchFamily="34" charset="-122"/>
              </a:rPr>
              <a:t>组合层关注的不是单个因子是否有效，而是如何在风险、成本和暴露约束下，把多类信号转化为更稳定的组合收益。该方向可使传统因子、文本因子、</a:t>
            </a:r>
            <a:r>
              <a:rPr lang="en-US" altLang="zh-CN" sz="860">
                <a:solidFill>
                  <a:srgbClr val="1C1C20"/>
                </a:solidFill>
                <a:latin typeface="Microsoft YaHei" panose="020B0503020204020204" pitchFamily="34" charset="-122"/>
              </a:rPr>
              <a:t>LLM</a:t>
            </a:r>
            <a:r>
              <a:rPr lang="zh-CN" altLang="en-US" sz="860">
                <a:solidFill>
                  <a:srgbClr val="1C1C20"/>
                </a:solidFill>
                <a:latin typeface="Microsoft YaHei" panose="020B0503020204020204" pitchFamily="34" charset="-122"/>
              </a:rPr>
              <a:t>因子与强化学习权重控制在同一评价体系下比较。</a:t>
            </a:r>
            <a:endParaRPr lang="en-US" sz="860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Text 50">
            <a:extLst>
              <a:ext uri="{FF2B5EF4-FFF2-40B4-BE49-F238E27FC236}">
                <a16:creationId xmlns:a16="http://schemas.microsoft.com/office/drawing/2014/main" id="{F0D5D582-2EBA-A2F4-E705-0DECE0F7CB58}"/>
              </a:ext>
            </a:extLst>
          </p:cNvPr>
          <p:cNvSpPr txBox="1"/>
          <p:nvPr/>
        </p:nvSpPr>
        <p:spPr>
          <a:xfrm>
            <a:off x="2651760" y="4933188"/>
            <a:ext cx="1133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120" b="1">
                <a:solidFill>
                  <a:srgbClr val="1C1C20"/>
                </a:solidFill>
                <a:latin typeface="Microsoft YaHei" panose="020B0503020204020204" pitchFamily="34" charset="-122"/>
              </a:rPr>
              <a:t>主动研究中的</a:t>
            </a:r>
          </a:p>
          <a:p>
            <a:pPr marL="0" indent="0" algn="ctr">
              <a:buNone/>
            </a:pPr>
            <a:r>
              <a:rPr lang="zh-CN" altLang="en-US" sz="1120" b="1">
                <a:solidFill>
                  <a:srgbClr val="1C1C20"/>
                </a:solidFill>
                <a:latin typeface="Microsoft YaHei" panose="020B0503020204020204" pitchFamily="34" charset="-122"/>
              </a:rPr>
              <a:t>量化策略素材</a:t>
            </a:r>
            <a:endParaRPr sz="1120" b="1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Text 51">
            <a:extLst>
              <a:ext uri="{FF2B5EF4-FFF2-40B4-BE49-F238E27FC236}">
                <a16:creationId xmlns:a16="http://schemas.microsoft.com/office/drawing/2014/main" id="{92061AA1-92A5-F627-BDBD-41B636E05387}"/>
              </a:ext>
            </a:extLst>
          </p:cNvPr>
          <p:cNvSpPr txBox="1"/>
          <p:nvPr/>
        </p:nvSpPr>
        <p:spPr>
          <a:xfrm>
            <a:off x="4005072" y="4933188"/>
            <a:ext cx="3849624" cy="713232"/>
          </a:xfrm>
          <a:prstGeom prst="rect">
            <a:avLst/>
          </a:prstGeom>
          <a:noFill/>
          <a:ln/>
        </p:spPr>
        <p:txBody>
          <a:bodyPr wrap="square" lIns="63500" tIns="38100" rIns="63500" bIns="3810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主动研究部分聚焦可量化策略素材：科技制造围绕</a:t>
            </a:r>
            <a:r>
              <a:rPr lang="en-US" altLang="zh-CN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Q/M/F</a:t>
            </a:r>
            <a:r>
              <a:rPr lang="zh-CN" altLang="en-US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三维因子、云厂商</a:t>
            </a:r>
            <a:r>
              <a:rPr lang="en-US" altLang="zh-CN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Capex</a:t>
            </a:r>
            <a:r>
              <a:rPr lang="zh-CN" altLang="en-US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、排产率、</a:t>
            </a:r>
            <a:r>
              <a:rPr lang="en-US" altLang="zh-CN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BOM</a:t>
            </a:r>
            <a:r>
              <a:rPr lang="zh-CN" altLang="en-US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变化和代工营收扩展股票池；医药研究依托</a:t>
            </a:r>
            <a:r>
              <a:rPr lang="en-US" altLang="zh-CN" sz="860" dirty="0" err="1">
                <a:solidFill>
                  <a:srgbClr val="1C1C20"/>
                </a:solidFill>
                <a:latin typeface="Microsoft YaHei" panose="020B0503020204020204" pitchFamily="34" charset="-122"/>
              </a:rPr>
              <a:t>rNPV</a:t>
            </a:r>
            <a:r>
              <a:rPr lang="zh-CN" altLang="en-US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、财务三维预测、临床状态监控</a:t>
            </a:r>
            <a:r>
              <a:rPr lang="en-US" altLang="zh-CN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Agent</a:t>
            </a:r>
            <a:r>
              <a:rPr lang="zh-CN" altLang="en-US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和文献</a:t>
            </a:r>
            <a:r>
              <a:rPr lang="en-US" altLang="zh-CN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860" dirty="0">
                <a:solidFill>
                  <a:srgbClr val="1C1C20"/>
                </a:solidFill>
                <a:latin typeface="Microsoft YaHei" panose="020B0503020204020204" pitchFamily="34" charset="-122"/>
              </a:rPr>
              <a:t>公告抽取；周期行业沉淀供需、价格、库存和成本曲线等变量。</a:t>
            </a:r>
            <a:endParaRPr lang="en-US" sz="860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2" name="Text 52">
            <a:extLst>
              <a:ext uri="{FF2B5EF4-FFF2-40B4-BE49-F238E27FC236}">
                <a16:creationId xmlns:a16="http://schemas.microsoft.com/office/drawing/2014/main" id="{E709F170-6446-FE55-A1AA-35AA7FF0CC46}"/>
              </a:ext>
            </a:extLst>
          </p:cNvPr>
          <p:cNvSpPr txBox="1"/>
          <p:nvPr/>
        </p:nvSpPr>
        <p:spPr>
          <a:xfrm>
            <a:off x="8074152" y="4933188"/>
            <a:ext cx="3602736" cy="713232"/>
          </a:xfrm>
          <a:prstGeom prst="rect">
            <a:avLst/>
          </a:prstGeom>
          <a:noFill/>
          <a:ln/>
        </p:spPr>
        <p:txBody>
          <a:bodyPr wrap="square" lIns="63500" tIns="38100" rIns="63500" bIns="3810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860">
                <a:solidFill>
                  <a:srgbClr val="1C1C20"/>
                </a:solidFill>
                <a:latin typeface="Microsoft YaHei" panose="020B0503020204020204" pitchFamily="34" charset="-122"/>
              </a:rPr>
              <a:t>主动研究为量化模型补充“经济含义”和“行业语境”：将行业框架转化为股票池、估值模板、跟踪指标和触发规则，为行业轮动、主题择时、风险过滤和个股精选提供可验证的基本面特征。</a:t>
            </a:r>
            <a:endParaRPr lang="en-US" sz="860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Shape 53">
            <a:extLst>
              <a:ext uri="{FF2B5EF4-FFF2-40B4-BE49-F238E27FC236}">
                <a16:creationId xmlns:a16="http://schemas.microsoft.com/office/drawing/2014/main" id="{0B6B974F-3389-705D-D36F-CABEC596D86F}"/>
              </a:ext>
            </a:extLst>
          </p:cNvPr>
          <p:cNvSpPr/>
          <p:nvPr/>
        </p:nvSpPr>
        <p:spPr>
          <a:xfrm>
            <a:off x="2542032" y="6053328"/>
            <a:ext cx="82296" cy="82296"/>
          </a:xfrm>
          <a:prstGeom prst="rect">
            <a:avLst/>
          </a:prstGeom>
          <a:solidFill>
            <a:srgbClr val="392A96"/>
          </a:solidFill>
          <a:ln w="6350">
            <a:solidFill>
              <a:srgbClr val="392A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54">
            <a:extLst>
              <a:ext uri="{FF2B5EF4-FFF2-40B4-BE49-F238E27FC236}">
                <a16:creationId xmlns:a16="http://schemas.microsoft.com/office/drawing/2014/main" id="{7BCDB8C5-8E99-BE70-8785-395362465DE8}"/>
              </a:ext>
            </a:extLst>
          </p:cNvPr>
          <p:cNvSpPr txBox="1"/>
          <p:nvPr/>
        </p:nvSpPr>
        <p:spPr>
          <a:xfrm>
            <a:off x="2761488" y="594360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1120">
                <a:solidFill>
                  <a:srgbClr val="1C1C20"/>
                </a:solidFill>
                <a:latin typeface="Microsoft YaHei" panose="020B0503020204020204" pitchFamily="34" charset="-122"/>
              </a:rPr>
              <a:t>本页将工作内容收束为策略理论：以量化研究为主线，把结构化数据、非结构化信息、行业变量与固收信号，沉淀为可回测、可跟踪、可组合的策略资产。</a:t>
            </a:r>
            <a:endParaRPr lang="en-US" sz="1120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98C8C08-540A-238B-C6BA-65B5B976E3AD}"/>
              </a:ext>
            </a:extLst>
          </p:cNvPr>
          <p:cNvSpPr txBox="1"/>
          <p:nvPr/>
        </p:nvSpPr>
        <p:spPr>
          <a:xfrm>
            <a:off x="714681" y="267419"/>
            <a:ext cx="9083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50" b="1" i="0" u="none" strike="noStrike" kern="0" cap="none" spc="0" normalizeH="0" baseline="0" noProof="0">
                <a:ln>
                  <a:noFill/>
                </a:ln>
                <a:solidFill>
                  <a:srgbClr val="1C1C20"/>
                </a:solidFill>
                <a:effectLst/>
                <a:highlight>
                  <a:srgbClr val="EBE9FF"/>
                </a:highlight>
                <a:uLnTx/>
                <a:uFillTx/>
                <a:latin typeface="Microsoft YaHei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浙商基金：投资模型（量化多策略体系顶层架构）</a:t>
            </a:r>
            <a:endParaRPr kumimoji="0" lang="zh-CN" altLang="en-US" sz="2750" b="1" i="0" u="none" strike="noStrike" kern="1200" cap="none" spc="0" normalizeH="0" baseline="0" noProof="0" dirty="0">
              <a:ln>
                <a:noFill/>
              </a:ln>
              <a:solidFill>
                <a:srgbClr val="1C1C20"/>
              </a:solidFill>
              <a:effectLst/>
              <a:uLnTx/>
              <a:uFillTx/>
              <a:latin typeface="Microsoft YaHei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6461618-8D25-D109-75B2-87FECFB08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0827-A504-4031-B5B4-75733B93EC3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3243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E0149F7-EFE4-B4BC-971B-3A5C187C57D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27114" y="1341120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2463800" y="3886200"/>
            <a:ext cx="4292600" cy="1676400"/>
          </a:xfrm>
          <a:prstGeom prst="rect">
            <a:avLst/>
          </a:prstGeom>
          <a:solidFill>
            <a:srgbClr val="F8F9FD"/>
          </a:solidFill>
          <a:ln w="5080">
            <a:solidFill>
              <a:srgbClr val="ECEE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2463800" y="1320800"/>
            <a:ext cx="9258808" cy="457200"/>
          </a:xfrm>
          <a:prstGeom prst="rect">
            <a:avLst/>
          </a:prstGeom>
          <a:solidFill>
            <a:srgbClr val="EBE9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7302500" y="1917700"/>
            <a:ext cx="4445000" cy="1676400"/>
          </a:xfrm>
          <a:prstGeom prst="rect">
            <a:avLst/>
          </a:prstGeom>
          <a:solidFill>
            <a:srgbClr val="F8F9FD"/>
          </a:solidFill>
          <a:ln w="5080">
            <a:solidFill>
              <a:srgbClr val="ECEE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7302500" y="3886200"/>
            <a:ext cx="4445000" cy="1676400"/>
          </a:xfrm>
          <a:prstGeom prst="rect">
            <a:avLst/>
          </a:prstGeom>
          <a:solidFill>
            <a:srgbClr val="F8F9FD"/>
          </a:solidFill>
          <a:ln w="5080">
            <a:solidFill>
              <a:srgbClr val="ECEE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463800" y="1917700"/>
            <a:ext cx="4292600" cy="1676400"/>
          </a:xfrm>
          <a:prstGeom prst="rect">
            <a:avLst/>
          </a:prstGeom>
          <a:solidFill>
            <a:srgbClr val="F8F9FD"/>
          </a:solidFill>
          <a:ln w="5080">
            <a:solidFill>
              <a:srgbClr val="ECEE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1E6E214-B005-93D5-2E01-93DAA4195E60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71167772"/>
              </p:ext>
            </p:extLst>
          </p:nvPr>
        </p:nvGraphicFramePr>
        <p:xfrm>
          <a:off x="824574" y="2034604"/>
          <a:ext cx="1414346" cy="353040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6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富国基金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西部利得基金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国金基金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673218"/>
                  </a:ext>
                </a:extLst>
              </a:tr>
              <a:tr h="706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博道基金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025990"/>
                  </a:ext>
                </a:extLst>
              </a:tr>
              <a:tr h="706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浙商基金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745640"/>
                  </a:ext>
                </a:extLst>
              </a:tr>
            </a:tbl>
          </a:graphicData>
        </a:graphic>
      </p:graphicFrame>
      <p:sp>
        <p:nvSpPr>
          <p:cNvPr id="7" name="Shape 18">
            <a:extLst>
              <a:ext uri="{FF2B5EF4-FFF2-40B4-BE49-F238E27FC236}">
                <a16:creationId xmlns:a16="http://schemas.microsoft.com/office/drawing/2014/main" id="{869CD617-EFBE-8C1A-3C57-F6234F1AEB64}"/>
              </a:ext>
            </a:extLst>
          </p:cNvPr>
          <p:cNvSpPr/>
          <p:nvPr/>
        </p:nvSpPr>
        <p:spPr>
          <a:xfrm>
            <a:off x="7132320" y="1931997"/>
            <a:ext cx="0" cy="3639312"/>
          </a:xfrm>
          <a:prstGeom prst="line">
            <a:avLst/>
          </a:prstGeom>
          <a:noFill/>
          <a:ln w="25400" cap="flat" cmpd="sng" algn="ctr">
            <a:solidFill>
              <a:srgbClr val="392A96">
                <a:alpha val="9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19">
            <a:extLst>
              <a:ext uri="{FF2B5EF4-FFF2-40B4-BE49-F238E27FC236}">
                <a16:creationId xmlns:a16="http://schemas.microsoft.com/office/drawing/2014/main" id="{5106798E-B42D-7692-162C-43795C7B1798}"/>
              </a:ext>
            </a:extLst>
          </p:cNvPr>
          <p:cNvSpPr/>
          <p:nvPr/>
        </p:nvSpPr>
        <p:spPr>
          <a:xfrm>
            <a:off x="2514600" y="3788229"/>
            <a:ext cx="9372600" cy="0"/>
          </a:xfrm>
          <a:prstGeom prst="line">
            <a:avLst/>
          </a:prstGeom>
          <a:noFill/>
          <a:ln w="25400" cap="flat" cmpd="sng" algn="ctr">
            <a:solidFill>
              <a:srgbClr val="392A96">
                <a:alpha val="9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20">
            <a:extLst>
              <a:ext uri="{FF2B5EF4-FFF2-40B4-BE49-F238E27FC236}">
                <a16:creationId xmlns:a16="http://schemas.microsoft.com/office/drawing/2014/main" id="{B3702E72-56AA-5DCC-4756-019A87652C8D}"/>
              </a:ext>
            </a:extLst>
          </p:cNvPr>
          <p:cNvSpPr/>
          <p:nvPr/>
        </p:nvSpPr>
        <p:spPr>
          <a:xfrm>
            <a:off x="2542032" y="2078301"/>
            <a:ext cx="749808" cy="237744"/>
          </a:xfrm>
          <a:prstGeom prst="rect">
            <a:avLst/>
          </a:prstGeom>
          <a:solidFill>
            <a:srgbClr val="2F2487"/>
          </a:solidFill>
          <a:ln w="6350">
            <a:solidFill>
              <a:srgbClr val="2F248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25">
            <a:extLst>
              <a:ext uri="{FF2B5EF4-FFF2-40B4-BE49-F238E27FC236}">
                <a16:creationId xmlns:a16="http://schemas.microsoft.com/office/drawing/2014/main" id="{87B4BA7C-C30E-4E7E-8E14-29229562CEC5}"/>
              </a:ext>
            </a:extLst>
          </p:cNvPr>
          <p:cNvSpPr/>
          <p:nvPr/>
        </p:nvSpPr>
        <p:spPr>
          <a:xfrm>
            <a:off x="7388352" y="2078301"/>
            <a:ext cx="749808" cy="237744"/>
          </a:xfrm>
          <a:prstGeom prst="rect">
            <a:avLst/>
          </a:prstGeom>
          <a:solidFill>
            <a:srgbClr val="2F2487"/>
          </a:solidFill>
          <a:ln w="6350">
            <a:solidFill>
              <a:srgbClr val="2F248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30">
            <a:extLst>
              <a:ext uri="{FF2B5EF4-FFF2-40B4-BE49-F238E27FC236}">
                <a16:creationId xmlns:a16="http://schemas.microsoft.com/office/drawing/2014/main" id="{05A55AE9-449F-8753-03E3-FA1143CAD596}"/>
              </a:ext>
            </a:extLst>
          </p:cNvPr>
          <p:cNvSpPr/>
          <p:nvPr/>
        </p:nvSpPr>
        <p:spPr>
          <a:xfrm>
            <a:off x="2542032" y="4035117"/>
            <a:ext cx="749808" cy="237744"/>
          </a:xfrm>
          <a:prstGeom prst="rect">
            <a:avLst/>
          </a:prstGeom>
          <a:solidFill>
            <a:srgbClr val="2F2487"/>
          </a:solidFill>
          <a:ln w="6350">
            <a:solidFill>
              <a:srgbClr val="2F248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35">
            <a:extLst>
              <a:ext uri="{FF2B5EF4-FFF2-40B4-BE49-F238E27FC236}">
                <a16:creationId xmlns:a16="http://schemas.microsoft.com/office/drawing/2014/main" id="{1D4DEB62-0007-8E43-A96B-CF69471750DB}"/>
              </a:ext>
            </a:extLst>
          </p:cNvPr>
          <p:cNvSpPr/>
          <p:nvPr/>
        </p:nvSpPr>
        <p:spPr>
          <a:xfrm>
            <a:off x="7388352" y="4035117"/>
            <a:ext cx="749808" cy="237744"/>
          </a:xfrm>
          <a:prstGeom prst="rect">
            <a:avLst/>
          </a:prstGeom>
          <a:solidFill>
            <a:srgbClr val="2F2487"/>
          </a:solidFill>
          <a:ln w="6350">
            <a:solidFill>
              <a:srgbClr val="2F248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17">
            <a:extLst>
              <a:ext uri="{FF2B5EF4-FFF2-40B4-BE49-F238E27FC236}">
                <a16:creationId xmlns:a16="http://schemas.microsoft.com/office/drawing/2014/main" id="{8BB84D2C-FE9F-804D-BE00-0B7CA9EB433B}"/>
              </a:ext>
            </a:extLst>
          </p:cNvPr>
          <p:cNvSpPr txBox="1"/>
          <p:nvPr/>
        </p:nvSpPr>
        <p:spPr>
          <a:xfrm>
            <a:off x="2514600" y="1384226"/>
            <a:ext cx="88502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20" b="1" dirty="0">
                <a:solidFill>
                  <a:srgbClr val="1C1C20"/>
                </a:solidFill>
                <a:latin typeface="Microsoft YaHei" panose="020B0503020204020204" pitchFamily="34" charset="-122"/>
              </a:rPr>
              <a:t>主线：沿“数据获取</a:t>
            </a:r>
            <a:r>
              <a:rPr lang="en-US" altLang="zh-CN" sz="1220" b="1" dirty="0">
                <a:solidFill>
                  <a:srgbClr val="1C1C20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220" b="1" dirty="0">
                <a:solidFill>
                  <a:srgbClr val="1C1C20"/>
                </a:solidFill>
                <a:latin typeface="Microsoft YaHei" panose="020B0503020204020204" pitchFamily="34" charset="-122"/>
              </a:rPr>
              <a:t>因子表达</a:t>
            </a:r>
            <a:r>
              <a:rPr lang="en-US" altLang="zh-CN" sz="1220" b="1" dirty="0">
                <a:solidFill>
                  <a:srgbClr val="1C1C20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220" b="1" dirty="0">
                <a:solidFill>
                  <a:srgbClr val="1C1C20"/>
                </a:solidFill>
                <a:latin typeface="Microsoft YaHei" panose="020B0503020204020204" pitchFamily="34" charset="-122"/>
              </a:rPr>
              <a:t>模型预测</a:t>
            </a:r>
            <a:r>
              <a:rPr lang="en-US" altLang="zh-CN" sz="1220" b="1" dirty="0">
                <a:solidFill>
                  <a:srgbClr val="1C1C20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220" b="1" dirty="0">
                <a:solidFill>
                  <a:srgbClr val="1C1C20"/>
                </a:solidFill>
                <a:latin typeface="Microsoft YaHei" panose="020B0503020204020204" pitchFamily="34" charset="-122"/>
              </a:rPr>
              <a:t>组合权重”四层递进，减少述职式罗列，突出策略理论、验证框架与可落地研究资产</a:t>
            </a:r>
            <a:endParaRPr lang="en-US" sz="1220" b="1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Text 21">
            <a:extLst>
              <a:ext uri="{FF2B5EF4-FFF2-40B4-BE49-F238E27FC236}">
                <a16:creationId xmlns:a16="http://schemas.microsoft.com/office/drawing/2014/main" id="{C91A2E17-8024-998A-47D0-EE854F63C7D8}"/>
              </a:ext>
            </a:extLst>
          </p:cNvPr>
          <p:cNvSpPr txBox="1"/>
          <p:nvPr/>
        </p:nvSpPr>
        <p:spPr>
          <a:xfrm>
            <a:off x="2542032" y="2101161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050" b="1" dirty="0" err="1">
                <a:solidFill>
                  <a:srgbClr val="FFFFFF"/>
                </a:solidFill>
                <a:latin typeface="Microsoft YaHei" panose="020B0503020204020204" pitchFamily="34" charset="-122"/>
              </a:rPr>
              <a:t>数据层</a:t>
            </a:r>
            <a:endParaRPr lang="en-US" sz="1050" b="1" dirty="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Text 22">
            <a:extLst>
              <a:ext uri="{FF2B5EF4-FFF2-40B4-BE49-F238E27FC236}">
                <a16:creationId xmlns:a16="http://schemas.microsoft.com/office/drawing/2014/main" id="{7FCD99FC-2549-0D5F-9BD1-D2CA3AA91B4A}"/>
              </a:ext>
            </a:extLst>
          </p:cNvPr>
          <p:cNvSpPr txBox="1"/>
          <p:nvPr/>
        </p:nvSpPr>
        <p:spPr>
          <a:xfrm>
            <a:off x="3410712" y="2069157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170" b="1">
                <a:solidFill>
                  <a:srgbClr val="1C1C20"/>
                </a:solidFill>
                <a:latin typeface="Microsoft YaHei" panose="020B0503020204020204" pitchFamily="34" charset="-122"/>
              </a:rPr>
              <a:t>结构化数据 + 非结构化信息 → 策略信号原料</a:t>
            </a:r>
            <a:endParaRPr lang="en-US" sz="1170" b="1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Text 23">
            <a:extLst>
              <a:ext uri="{FF2B5EF4-FFF2-40B4-BE49-F238E27FC236}">
                <a16:creationId xmlns:a16="http://schemas.microsoft.com/office/drawing/2014/main" id="{20C201E9-9C3D-89A5-6147-445F15F7639A}"/>
              </a:ext>
            </a:extLst>
          </p:cNvPr>
          <p:cNvSpPr txBox="1"/>
          <p:nvPr/>
        </p:nvSpPr>
        <p:spPr>
          <a:xfrm>
            <a:off x="2542032" y="2389197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000" b="1">
                <a:solidFill>
                  <a:srgbClr val="1C1C20"/>
                </a:solidFill>
                <a:latin typeface="Microsoft YaHei" panose="020B0503020204020204" pitchFamily="34" charset="-122"/>
              </a:rPr>
              <a:t>目标：将研究信息转化为可追踪、可标注、可回测的数据资产</a:t>
            </a:r>
            <a:endParaRPr lang="en-US" sz="1000" b="1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Text 24">
            <a:extLst>
              <a:ext uri="{FF2B5EF4-FFF2-40B4-BE49-F238E27FC236}">
                <a16:creationId xmlns:a16="http://schemas.microsoft.com/office/drawing/2014/main" id="{C00188C2-A35D-CAAB-657D-BC310A8F533A}"/>
              </a:ext>
            </a:extLst>
          </p:cNvPr>
          <p:cNvSpPr txBox="1"/>
          <p:nvPr/>
        </p:nvSpPr>
        <p:spPr>
          <a:xfrm>
            <a:off x="2542032" y="2681805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900" dirty="0">
                <a:solidFill>
                  <a:srgbClr val="1C1C20"/>
                </a:solidFill>
                <a:latin typeface="Microsoft YaHei" panose="020B0503020204020204" pitchFamily="34" charset="-122"/>
              </a:rPr>
              <a:t>数据层是策略研究的起点，负责把分散信息标准化为可建模变量。结构化数据涵盖行情、成交、财务、估值、行业暴露、转债条款、利率曲线和信用利差；非结构化信息涵盖公告、新闻、业绩会、研报摘要、舆情、临床试验、</a:t>
            </a:r>
            <a:r>
              <a:rPr lang="en-US" altLang="zh-CN" sz="900" dirty="0">
                <a:solidFill>
                  <a:srgbClr val="1C1C20"/>
                </a:solidFill>
                <a:latin typeface="Microsoft YaHei" panose="020B0503020204020204" pitchFamily="34" charset="-122"/>
              </a:rPr>
              <a:t>SEC</a:t>
            </a:r>
            <a:r>
              <a:rPr lang="zh-CN" altLang="en-US" sz="900" dirty="0">
                <a:solidFill>
                  <a:srgbClr val="1C1C20"/>
                </a:solidFill>
                <a:latin typeface="Microsoft YaHei" panose="020B0503020204020204" pitchFamily="34" charset="-122"/>
              </a:rPr>
              <a:t>文件和产业高频信息。主动研究的量化价值，主要体现在将</a:t>
            </a:r>
            <a:r>
              <a:rPr lang="en-US" altLang="zh-CN" sz="900" dirty="0">
                <a:solidFill>
                  <a:srgbClr val="1C1C20"/>
                </a:solidFill>
                <a:latin typeface="Microsoft YaHei" panose="020B0503020204020204" pitchFamily="34" charset="-122"/>
              </a:rPr>
              <a:t>Capex</a:t>
            </a:r>
            <a:r>
              <a:rPr lang="zh-CN" altLang="en-US" sz="900" dirty="0">
                <a:solidFill>
                  <a:srgbClr val="1C1C20"/>
                </a:solidFill>
                <a:latin typeface="Microsoft YaHei" panose="020B0503020204020204" pitchFamily="34" charset="-122"/>
              </a:rPr>
              <a:t>、排产率、库存、价格、订单、</a:t>
            </a:r>
            <a:r>
              <a:rPr lang="en-US" altLang="zh-CN" sz="900" dirty="0" err="1">
                <a:solidFill>
                  <a:srgbClr val="1C1C20"/>
                </a:solidFill>
                <a:latin typeface="Microsoft YaHei" panose="020B0503020204020204" pitchFamily="34" charset="-122"/>
              </a:rPr>
              <a:t>rNPV</a:t>
            </a:r>
            <a:r>
              <a:rPr lang="zh-CN" altLang="en-US" sz="900" dirty="0">
                <a:solidFill>
                  <a:srgbClr val="1C1C20"/>
                </a:solidFill>
                <a:latin typeface="Microsoft YaHei" panose="020B0503020204020204" pitchFamily="34" charset="-122"/>
              </a:rPr>
              <a:t>参数和事件标签等行业逻辑转为可观测变量。</a:t>
            </a:r>
            <a:endParaRPr lang="en-US" sz="900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Text 26">
            <a:extLst>
              <a:ext uri="{FF2B5EF4-FFF2-40B4-BE49-F238E27FC236}">
                <a16:creationId xmlns:a16="http://schemas.microsoft.com/office/drawing/2014/main" id="{82B0A7E2-437D-513C-297C-A4C777576B88}"/>
              </a:ext>
            </a:extLst>
          </p:cNvPr>
          <p:cNvSpPr txBox="1"/>
          <p:nvPr/>
        </p:nvSpPr>
        <p:spPr>
          <a:xfrm>
            <a:off x="7388352" y="2101161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050" b="1" dirty="0" err="1">
                <a:solidFill>
                  <a:srgbClr val="FFFFFF"/>
                </a:solidFill>
                <a:latin typeface="Microsoft YaHei" panose="020B0503020204020204" pitchFamily="34" charset="-122"/>
              </a:rPr>
              <a:t>因子层</a:t>
            </a:r>
            <a:endParaRPr lang="en-US" sz="1050" b="1" dirty="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Text 27">
            <a:extLst>
              <a:ext uri="{FF2B5EF4-FFF2-40B4-BE49-F238E27FC236}">
                <a16:creationId xmlns:a16="http://schemas.microsoft.com/office/drawing/2014/main" id="{702FF895-A82A-C2B1-24A1-AFFB67347DED}"/>
              </a:ext>
            </a:extLst>
          </p:cNvPr>
          <p:cNvSpPr txBox="1"/>
          <p:nvPr/>
        </p:nvSpPr>
        <p:spPr>
          <a:xfrm>
            <a:off x="8257032" y="2069157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170" b="1">
                <a:solidFill>
                  <a:srgbClr val="1C1C20"/>
                </a:solidFill>
                <a:latin typeface="Microsoft YaHei" panose="020B0503020204020204" pitchFamily="34" charset="-122"/>
              </a:rPr>
              <a:t>传统因子 + 事件因子 + 文本因子 → 可检验Alpha</a:t>
            </a:r>
            <a:endParaRPr lang="en-US" sz="1170" b="1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Text 28">
            <a:extLst>
              <a:ext uri="{FF2B5EF4-FFF2-40B4-BE49-F238E27FC236}">
                <a16:creationId xmlns:a16="http://schemas.microsoft.com/office/drawing/2014/main" id="{8825096E-7882-DF7E-2110-A10800548EF0}"/>
              </a:ext>
            </a:extLst>
          </p:cNvPr>
          <p:cNvSpPr txBox="1"/>
          <p:nvPr/>
        </p:nvSpPr>
        <p:spPr>
          <a:xfrm>
            <a:off x="7388352" y="2389197"/>
            <a:ext cx="4224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000" b="1">
                <a:solidFill>
                  <a:srgbClr val="1C1C20"/>
                </a:solidFill>
                <a:latin typeface="Microsoft YaHei" panose="020B0503020204020204" pitchFamily="34" charset="-122"/>
              </a:rPr>
              <a:t>目标：用统一评价体系识别信号的增量信息</a:t>
            </a:r>
            <a:endParaRPr lang="en-US" sz="1000" b="1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Text 29">
            <a:extLst>
              <a:ext uri="{FF2B5EF4-FFF2-40B4-BE49-F238E27FC236}">
                <a16:creationId xmlns:a16="http://schemas.microsoft.com/office/drawing/2014/main" id="{D81AB1AD-E211-C576-EAFB-1440E24963DE}"/>
              </a:ext>
            </a:extLst>
          </p:cNvPr>
          <p:cNvSpPr txBox="1"/>
          <p:nvPr/>
        </p:nvSpPr>
        <p:spPr>
          <a:xfrm>
            <a:off x="7388352" y="2681805"/>
            <a:ext cx="42245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900">
                <a:solidFill>
                  <a:srgbClr val="1C1C20"/>
                </a:solidFill>
                <a:latin typeface="Microsoft YaHei" panose="020B0503020204020204" pitchFamily="34" charset="-122"/>
              </a:rPr>
              <a:t>因子层回答“哪些信息能解释未来收益”。传统因子关注价值、成长、动量、质量、低波、红利和流动性；事件因子刻画财报、业绩预告、强赎、临床进展、订单变化等冲击；文本因子把公告、新闻、纪要和舆情转化为情绪、主题、方向和强度。所有因子都需经过</a:t>
            </a:r>
            <a:r>
              <a:rPr lang="en-US" altLang="zh-CN" sz="900">
                <a:solidFill>
                  <a:srgbClr val="1C1C20"/>
                </a:solidFill>
                <a:latin typeface="Microsoft YaHei" panose="020B0503020204020204" pitchFamily="34" charset="-122"/>
              </a:rPr>
              <a:t>RankIC</a:t>
            </a:r>
            <a:r>
              <a:rPr lang="zh-CN" altLang="en-US" sz="900">
                <a:solidFill>
                  <a:srgbClr val="1C1C2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00">
                <a:solidFill>
                  <a:srgbClr val="1C1C20"/>
                </a:solidFill>
                <a:latin typeface="Microsoft YaHei" panose="020B0503020204020204" pitchFamily="34" charset="-122"/>
              </a:rPr>
              <a:t>ICIR</a:t>
            </a:r>
            <a:r>
              <a:rPr lang="zh-CN" altLang="en-US" sz="900">
                <a:solidFill>
                  <a:srgbClr val="1C1C20"/>
                </a:solidFill>
                <a:latin typeface="Microsoft YaHei" panose="020B0503020204020204" pitchFamily="34" charset="-122"/>
              </a:rPr>
              <a:t>、分组收益、衰减速度、换手、回撤和样本外表现检验。</a:t>
            </a:r>
            <a:endParaRPr lang="en-US" sz="900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Text 31">
            <a:extLst>
              <a:ext uri="{FF2B5EF4-FFF2-40B4-BE49-F238E27FC236}">
                <a16:creationId xmlns:a16="http://schemas.microsoft.com/office/drawing/2014/main" id="{1531A24F-731C-DDD9-8391-A154BEA688F0}"/>
              </a:ext>
            </a:extLst>
          </p:cNvPr>
          <p:cNvSpPr txBox="1"/>
          <p:nvPr/>
        </p:nvSpPr>
        <p:spPr>
          <a:xfrm>
            <a:off x="2542032" y="4057977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050" b="1" dirty="0" err="1">
                <a:solidFill>
                  <a:srgbClr val="FFFFFF"/>
                </a:solidFill>
                <a:latin typeface="Microsoft YaHei" panose="020B0503020204020204" pitchFamily="34" charset="-122"/>
              </a:rPr>
              <a:t>模型层</a:t>
            </a:r>
            <a:endParaRPr lang="en-US" sz="1050" b="1" dirty="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Text 32">
            <a:extLst>
              <a:ext uri="{FF2B5EF4-FFF2-40B4-BE49-F238E27FC236}">
                <a16:creationId xmlns:a16="http://schemas.microsoft.com/office/drawing/2014/main" id="{51350EBF-E0EF-DA8D-6606-83D271797D34}"/>
              </a:ext>
            </a:extLst>
          </p:cNvPr>
          <p:cNvSpPr txBox="1"/>
          <p:nvPr/>
        </p:nvSpPr>
        <p:spPr>
          <a:xfrm>
            <a:off x="3410712" y="4025973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170" b="1">
                <a:solidFill>
                  <a:srgbClr val="1C1C20"/>
                </a:solidFill>
                <a:latin typeface="Microsoft YaHei" panose="020B0503020204020204" pitchFamily="34" charset="-122"/>
              </a:rPr>
              <a:t>端到端/事件驱动/LLM模型 → 信号表达升级</a:t>
            </a:r>
            <a:endParaRPr lang="en-US" sz="1170" b="1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Text 33">
            <a:extLst>
              <a:ext uri="{FF2B5EF4-FFF2-40B4-BE49-F238E27FC236}">
                <a16:creationId xmlns:a16="http://schemas.microsoft.com/office/drawing/2014/main" id="{D7FE8CE7-DF90-9FE7-1B00-35D789CB7D65}"/>
              </a:ext>
            </a:extLst>
          </p:cNvPr>
          <p:cNvSpPr txBox="1"/>
          <p:nvPr/>
        </p:nvSpPr>
        <p:spPr>
          <a:xfrm>
            <a:off x="2542032" y="4346013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000" b="1">
                <a:solidFill>
                  <a:srgbClr val="1C1C20"/>
                </a:solidFill>
                <a:latin typeface="Microsoft YaHei" panose="020B0503020204020204" pitchFamily="34" charset="-122"/>
              </a:rPr>
              <a:t>目标：从人工因子组合走向表征学习与条件建模</a:t>
            </a:r>
            <a:endParaRPr lang="en-US" sz="1000" b="1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Text 34">
            <a:extLst>
              <a:ext uri="{FF2B5EF4-FFF2-40B4-BE49-F238E27FC236}">
                <a16:creationId xmlns:a16="http://schemas.microsoft.com/office/drawing/2014/main" id="{62E8A612-D629-07C6-3351-B9382334C983}"/>
              </a:ext>
            </a:extLst>
          </p:cNvPr>
          <p:cNvSpPr txBox="1"/>
          <p:nvPr/>
        </p:nvSpPr>
        <p:spPr>
          <a:xfrm>
            <a:off x="2542032" y="4638621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900" dirty="0">
                <a:solidFill>
                  <a:srgbClr val="1C1C20"/>
                </a:solidFill>
                <a:latin typeface="Microsoft YaHei" panose="020B0503020204020204" pitchFamily="34" charset="-122"/>
              </a:rPr>
              <a:t>模型层是量化研究的核心，负责把因子和数据组织成更强的预测信号。端到端模型通过深度学习自动学习非线性表征，降低对人工特征组合的依赖；财报事件驱动模型引入事件时间、事件类型和</a:t>
            </a:r>
            <a:r>
              <a:rPr lang="en-US" altLang="zh-CN" sz="900" dirty="0">
                <a:solidFill>
                  <a:srgbClr val="1C1C20"/>
                </a:solidFill>
                <a:latin typeface="Microsoft YaHei" panose="020B0503020204020204" pitchFamily="34" charset="-122"/>
              </a:rPr>
              <a:t>Cross-Attention</a:t>
            </a:r>
            <a:r>
              <a:rPr lang="zh-CN" altLang="en-US" sz="900" dirty="0">
                <a:solidFill>
                  <a:srgbClr val="1C1C20"/>
                </a:solidFill>
                <a:latin typeface="Microsoft YaHei" panose="020B0503020204020204" pitchFamily="34" charset="-122"/>
              </a:rPr>
              <a:t>，使市场特征在不同事件条件下重新定价；</a:t>
            </a:r>
            <a:r>
              <a:rPr lang="en-US" altLang="zh-CN" sz="900" dirty="0">
                <a:solidFill>
                  <a:srgbClr val="1C1C20"/>
                </a:solidFill>
                <a:latin typeface="Microsoft YaHei" panose="020B0503020204020204" pitchFamily="34" charset="-122"/>
              </a:rPr>
              <a:t>LLM/</a:t>
            </a:r>
            <a:r>
              <a:rPr lang="en-US" altLang="zh-CN" sz="900" dirty="0" err="1">
                <a:solidFill>
                  <a:srgbClr val="1C1C20"/>
                </a:solidFill>
                <a:latin typeface="Microsoft YaHei" panose="020B0503020204020204" pitchFamily="34" charset="-122"/>
              </a:rPr>
              <a:t>FinBERT</a:t>
            </a:r>
            <a:r>
              <a:rPr lang="en-US" altLang="zh-CN" sz="900" dirty="0">
                <a:solidFill>
                  <a:srgbClr val="1C1C20"/>
                </a:solidFill>
                <a:latin typeface="Microsoft YaHei" panose="020B0503020204020204" pitchFamily="34" charset="-122"/>
              </a:rPr>
              <a:t>/Agent</a:t>
            </a:r>
            <a:r>
              <a:rPr lang="zh-CN" altLang="en-US" sz="900" dirty="0">
                <a:solidFill>
                  <a:srgbClr val="1C1C20"/>
                </a:solidFill>
                <a:latin typeface="Microsoft YaHei" panose="020B0503020204020204" pitchFamily="34" charset="-122"/>
              </a:rPr>
              <a:t>从非结构化文本中抽取情绪、主题和事件标签。模型输出既是单票分数，也要服务组合层的权重控制。</a:t>
            </a:r>
            <a:endParaRPr lang="en-US" sz="900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Text 36">
            <a:extLst>
              <a:ext uri="{FF2B5EF4-FFF2-40B4-BE49-F238E27FC236}">
                <a16:creationId xmlns:a16="http://schemas.microsoft.com/office/drawing/2014/main" id="{B12E4401-E44F-C8B7-F19D-55F242DBC0BC}"/>
              </a:ext>
            </a:extLst>
          </p:cNvPr>
          <p:cNvSpPr txBox="1"/>
          <p:nvPr/>
        </p:nvSpPr>
        <p:spPr>
          <a:xfrm>
            <a:off x="7388352" y="4057977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050" b="1" dirty="0" err="1">
                <a:solidFill>
                  <a:srgbClr val="FFFFFF"/>
                </a:solidFill>
                <a:latin typeface="Microsoft YaHei" panose="020B0503020204020204" pitchFamily="34" charset="-122"/>
              </a:rPr>
              <a:t>组合层</a:t>
            </a:r>
            <a:endParaRPr lang="en-US" sz="1050" b="1" dirty="0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Text 37">
            <a:extLst>
              <a:ext uri="{FF2B5EF4-FFF2-40B4-BE49-F238E27FC236}">
                <a16:creationId xmlns:a16="http://schemas.microsoft.com/office/drawing/2014/main" id="{8BA03E70-5FF0-01A6-2333-298847B08644}"/>
              </a:ext>
            </a:extLst>
          </p:cNvPr>
          <p:cNvSpPr txBox="1"/>
          <p:nvPr/>
        </p:nvSpPr>
        <p:spPr>
          <a:xfrm>
            <a:off x="8257032" y="4025973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170" b="1">
                <a:solidFill>
                  <a:srgbClr val="1C1C20"/>
                </a:solidFill>
                <a:latin typeface="Microsoft YaHei" panose="020B0503020204020204" pitchFamily="34" charset="-122"/>
              </a:rPr>
              <a:t>动态权重 + 风险约束 + 交易成本 → 策略落地</a:t>
            </a:r>
            <a:endParaRPr lang="en-US" sz="1170" b="1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Text 38">
            <a:extLst>
              <a:ext uri="{FF2B5EF4-FFF2-40B4-BE49-F238E27FC236}">
                <a16:creationId xmlns:a16="http://schemas.microsoft.com/office/drawing/2014/main" id="{E652544B-E64C-9CC2-851F-DD4D9B18CA0B}"/>
              </a:ext>
            </a:extLst>
          </p:cNvPr>
          <p:cNvSpPr txBox="1"/>
          <p:nvPr/>
        </p:nvSpPr>
        <p:spPr>
          <a:xfrm>
            <a:off x="7388352" y="4346013"/>
            <a:ext cx="42245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000" b="1">
                <a:solidFill>
                  <a:srgbClr val="1C1C20"/>
                </a:solidFill>
                <a:latin typeface="Microsoft YaHei" panose="020B0503020204020204" pitchFamily="34" charset="-122"/>
              </a:rPr>
              <a:t>目标：把预测信号转化为组合收益、回撤和稳定性目标</a:t>
            </a:r>
            <a:endParaRPr lang="en-US" sz="1000" b="1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Text 39">
            <a:extLst>
              <a:ext uri="{FF2B5EF4-FFF2-40B4-BE49-F238E27FC236}">
                <a16:creationId xmlns:a16="http://schemas.microsoft.com/office/drawing/2014/main" id="{F91E7CFD-E757-0D06-9E19-643C43599F75}"/>
              </a:ext>
            </a:extLst>
          </p:cNvPr>
          <p:cNvSpPr txBox="1"/>
          <p:nvPr/>
        </p:nvSpPr>
        <p:spPr>
          <a:xfrm>
            <a:off x="7388352" y="4638621"/>
            <a:ext cx="42245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900" dirty="0">
                <a:solidFill>
                  <a:srgbClr val="1C1C20"/>
                </a:solidFill>
                <a:latin typeface="Microsoft YaHei" panose="020B0503020204020204" pitchFamily="34" charset="-122"/>
              </a:rPr>
              <a:t>组合层回答“信号如何变成仓位”。传统多因子框架可用</a:t>
            </a:r>
            <a:r>
              <a:rPr lang="en-US" altLang="zh-CN" sz="900" dirty="0">
                <a:solidFill>
                  <a:srgbClr val="1C1C20"/>
                </a:solidFill>
                <a:latin typeface="Microsoft YaHei" panose="020B0503020204020204" pitchFamily="34" charset="-122"/>
              </a:rPr>
              <a:t>ICIR</a:t>
            </a:r>
            <a:r>
              <a:rPr lang="zh-CN" altLang="en-US" sz="900" dirty="0">
                <a:solidFill>
                  <a:srgbClr val="1C1C20"/>
                </a:solidFill>
                <a:latin typeface="Microsoft YaHei" panose="020B0503020204020204" pitchFamily="34" charset="-122"/>
              </a:rPr>
              <a:t>、风险预算、行业</a:t>
            </a:r>
            <a:r>
              <a:rPr lang="en-US" altLang="zh-CN" sz="900" dirty="0">
                <a:solidFill>
                  <a:srgbClr val="1C1C20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900" dirty="0">
                <a:solidFill>
                  <a:srgbClr val="1C1C20"/>
                </a:solidFill>
                <a:latin typeface="Microsoft YaHei" panose="020B0503020204020204" pitchFamily="34" charset="-122"/>
              </a:rPr>
              <a:t>风格暴露约束和交易成本约束确定权重；强化学习框架可将因子暴露、波动率、流动性、市场状态和行业状态作为状态变量，将仓位或权重作为动作，并把超额收益、回撤、换手和成本纳入奖励函数。最终评价应从单因子有效性，上升到组合收益、夏普、回撤和稳定性的综合目标。</a:t>
            </a:r>
            <a:endParaRPr lang="en-US" sz="900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Shape 40">
            <a:extLst>
              <a:ext uri="{FF2B5EF4-FFF2-40B4-BE49-F238E27FC236}">
                <a16:creationId xmlns:a16="http://schemas.microsoft.com/office/drawing/2014/main" id="{9F0A33D8-47E1-02EB-CD82-E49675FD75EE}"/>
              </a:ext>
            </a:extLst>
          </p:cNvPr>
          <p:cNvSpPr/>
          <p:nvPr/>
        </p:nvSpPr>
        <p:spPr>
          <a:xfrm>
            <a:off x="2542032" y="6053328"/>
            <a:ext cx="82296" cy="82296"/>
          </a:xfrm>
          <a:prstGeom prst="rect">
            <a:avLst/>
          </a:prstGeom>
          <a:solidFill>
            <a:srgbClr val="392A96"/>
          </a:solidFill>
          <a:ln w="6350">
            <a:solidFill>
              <a:srgbClr val="392A9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41">
            <a:extLst>
              <a:ext uri="{FF2B5EF4-FFF2-40B4-BE49-F238E27FC236}">
                <a16:creationId xmlns:a16="http://schemas.microsoft.com/office/drawing/2014/main" id="{E4CC8287-D476-2E88-1575-080C99942122}"/>
              </a:ext>
            </a:extLst>
          </p:cNvPr>
          <p:cNvSpPr txBox="1"/>
          <p:nvPr/>
        </p:nvSpPr>
        <p:spPr>
          <a:xfrm>
            <a:off x="2761488" y="594360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1120">
                <a:solidFill>
                  <a:srgbClr val="1C1C20"/>
                </a:solidFill>
                <a:latin typeface="Microsoft YaHei" panose="020B0503020204020204" pitchFamily="34" charset="-122"/>
              </a:rPr>
              <a:t>落地目标：以量化研究为主体，主动研究提供可量化的行业变量与事件标签，固收量化提供多场景策略信号，最终沉淀为“数据池</a:t>
            </a:r>
            <a:r>
              <a:rPr lang="en-US" altLang="zh-CN" sz="1120">
                <a:solidFill>
                  <a:srgbClr val="1C1C20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120">
                <a:solidFill>
                  <a:srgbClr val="1C1C20"/>
                </a:solidFill>
                <a:latin typeface="Microsoft YaHei" panose="020B0503020204020204" pitchFamily="34" charset="-122"/>
              </a:rPr>
              <a:t>因子库</a:t>
            </a:r>
            <a:r>
              <a:rPr lang="en-US" altLang="zh-CN" sz="1120">
                <a:solidFill>
                  <a:srgbClr val="1C1C20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120">
                <a:solidFill>
                  <a:srgbClr val="1C1C20"/>
                </a:solidFill>
                <a:latin typeface="Microsoft YaHei" panose="020B0503020204020204" pitchFamily="34" charset="-122"/>
              </a:rPr>
              <a:t>模型库</a:t>
            </a:r>
            <a:r>
              <a:rPr lang="en-US" altLang="zh-CN" sz="1120">
                <a:solidFill>
                  <a:srgbClr val="1C1C20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120">
                <a:solidFill>
                  <a:srgbClr val="1C1C20"/>
                </a:solidFill>
                <a:latin typeface="Microsoft YaHei" panose="020B0503020204020204" pitchFamily="34" charset="-122"/>
              </a:rPr>
              <a:t>策略池</a:t>
            </a:r>
            <a:r>
              <a:rPr lang="en-US" altLang="zh-CN" sz="1120">
                <a:solidFill>
                  <a:srgbClr val="1C1C20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120">
                <a:solidFill>
                  <a:srgbClr val="1C1C20"/>
                </a:solidFill>
                <a:latin typeface="Microsoft YaHei" panose="020B0503020204020204" pitchFamily="34" charset="-122"/>
              </a:rPr>
              <a:t>组合应用”的投研策略资产。</a:t>
            </a:r>
            <a:endParaRPr lang="en-US" sz="1120" dirty="0">
              <a:solidFill>
                <a:srgbClr val="1C1C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98C8C08-540A-238B-C6BA-65B5B976E3AD}"/>
              </a:ext>
            </a:extLst>
          </p:cNvPr>
          <p:cNvSpPr txBox="1"/>
          <p:nvPr/>
        </p:nvSpPr>
        <p:spPr>
          <a:xfrm>
            <a:off x="714681" y="267419"/>
            <a:ext cx="9083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50" b="1" i="0" u="none" strike="noStrike" kern="0" cap="none" spc="0" normalizeH="0" baseline="0" noProof="0" dirty="0">
                <a:ln>
                  <a:noFill/>
                </a:ln>
                <a:solidFill>
                  <a:srgbClr val="1C1C20"/>
                </a:solidFill>
                <a:effectLst/>
                <a:highlight>
                  <a:srgbClr val="EBE9FF"/>
                </a:highlight>
                <a:uLnTx/>
                <a:uFillTx/>
                <a:latin typeface="Microsoft YaHei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浙商基金：研究部策略理论框架（量化主线与落地路径）</a:t>
            </a:r>
            <a:endParaRPr kumimoji="0" lang="zh-CN" altLang="en-US" sz="2750" b="1" i="0" u="none" strike="noStrike" kern="1200" cap="none" spc="0" normalizeH="0" baseline="0" noProof="0" dirty="0">
              <a:ln>
                <a:noFill/>
              </a:ln>
              <a:solidFill>
                <a:srgbClr val="1C1C20"/>
              </a:solidFill>
              <a:effectLst/>
              <a:uLnTx/>
              <a:uFillTx/>
              <a:latin typeface="Microsoft YaHei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6461618-8D25-D109-75B2-87FECFB08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0827-A504-4031-B5B4-75733B93EC3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6613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3691106C-62CC-15FD-69B0-3E3AC200DA85}"/>
              </a:ext>
            </a:extLst>
          </p:cNvPr>
          <p:cNvSpPr/>
          <p:nvPr/>
        </p:nvSpPr>
        <p:spPr>
          <a:xfrm>
            <a:off x="714680" y="299813"/>
            <a:ext cx="5590869" cy="457200"/>
          </a:xfrm>
          <a:prstGeom prst="rect">
            <a:avLst/>
          </a:prstGeom>
          <a:solidFill>
            <a:srgbClr val="EBE9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6461618-8D25-D109-75B2-87FECFB08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0827-A504-4031-B5B4-75733B93EC3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98C8C08-540A-238B-C6BA-65B5B976E3AD}"/>
              </a:ext>
            </a:extLst>
          </p:cNvPr>
          <p:cNvSpPr txBox="1"/>
          <p:nvPr/>
        </p:nvSpPr>
        <p:spPr>
          <a:xfrm>
            <a:off x="714681" y="267419"/>
            <a:ext cx="9083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浙商基金：经验逻辑与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AI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双驱架构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0149F7-EFE4-B4BC-971B-3A5C187C57D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27114" y="1341120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1E6E214-B005-93D5-2E01-93DAA4195E60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34604"/>
          <a:ext cx="1414346" cy="353040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6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富国基金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西部利得基金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国金基金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673218"/>
                  </a:ext>
                </a:extLst>
              </a:tr>
              <a:tr h="706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博道基金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025990"/>
                  </a:ext>
                </a:extLst>
              </a:tr>
              <a:tr h="706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浙商基金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745640"/>
                  </a:ext>
                </a:extLst>
              </a:tr>
            </a:tbl>
          </a:graphicData>
        </a:graphic>
      </p:graphicFrame>
      <p:sp>
        <p:nvSpPr>
          <p:cNvPr id="5" name="AutoShape 4">
            <a:extLst>
              <a:ext uri="{FF2B5EF4-FFF2-40B4-BE49-F238E27FC236}">
                <a16:creationId xmlns:a16="http://schemas.microsoft.com/office/drawing/2014/main" id="{EE043DA0-705F-B7EF-EB19-3D737C2A12C4}"/>
              </a:ext>
            </a:extLst>
          </p:cNvPr>
          <p:cNvSpPr/>
          <p:nvPr/>
        </p:nvSpPr>
        <p:spPr>
          <a:xfrm>
            <a:off x="4978400" y="1146175"/>
            <a:ext cx="4000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sz="1600" b="1">
                <a:latin typeface="微软雅黑"/>
              </a:rPr>
              <a:t>量化投资双引擎驱动模型架构解析</a:t>
            </a:r>
            <a:endParaRPr lang="en-US" sz="1600" b="1" dirty="0"/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5ED25C88-7C75-C7B4-7560-849112E186BE}"/>
              </a:ext>
            </a:extLst>
          </p:cNvPr>
          <p:cNvSpPr/>
          <p:nvPr/>
        </p:nvSpPr>
        <p:spPr>
          <a:xfrm>
            <a:off x="2892425" y="1837873"/>
            <a:ext cx="3203575" cy="203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sz="1200" b="1">
                <a:latin typeface="微软雅黑"/>
              </a:rPr>
              <a:t>01 逻辑驱动：经验规则的量化沉淀</a:t>
            </a:r>
            <a:endParaRPr lang="en-US" sz="1100" dirty="0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1949C861-23CB-3144-73A4-935A26BAB4BD}"/>
              </a:ext>
            </a:extLst>
          </p:cNvPr>
          <p:cNvSpPr/>
          <p:nvPr/>
        </p:nvSpPr>
        <p:spPr>
          <a:xfrm>
            <a:off x="2286000" y="2144487"/>
            <a:ext cx="46863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33333"/>
              </a:lnSpc>
              <a:defRPr/>
            </a:pPr>
            <a:r>
              <a:rPr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权益侧将</a:t>
            </a:r>
            <a:r>
              <a:rPr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价值、成长、动量、质量、低波等经典投资理念转化为可检验的Alpha因子，构建财务、量价与事件因子库；固收侧则将久期、期限利差、信用利差、转债估值、条款触发与成交活跃度等经验逻辑，转化为利率择时、信用择券、二永轮动和转债增强信号。其优势是逻辑透明、便于归因，适合作为组合的稳健底座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9">
            <a:extLst>
              <a:ext uri="{FF2B5EF4-FFF2-40B4-BE49-F238E27FC236}">
                <a16:creationId xmlns:a16="http://schemas.microsoft.com/office/drawing/2014/main" id="{BF8F4981-2AE6-9929-76CA-E897445E92DF}"/>
              </a:ext>
            </a:extLst>
          </p:cNvPr>
          <p:cNvSpPr/>
          <p:nvPr/>
        </p:nvSpPr>
        <p:spPr>
          <a:xfrm>
            <a:off x="7099300" y="1651000"/>
            <a:ext cx="76200" cy="3784600"/>
          </a:xfrm>
          <a:prstGeom prst="roundRect">
            <a:avLst>
              <a:gd name="adj" fmla="val 0"/>
            </a:avLst>
          </a:prstGeom>
          <a:solidFill>
            <a:srgbClr val="392A9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E9D96507-8F6D-A9A6-DCD5-1C40E5EBB9A3}"/>
              </a:ext>
            </a:extLst>
          </p:cNvPr>
          <p:cNvSpPr/>
          <p:nvPr/>
        </p:nvSpPr>
        <p:spPr>
          <a:xfrm>
            <a:off x="8077200" y="1778000"/>
            <a:ext cx="3035300" cy="2413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sz="1200" b="1">
                <a:latin typeface="微软雅黑"/>
              </a:rPr>
              <a:t>02 机器驱动：数据智能的深度挖掘</a:t>
            </a:r>
            <a:endParaRPr lang="en-US" sz="1100"/>
          </a:p>
        </p:txBody>
      </p:sp>
      <p:sp>
        <p:nvSpPr>
          <p:cNvPr id="11" name="AutoShape 12">
            <a:extLst>
              <a:ext uri="{FF2B5EF4-FFF2-40B4-BE49-F238E27FC236}">
                <a16:creationId xmlns:a16="http://schemas.microsoft.com/office/drawing/2014/main" id="{39C7476B-344E-87FE-14EC-EDCEB6F259AA}"/>
              </a:ext>
            </a:extLst>
          </p:cNvPr>
          <p:cNvSpPr/>
          <p:nvPr/>
        </p:nvSpPr>
        <p:spPr>
          <a:xfrm>
            <a:off x="2997200" y="3695700"/>
            <a:ext cx="2895600" cy="2413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sz="1200" b="1">
                <a:latin typeface="微软雅黑"/>
              </a:rPr>
              <a:t>03 因子工程：权益与固收信号池建设</a:t>
            </a:r>
            <a:endParaRPr lang="en-US" sz="1100"/>
          </a:p>
        </p:txBody>
      </p:sp>
      <p:sp>
        <p:nvSpPr>
          <p:cNvPr id="12" name="AutoShape 13">
            <a:extLst>
              <a:ext uri="{FF2B5EF4-FFF2-40B4-BE49-F238E27FC236}">
                <a16:creationId xmlns:a16="http://schemas.microsoft.com/office/drawing/2014/main" id="{43B08FF2-69F5-C75C-6800-7BD9E0FB106E}"/>
              </a:ext>
            </a:extLst>
          </p:cNvPr>
          <p:cNvSpPr/>
          <p:nvPr/>
        </p:nvSpPr>
        <p:spPr>
          <a:xfrm>
            <a:off x="2311400" y="3949700"/>
            <a:ext cx="4584700" cy="175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33333"/>
              </a:lnSpc>
              <a:defRPr/>
            </a:pPr>
            <a:r>
              <a:rPr sz="1200" b="0" dirty="0">
                <a:latin typeface="微软雅黑"/>
              </a:rPr>
              <a:t>因子工程不是简单堆叠变量，而是把投资逻辑转换为可验证信号。权益侧围绕价值、动量、质量、成长、波动和事件冲击构建因子；固收侧围绕利率状态、期限结构、信用估值、流动性、转债溢价率、强赎进度、正股动量和K线避险形态构建因子。通过去极值、标准化、中性化、正交化、RankIC、ICIR、分组收益和样本外跟踪，剔除冗余与噪音，并按市场状态动态加权。</a:t>
            </a:r>
            <a:endParaRPr lang="en-US" sz="1200" dirty="0"/>
          </a:p>
        </p:txBody>
      </p:sp>
      <p:sp>
        <p:nvSpPr>
          <p:cNvPr id="13" name="AutoShape 14">
            <a:extLst>
              <a:ext uri="{FF2B5EF4-FFF2-40B4-BE49-F238E27FC236}">
                <a16:creationId xmlns:a16="http://schemas.microsoft.com/office/drawing/2014/main" id="{6A4DA40F-2F93-AE12-93F0-B180A74D86CE}"/>
              </a:ext>
            </a:extLst>
          </p:cNvPr>
          <p:cNvSpPr/>
          <p:nvPr/>
        </p:nvSpPr>
        <p:spPr>
          <a:xfrm>
            <a:off x="8077200" y="3695700"/>
            <a:ext cx="3035300" cy="2413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sz="1200" b="1">
                <a:latin typeface="微软雅黑"/>
              </a:rPr>
              <a:t>04 策略迭代：适应市场的进化机制</a:t>
            </a:r>
            <a:endParaRPr lang="en-US" sz="1100"/>
          </a:p>
        </p:txBody>
      </p:sp>
      <p:sp>
        <p:nvSpPr>
          <p:cNvPr id="14" name="AutoShape 15">
            <a:extLst>
              <a:ext uri="{FF2B5EF4-FFF2-40B4-BE49-F238E27FC236}">
                <a16:creationId xmlns:a16="http://schemas.microsoft.com/office/drawing/2014/main" id="{C6CE37A4-966C-7768-FB15-AA791625F399}"/>
              </a:ext>
            </a:extLst>
          </p:cNvPr>
          <p:cNvSpPr/>
          <p:nvPr/>
        </p:nvSpPr>
        <p:spPr>
          <a:xfrm>
            <a:off x="7378700" y="3962400"/>
            <a:ext cx="4470400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33333"/>
              </a:lnSpc>
              <a:defRPr/>
            </a:pPr>
            <a:r>
              <a:rPr sz="1200" b="0" dirty="0" err="1">
                <a:latin typeface="微软雅黑"/>
              </a:rPr>
              <a:t>建立“预测</a:t>
            </a:r>
            <a:r>
              <a:rPr sz="1200" b="0" dirty="0">
                <a:latin typeface="微软雅黑"/>
              </a:rPr>
              <a:t>—</a:t>
            </a:r>
            <a:r>
              <a:rPr sz="1200" b="0" dirty="0" err="1">
                <a:latin typeface="微软雅黑"/>
              </a:rPr>
              <a:t>归因</a:t>
            </a:r>
            <a:r>
              <a:rPr sz="1200" b="0" dirty="0">
                <a:latin typeface="微软雅黑"/>
              </a:rPr>
              <a:t>—优化”的闭环迭代机制：预测层观察模型信号是否衰减，归因层拆解收益来源、风格暴露与风险贡献，优化层动态调整因子权重与策略参数。固收量化侧重点跟踪利率趋势/</a:t>
            </a:r>
            <a:r>
              <a:rPr sz="1200" b="0" dirty="0" err="1">
                <a:latin typeface="微软雅黑"/>
              </a:rPr>
              <a:t>震荡</a:t>
            </a:r>
            <a:r>
              <a:rPr sz="1200" b="0" dirty="0">
                <a:latin typeface="微软雅黑"/>
              </a:rPr>
              <a:t>/</a:t>
            </a:r>
            <a:r>
              <a:rPr sz="1200" b="0" dirty="0" err="1">
                <a:latin typeface="微软雅黑"/>
              </a:rPr>
              <a:t>拐点状态下的信号稳定性、转债高价券避险效果、信用利差扩张风险和产品回撤贡献，避免策略停留在静态历史拟合</a:t>
            </a:r>
            <a:r>
              <a:rPr sz="1200" b="0" dirty="0">
                <a:latin typeface="微软雅黑"/>
              </a:rPr>
              <a:t>。</a:t>
            </a:r>
            <a:endParaRPr lang="en-US" sz="1200" dirty="0"/>
          </a:p>
        </p:txBody>
      </p:sp>
      <p:sp>
        <p:nvSpPr>
          <p:cNvPr id="15" name="AutoShape 16">
            <a:extLst>
              <a:ext uri="{FF2B5EF4-FFF2-40B4-BE49-F238E27FC236}">
                <a16:creationId xmlns:a16="http://schemas.microsoft.com/office/drawing/2014/main" id="{0F40C3DE-F252-1268-004B-7C94F869008C}"/>
              </a:ext>
            </a:extLst>
          </p:cNvPr>
          <p:cNvSpPr/>
          <p:nvPr/>
        </p:nvSpPr>
        <p:spPr>
          <a:xfrm>
            <a:off x="2438400" y="5702300"/>
            <a:ext cx="9245600" cy="622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33333"/>
              </a:lnSpc>
              <a:defRPr/>
            </a:pPr>
            <a:r>
              <a:rPr sz="1220" b="0">
                <a:latin typeface="微软雅黑"/>
              </a:rPr>
              <a:t>逻辑与机器双驱的策略体系，本质上是“可解释投资经验”与“AI数据挖掘能力”的结合：权益量化提供进攻性Alpha，固收量化提供低相关收益、回撤控制和组合稳定器，二者共同服务于多策略、多资产、多状态下的持续超额收益获取。</a:t>
            </a:r>
            <a:endParaRPr lang="en-US" sz="1100"/>
          </a:p>
        </p:txBody>
      </p:sp>
      <p:sp>
        <p:nvSpPr>
          <p:cNvPr id="27" name="AutoShape 11">
            <a:extLst>
              <a:ext uri="{FF2B5EF4-FFF2-40B4-BE49-F238E27FC236}">
                <a16:creationId xmlns:a16="http://schemas.microsoft.com/office/drawing/2014/main" id="{CF99A307-E21A-2440-EB01-EB4418F3980B}"/>
              </a:ext>
            </a:extLst>
          </p:cNvPr>
          <p:cNvSpPr/>
          <p:nvPr/>
        </p:nvSpPr>
        <p:spPr>
          <a:xfrm>
            <a:off x="7378700" y="2051051"/>
            <a:ext cx="431809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33333"/>
              </a:lnSpc>
              <a:defRPr/>
            </a:pPr>
            <a:r>
              <a:rPr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权益侧</a:t>
            </a:r>
            <a:r>
              <a:rPr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GBDT、神经网络、Transformer等模型捕捉非线性Alpha模式，输入维度从传统财务量价扩展至新闻情绪、公告事件、产业高频与另类数据。固收侧可进一步纳入收益率曲线形态、机构交易行为、流动性拥挤度、LPPLs泡沫指标和转债微观交易特征，用机器学习识别利率拐点、转债风险过滤与信用利差分化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1637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22E0460-B606-4D2C-ACAB-888B40B324FA}"/>
              </a:ext>
            </a:extLst>
          </p:cNvPr>
          <p:cNvSpPr/>
          <p:nvPr/>
        </p:nvSpPr>
        <p:spPr>
          <a:xfrm>
            <a:off x="824574" y="330419"/>
            <a:ext cx="6281076" cy="457200"/>
          </a:xfrm>
          <a:prstGeom prst="rect">
            <a:avLst/>
          </a:prstGeom>
          <a:solidFill>
            <a:srgbClr val="EBE9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6461618-8D25-D109-75B2-87FECFB08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B70827-A504-4031-B5B4-75733B93EC3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0149F7-EFE4-B4BC-971B-3A5C187C57D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27114" y="1341120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1E6E214-B005-93D5-2E01-93DAA4195E60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34604"/>
          <a:ext cx="1414346" cy="353040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6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富国基金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西部利得基金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国金基金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673218"/>
                  </a:ext>
                </a:extLst>
              </a:tr>
              <a:tr h="706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博道基金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025990"/>
                  </a:ext>
                </a:extLst>
              </a:tr>
              <a:tr h="7060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浙商基金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745640"/>
                  </a:ext>
                </a:extLst>
              </a:tr>
            </a:tbl>
          </a:graphicData>
        </a:graphic>
      </p:graphicFrame>
      <p:sp>
        <p:nvSpPr>
          <p:cNvPr id="6" name="AutoShape 4">
            <a:extLst>
              <a:ext uri="{FF2B5EF4-FFF2-40B4-BE49-F238E27FC236}">
                <a16:creationId xmlns:a16="http://schemas.microsoft.com/office/drawing/2014/main" id="{15B73080-8FF7-802B-6DBE-DF5A3D4ACC1F}"/>
              </a:ext>
            </a:extLst>
          </p:cNvPr>
          <p:cNvSpPr/>
          <p:nvPr/>
        </p:nvSpPr>
        <p:spPr>
          <a:xfrm>
            <a:off x="2381250" y="1252570"/>
            <a:ext cx="9232900" cy="454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482600" indent="-190500"/>
            <a:lvl2pPr marL="939800" indent="-190500"/>
            <a:lvl3pPr marL="1397000" indent="-190500"/>
            <a:lvl4pPr marL="1854200" indent="-190500"/>
            <a:lvl5pPr marL="2311400" indent="-190500"/>
            <a:lvl6pPr marL="2768600" indent="-190500"/>
            <a:lvl7pPr marL="3225800" indent="-190500"/>
            <a:lvl8pPr marL="3683000" indent="-190500"/>
            <a:lvl9pPr marL="4140200" indent="-190500"/>
          </a:lstStyle>
          <a:p>
            <a:pPr marL="12700" indent="0" algn="just">
              <a:lnSpc>
                <a:spcPct val="116666"/>
              </a:lnSpc>
              <a:buClr>
                <a:srgbClr val="505050"/>
              </a:buClr>
            </a:pPr>
            <a:endParaRPr lang="en-US" sz="1400" dirty="0">
              <a:solidFill>
                <a:srgbClr val="505050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292100" indent="-279400" algn="just">
              <a:lnSpc>
                <a:spcPct val="116666"/>
              </a:lnSpc>
              <a:buClr>
                <a:srgbClr val="392A96"/>
              </a:buClr>
              <a:buFont typeface="Wingdings"/>
              <a:buChar char="n"/>
              <a:defRPr/>
            </a:pPr>
            <a:r>
              <a:rPr lang="en-US" altLang="zh-CN" sz="1500" b="1" dirty="0">
                <a:solidFill>
                  <a:srgbClr val="392A96"/>
                </a:solidFill>
                <a:latin typeface="微软雅黑"/>
                <a:ea typeface="微软雅黑"/>
              </a:rPr>
              <a:t>01 </a:t>
            </a:r>
            <a:r>
              <a:rPr lang="zh-CN" altLang="en-US" sz="1500" b="1" dirty="0">
                <a:solidFill>
                  <a:srgbClr val="392A96"/>
                </a:solidFill>
                <a:latin typeface="微软雅黑"/>
                <a:ea typeface="微软雅黑"/>
              </a:rPr>
              <a:t>多资产信号体系：权益</a:t>
            </a:r>
            <a:r>
              <a:rPr lang="en-US" altLang="zh-CN" sz="1500" b="1" dirty="0">
                <a:solidFill>
                  <a:srgbClr val="392A96"/>
                </a:solidFill>
                <a:latin typeface="微软雅黑"/>
                <a:ea typeface="微软雅黑"/>
              </a:rPr>
              <a:t>Alpha</a:t>
            </a:r>
            <a:r>
              <a:rPr lang="zh-CN" altLang="en-US" sz="1500" b="1" dirty="0">
                <a:solidFill>
                  <a:srgbClr val="392A96"/>
                </a:solidFill>
                <a:latin typeface="微软雅黑"/>
                <a:ea typeface="微软雅黑"/>
              </a:rPr>
              <a:t>与固收稳定器并重</a:t>
            </a:r>
          </a:p>
          <a:p>
            <a:pPr marL="292100" indent="-279400" algn="just">
              <a:lnSpc>
                <a:spcPct val="116666"/>
              </a:lnSpc>
              <a:buClr>
                <a:srgbClr val="505050"/>
              </a:buClr>
              <a:buFont typeface="Wingdings"/>
              <a:buChar char="Ø"/>
            </a:pPr>
            <a:r>
              <a:rPr lang="zh-CN" altLang="en-US" sz="1400" dirty="0">
                <a:solidFill>
                  <a:srgbClr val="505050"/>
                </a:solidFill>
                <a:latin typeface="微软雅黑"/>
                <a:ea typeface="微软雅黑"/>
              </a:rPr>
              <a:t>量化模型的优势不应只体现在单一权益选股信号上，而应形成“权益进攻 </a:t>
            </a:r>
            <a:r>
              <a:rPr lang="en-US" altLang="zh-CN" sz="1400" dirty="0">
                <a:solidFill>
                  <a:srgbClr val="505050"/>
                </a:solidFill>
                <a:latin typeface="微软雅黑"/>
                <a:ea typeface="微软雅黑"/>
              </a:rPr>
              <a:t>+ </a:t>
            </a:r>
            <a:r>
              <a:rPr lang="zh-CN" altLang="en-US" sz="1400" dirty="0">
                <a:solidFill>
                  <a:srgbClr val="505050"/>
                </a:solidFill>
                <a:latin typeface="微软雅黑"/>
                <a:ea typeface="微软雅黑"/>
              </a:rPr>
              <a:t>固收防守”的多资产信号体系。</a:t>
            </a:r>
            <a:endParaRPr lang="en-US" altLang="zh-CN" sz="1400" dirty="0">
              <a:solidFill>
                <a:srgbClr val="505050"/>
              </a:solidFill>
              <a:latin typeface="微软雅黑"/>
              <a:ea typeface="微软雅黑"/>
            </a:endParaRPr>
          </a:p>
          <a:p>
            <a:pPr marL="292100" indent="-279400" algn="just">
              <a:lnSpc>
                <a:spcPct val="116666"/>
              </a:lnSpc>
              <a:buClr>
                <a:srgbClr val="505050"/>
              </a:buClr>
              <a:buFont typeface="Wingdings"/>
              <a:buChar char="Ø"/>
            </a:pPr>
            <a:r>
              <a:rPr lang="zh-CN" altLang="en-US" sz="1400" dirty="0">
                <a:solidFill>
                  <a:srgbClr val="505050"/>
                </a:solidFill>
                <a:latin typeface="微软雅黑"/>
                <a:ea typeface="微软雅黑"/>
              </a:rPr>
              <a:t>权益侧通过财务、量价、事件和文本因子捕捉超额收益机会；固收侧通过利率择时、信用利差分解、二永轮动、转债增强和高价券避险信号，补充更低相关、更偏稳健的收益来源。固收量化的加入，有助于在市场风格切换、权益波动放大或流动性收缩阶段，提升组合的回撤控制能力。</a:t>
            </a:r>
          </a:p>
          <a:p>
            <a:endParaRPr lang="zh-CN" altLang="en-US" sz="1400" b="0" dirty="0">
              <a:latin typeface="微软雅黑"/>
            </a:endParaRPr>
          </a:p>
          <a:p>
            <a:pPr marL="292100" indent="-279400" algn="just">
              <a:lnSpc>
                <a:spcPct val="116666"/>
              </a:lnSpc>
              <a:buClr>
                <a:srgbClr val="392A96"/>
              </a:buClr>
              <a:buFont typeface="Wingdings"/>
              <a:buChar char="n"/>
              <a:defRPr/>
            </a:pPr>
            <a:r>
              <a:rPr lang="en-US" altLang="zh-CN" sz="1500" b="1" dirty="0">
                <a:solidFill>
                  <a:srgbClr val="392A96"/>
                </a:solidFill>
                <a:latin typeface="微软雅黑"/>
                <a:ea typeface="微软雅黑"/>
              </a:rPr>
              <a:t>02 </a:t>
            </a:r>
            <a:r>
              <a:rPr lang="zh-CN" altLang="en-US" sz="1500" b="1" dirty="0">
                <a:solidFill>
                  <a:srgbClr val="392A96"/>
                </a:solidFill>
                <a:latin typeface="微软雅黑"/>
                <a:ea typeface="微软雅黑"/>
              </a:rPr>
              <a:t>可解释逻辑与</a:t>
            </a:r>
            <a:r>
              <a:rPr lang="en-US" altLang="zh-CN" sz="1500" b="1" dirty="0">
                <a:solidFill>
                  <a:srgbClr val="392A96"/>
                </a:solidFill>
                <a:latin typeface="微软雅黑"/>
                <a:ea typeface="微软雅黑"/>
              </a:rPr>
              <a:t>AI</a:t>
            </a:r>
            <a:r>
              <a:rPr lang="zh-CN" altLang="en-US" sz="1500" b="1" dirty="0">
                <a:solidFill>
                  <a:srgbClr val="392A96"/>
                </a:solidFill>
                <a:latin typeface="微软雅黑"/>
                <a:ea typeface="微软雅黑"/>
              </a:rPr>
              <a:t>模型互补：降低黑盒风险</a:t>
            </a:r>
          </a:p>
          <a:p>
            <a:pPr marL="292100" indent="-279400" algn="just">
              <a:lnSpc>
                <a:spcPct val="116666"/>
              </a:lnSpc>
              <a:buClr>
                <a:srgbClr val="505050"/>
              </a:buClr>
              <a:buFont typeface="Wingdings"/>
              <a:buChar char="Ø"/>
            </a:pPr>
            <a:r>
              <a:rPr lang="zh-CN" altLang="en-US" sz="1400" dirty="0">
                <a:solidFill>
                  <a:srgbClr val="505050"/>
                </a:solidFill>
                <a:latin typeface="微软雅黑"/>
                <a:ea typeface="微软雅黑"/>
              </a:rPr>
              <a:t>逻辑模型提供经济含义清晰的因子框架，例如价值、成长、动量、信用利差、期限结构、转债估值与条款博弈；机器学习模型则负责捕捉非线性关系、交互效应和状态切换。两者结合后，一方面保留策略可解释性和归因能力，另一方面提升对复杂市场结构的适应性。</a:t>
            </a:r>
            <a:endParaRPr lang="en-US" altLang="zh-CN" sz="1400" dirty="0">
              <a:solidFill>
                <a:srgbClr val="505050"/>
              </a:solidFill>
              <a:latin typeface="微软雅黑"/>
              <a:ea typeface="微软雅黑"/>
            </a:endParaRPr>
          </a:p>
          <a:p>
            <a:pPr marL="292100" indent="-279400" algn="just">
              <a:lnSpc>
                <a:spcPct val="116666"/>
              </a:lnSpc>
              <a:buClr>
                <a:srgbClr val="505050"/>
              </a:buClr>
              <a:buFont typeface="Wingdings"/>
              <a:buChar char="Ø"/>
            </a:pPr>
            <a:r>
              <a:rPr lang="zh-CN" altLang="en-US" sz="1400" dirty="0">
                <a:solidFill>
                  <a:srgbClr val="505050"/>
                </a:solidFill>
                <a:latin typeface="微软雅黑"/>
                <a:ea typeface="微软雅黑"/>
              </a:rPr>
              <a:t>固收侧尤其需要保持解释性，因为利率久期、信用资质、转债估值和条款风险都直接影响组合风险预算。</a:t>
            </a:r>
          </a:p>
          <a:p>
            <a:endParaRPr lang="zh-CN" altLang="en-US" sz="1400" b="0" dirty="0">
              <a:latin typeface="微软雅黑"/>
            </a:endParaRPr>
          </a:p>
          <a:p>
            <a:pPr marL="292100" indent="-279400" algn="just">
              <a:lnSpc>
                <a:spcPct val="116666"/>
              </a:lnSpc>
              <a:buClr>
                <a:srgbClr val="392A96"/>
              </a:buClr>
              <a:buFont typeface="Wingdings"/>
              <a:buChar char="n"/>
              <a:defRPr/>
            </a:pPr>
            <a:r>
              <a:rPr lang="en-US" altLang="zh-CN" sz="1500" b="1" dirty="0">
                <a:solidFill>
                  <a:srgbClr val="392A96"/>
                </a:solidFill>
                <a:latin typeface="微软雅黑"/>
                <a:ea typeface="微软雅黑"/>
              </a:rPr>
              <a:t>03 </a:t>
            </a:r>
            <a:r>
              <a:rPr lang="zh-CN" altLang="en-US" sz="1500" b="1" dirty="0">
                <a:solidFill>
                  <a:srgbClr val="392A96"/>
                </a:solidFill>
                <a:latin typeface="微软雅黑"/>
                <a:ea typeface="微软雅黑"/>
              </a:rPr>
              <a:t>从预测模型走向组合工程：统一评价与风险约束</a:t>
            </a:r>
          </a:p>
          <a:p>
            <a:pPr marL="292100" indent="-279400" algn="just">
              <a:lnSpc>
                <a:spcPct val="116666"/>
              </a:lnSpc>
              <a:buClr>
                <a:srgbClr val="505050"/>
              </a:buClr>
              <a:buFont typeface="Wingdings"/>
              <a:buChar char="Ø"/>
            </a:pPr>
            <a:r>
              <a:rPr lang="zh-CN" altLang="en-US" sz="1400" dirty="0">
                <a:solidFill>
                  <a:srgbClr val="505050"/>
                </a:solidFill>
                <a:latin typeface="微软雅黑"/>
                <a:ea typeface="微软雅黑"/>
              </a:rPr>
              <a:t>策略差异化最终体现在组合层，而不是单个模型得分。</a:t>
            </a:r>
            <a:endParaRPr lang="en-US" altLang="zh-CN" sz="1400" dirty="0">
              <a:solidFill>
                <a:srgbClr val="505050"/>
              </a:solidFill>
              <a:latin typeface="微软雅黑"/>
              <a:ea typeface="微软雅黑"/>
            </a:endParaRPr>
          </a:p>
          <a:p>
            <a:pPr marL="292100" indent="-279400" algn="just">
              <a:lnSpc>
                <a:spcPct val="116666"/>
              </a:lnSpc>
              <a:buClr>
                <a:srgbClr val="505050"/>
              </a:buClr>
              <a:buFont typeface="Wingdings"/>
              <a:buChar char="Ø"/>
            </a:pPr>
            <a:r>
              <a:rPr lang="zh-CN" altLang="en-US" sz="1400" dirty="0">
                <a:solidFill>
                  <a:srgbClr val="505050"/>
                </a:solidFill>
                <a:latin typeface="微软雅黑"/>
                <a:ea typeface="微软雅黑"/>
              </a:rPr>
              <a:t>所有信号应纳入统一评价体系：权益因子关注</a:t>
            </a:r>
            <a:r>
              <a:rPr lang="en-US" altLang="zh-CN" sz="1400" dirty="0" err="1">
                <a:solidFill>
                  <a:srgbClr val="505050"/>
                </a:solidFill>
                <a:latin typeface="微软雅黑"/>
                <a:ea typeface="微软雅黑"/>
              </a:rPr>
              <a:t>RankIC</a:t>
            </a:r>
            <a:r>
              <a:rPr lang="zh-CN" altLang="en-US" sz="1400" dirty="0">
                <a:solidFill>
                  <a:srgbClr val="505050"/>
                </a:solidFill>
                <a:latin typeface="微软雅黑"/>
                <a:ea typeface="微软雅黑"/>
              </a:rPr>
              <a:t>、</a:t>
            </a:r>
            <a:r>
              <a:rPr lang="en-US" altLang="zh-CN" sz="1400" dirty="0">
                <a:solidFill>
                  <a:srgbClr val="505050"/>
                </a:solidFill>
                <a:latin typeface="微软雅黑"/>
                <a:ea typeface="微软雅黑"/>
              </a:rPr>
              <a:t>ICIR</a:t>
            </a:r>
            <a:r>
              <a:rPr lang="zh-CN" altLang="en-US" sz="1400" dirty="0">
                <a:solidFill>
                  <a:srgbClr val="505050"/>
                </a:solidFill>
                <a:latin typeface="微软雅黑"/>
                <a:ea typeface="微软雅黑"/>
              </a:rPr>
              <a:t>、分组收益、换手和行业</a:t>
            </a:r>
            <a:r>
              <a:rPr lang="en-US" altLang="zh-CN" sz="1400" dirty="0">
                <a:solidFill>
                  <a:srgbClr val="505050"/>
                </a:solidFill>
                <a:latin typeface="微软雅黑"/>
                <a:ea typeface="微软雅黑"/>
              </a:rPr>
              <a:t>/</a:t>
            </a:r>
            <a:r>
              <a:rPr lang="zh-CN" altLang="en-US" sz="1400" dirty="0">
                <a:solidFill>
                  <a:srgbClr val="505050"/>
                </a:solidFill>
                <a:latin typeface="微软雅黑"/>
                <a:ea typeface="微软雅黑"/>
              </a:rPr>
              <a:t>风格暴露；固收量化关注择时胜率、久期贡献、信用利差变化、转债回撤过滤和样本外稳定性。</a:t>
            </a:r>
            <a:endParaRPr lang="en-US" altLang="zh-CN" sz="1400" dirty="0">
              <a:solidFill>
                <a:srgbClr val="505050"/>
              </a:solidFill>
              <a:latin typeface="微软雅黑"/>
              <a:ea typeface="微软雅黑"/>
            </a:endParaRPr>
          </a:p>
          <a:p>
            <a:pPr marL="292100" indent="-279400" algn="just">
              <a:lnSpc>
                <a:spcPct val="116666"/>
              </a:lnSpc>
              <a:buClr>
                <a:srgbClr val="505050"/>
              </a:buClr>
              <a:buFont typeface="Wingdings"/>
              <a:buChar char="Ø"/>
            </a:pPr>
            <a:r>
              <a:rPr lang="zh-CN" altLang="en-US" sz="1400" dirty="0">
                <a:solidFill>
                  <a:srgbClr val="505050"/>
                </a:solidFill>
                <a:latin typeface="微软雅黑"/>
                <a:ea typeface="微软雅黑"/>
              </a:rPr>
              <a:t>组合构建阶段进一步加入风险预算、交易成本、流动性约束、行业</a:t>
            </a:r>
            <a:r>
              <a:rPr lang="en-US" altLang="zh-CN" sz="1400" dirty="0">
                <a:solidFill>
                  <a:srgbClr val="505050"/>
                </a:solidFill>
                <a:latin typeface="微软雅黑"/>
                <a:ea typeface="微软雅黑"/>
              </a:rPr>
              <a:t>/</a:t>
            </a:r>
            <a:r>
              <a:rPr lang="zh-CN" altLang="en-US" sz="1400" dirty="0">
                <a:solidFill>
                  <a:srgbClr val="505050"/>
                </a:solidFill>
                <a:latin typeface="微软雅黑"/>
                <a:ea typeface="微软雅黑"/>
              </a:rPr>
              <a:t>风格暴露约束，以及久期、信用、转债</a:t>
            </a:r>
            <a:r>
              <a:rPr lang="en-US" altLang="zh-CN" sz="1400" dirty="0">
                <a:solidFill>
                  <a:srgbClr val="505050"/>
                </a:solidFill>
                <a:latin typeface="微软雅黑"/>
                <a:ea typeface="微软雅黑"/>
              </a:rPr>
              <a:t>Delta</a:t>
            </a:r>
            <a:r>
              <a:rPr lang="zh-CN" altLang="en-US" sz="1400" dirty="0">
                <a:solidFill>
                  <a:srgbClr val="505050"/>
                </a:solidFill>
                <a:latin typeface="微软雅黑"/>
                <a:ea typeface="微软雅黑"/>
              </a:rPr>
              <a:t>等固收侧风险约束，把多类信号转化为更稳健的收益、回撤和夏普目标。</a:t>
            </a:r>
          </a:p>
          <a:p>
            <a:pPr marL="12700" indent="0" algn="just">
              <a:lnSpc>
                <a:spcPct val="116666"/>
              </a:lnSpc>
              <a:buClr>
                <a:srgbClr val="505050"/>
              </a:buClr>
            </a:pPr>
            <a:endParaRPr lang="en-US" sz="1400" b="0" i="0" u="none" strike="noStrike" dirty="0">
              <a:solidFill>
                <a:srgbClr val="505050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822593B-7195-78DF-58DF-06BDB8F3676B}"/>
              </a:ext>
            </a:extLst>
          </p:cNvPr>
          <p:cNvSpPr txBox="1"/>
          <p:nvPr/>
        </p:nvSpPr>
        <p:spPr>
          <a:xfrm>
            <a:off x="824574" y="301842"/>
            <a:ext cx="9083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浙商基金：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模型优势与差异化对比分析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213889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2010</Words>
  <Application>Microsoft Office PowerPoint</Application>
  <PresentationFormat>宽屏</PresentationFormat>
  <Paragraphs>93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等线</vt:lpstr>
      <vt:lpstr>Microsoft YaHei</vt:lpstr>
      <vt:lpstr>Microsoft YaHei</vt:lpstr>
      <vt:lpstr>Arial</vt:lpstr>
      <vt:lpstr>Calibri</vt:lpstr>
      <vt:lpstr>Calibri Light</vt:lpstr>
      <vt:lpstr>Wingdings</vt:lpstr>
      <vt:lpstr>1_Office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>ZSFUND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许佳宜</dc:creator>
  <cp:lastModifiedBy>许佳宜</cp:lastModifiedBy>
  <cp:revision>17</cp:revision>
  <dcterms:created xsi:type="dcterms:W3CDTF">2026-07-07T01:45:29Z</dcterms:created>
  <dcterms:modified xsi:type="dcterms:W3CDTF">2026-07-07T08:14:50Z</dcterms:modified>
</cp:coreProperties>
</file>