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2" r:id="rId2"/>
    <p:sldMasterId id="2147483676" r:id="rId3"/>
  </p:sldMasterIdLst>
  <p:notesMasterIdLst>
    <p:notesMasterId r:id="rId15"/>
  </p:notesMasterIdLst>
  <p:handoutMasterIdLst>
    <p:handoutMasterId r:id="rId16"/>
  </p:handoutMasterIdLst>
  <p:sldIdLst>
    <p:sldId id="16671321" r:id="rId8"/>
    <p:sldId id="2147377771" r:id="rId11"/>
  </p:sldIdLst>
  <p:sldSz cx="12192000" cy="6858000"/>
  <p:notesSz cx="6807200" cy="9939338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92A96"/>
    <a:srgbClr val="4A589B"/>
    <a:srgbClr val="4469BE"/>
    <a:srgbClr val="547CC7"/>
    <a:srgbClr val="698CD2"/>
    <a:srgbClr val="FFFFFF"/>
    <a:srgbClr val="5677BB"/>
    <a:srgbClr val="4168B0"/>
    <a:srgbClr val="325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79" y="19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2026-10-22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42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66BF-3C72-4B50-8DB7-29696EFB0127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ACCA9-BCC6-4908-AFF6-EA66B8C7A18F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47963-F18C-4CDD-B820-821345A69123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B634-1CFC-43CA-B631-A7A7F052112B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57C0B-CB2B-463B-9D13-D36DAD99FAA9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DD89-404D-4C66-967F-BB1B8CE26F7B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08BF-9A8F-4862-B37F-CA3945FD367A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533775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D5C17-F805-4FD6-8111-BF3E3713C722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2645-C365-4A11-A819-23B9662CB08B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95461-23CB-43C2-A7E1-3E52947F68B0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B62A-BDDF-4564-BD82-344698DC2536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9123-E726-4774-8A91-980D74AC9E53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A287-17B4-40D1-A0C8-1CCC15625D65}" type="datetime1">
              <a:rPr lang="zh-CN" altLang="en-US" smtClean="0"/>
              <a:t>2026-10-22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2026-10-22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014126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549" tIns="46280" rIns="92549" bIns="46280"/>
          <a:lstStyle/>
          <a:p>
            <a:endParaRPr lang="zh-CN" altLang="en-US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2705AB54-EC74-4C70-15C1-FBC89352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95675" y="6356350"/>
            <a:ext cx="2743200" cy="365125"/>
          </a:xfrm>
        </p:spPr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69049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240004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641412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003949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46799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91801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023475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519121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377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271705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2336B7F-7E7E-09D5-F96D-5E857F31F8E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549" tIns="46280" rIns="92549" bIns="46280"/>
          <a:lstStyle/>
          <a:p>
            <a:endParaRPr lang="zh-CN" altLang="en-US"/>
          </a:p>
        </p:txBody>
      </p:sp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329AC8E9-CB47-01F0-A4DE-6ED52388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95675" y="6356350"/>
            <a:ext cx="2743200" cy="365125"/>
          </a:xfrm>
        </p:spPr>
        <p:txBody>
          <a:bodyPr/>
          <a:lstStyle/>
          <a:p>
            <a:fld id="{BE471B78-B2EE-428B-942C-19BA7801A9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0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D873B-AC10-4A7C-B614-611931C8F81F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34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EB07-5F45-4EBD-ADF2-7DD39B87F6F5}" type="datetimeFigureOut">
              <a:rPr lang="zh-CN" altLang="en-US" smtClean="0"/>
              <a:t>2026-10-22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53377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BE471B78-B2EE-428B-942C-19BA7801A97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65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8.xml"/><Relationship Id="rId1" Type="http://schemas.openxmlformats.org/officeDocument/2006/relationships/tags" Target="../tags/tag10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Layout" Target="../slideLayouts/slideLayout15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>
            <p:custDataLst>
              <p:tags r:id="rId1"/>
            </p:custDataLst>
          </p:nvPr>
        </p:nvSpPr>
        <p:spPr>
          <a:xfrm>
            <a:off x="2855595" y="1981125"/>
            <a:ext cx="6480810" cy="210947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25000" lnSpcReduction="20000"/>
          </a:bodyPr>
          <a:lstStyle/>
          <a:p>
            <a:pPr algn="ctr">
              <a:lnSpc>
                <a:spcPct val="170000"/>
              </a:lnSpc>
              <a:defRPr/>
            </a:pPr>
            <a:r>
              <a:rPr lang="zh-CN" altLang="en-US" sz="17600" b="1" dirty="0">
                <a:ln w="11430"/>
                <a:solidFill>
                  <a:srgbClr val="392A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浙商基金管理有限公司</a:t>
            </a:r>
          </a:p>
          <a:p>
            <a:pPr algn="ctr">
              <a:lnSpc>
                <a:spcPct val="170000"/>
              </a:lnSpc>
              <a:defRPr/>
            </a:pPr>
            <a:r>
              <a:rPr lang="en-US" altLang="zh-CN" sz="17600" b="1" dirty="0">
                <a:ln w="11430"/>
                <a:solidFill>
                  <a:srgbClr val="392A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2027</a:t>
            </a:r>
            <a:r>
              <a:rPr lang="zh-CN" altLang="en-US" sz="17600" b="1" dirty="0">
                <a:ln w="11430"/>
                <a:solidFill>
                  <a:srgbClr val="392A9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年度经营计划</a:t>
            </a:r>
          </a:p>
          <a:p>
            <a:pPr algn="ctr">
              <a:lnSpc>
                <a:spcPct val="170000"/>
              </a:lnSpc>
              <a:defRPr/>
            </a:pPr>
            <a:endParaRPr lang="en-US" altLang="zh-CN" sz="14400" b="1" dirty="0">
              <a:ln w="11430"/>
              <a:solidFill>
                <a:srgbClr val="392A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ts val="4000"/>
              </a:lnSpc>
              <a:defRPr/>
            </a:pPr>
            <a:endParaRPr lang="en-US" altLang="zh-CN" sz="2800" dirty="0">
              <a:ln w="11430"/>
              <a:solidFill>
                <a:srgbClr val="392A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ts val="4000"/>
              </a:lnSpc>
              <a:defRPr/>
            </a:pPr>
            <a:endParaRPr lang="en-US" altLang="zh-CN" sz="2800" dirty="0">
              <a:ln w="11430"/>
              <a:solidFill>
                <a:srgbClr val="392A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ts val="4000"/>
              </a:lnSpc>
              <a:defRPr/>
            </a:pPr>
            <a:endParaRPr lang="zh-CN" altLang="en-US" dirty="0">
              <a:ln w="11430"/>
              <a:solidFill>
                <a:srgbClr val="392A9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副标题 4">
            <a:extLst>
              <a:ext uri="{FF2B5EF4-FFF2-40B4-BE49-F238E27FC236}">
                <a16:creationId xmlns:a16="http://schemas.microsoft.com/office/drawing/2014/main" id="{D26BB74D-5B96-C3FD-F5CC-21A9D5D8EE4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903980" y="5244465"/>
            <a:ext cx="4384040" cy="11118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buFont typeface="微软雅黑" panose="020B0503020204020204" pitchFamily="34" charset="-122"/>
              <a:buNone/>
            </a:pPr>
            <a:r>
              <a:rPr lang="zh-CN" altLang="en-US" b="1" dirty="0">
                <a:solidFill>
                  <a:srgbClr val="392A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微软雅黑" panose="020B0503020204020204" pitchFamily="34" charset="-122"/>
              </a:rPr>
              <a:t>二〇二六年十一月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FC9CC6-39DF-7D28-5F4C-F02E26E119E7}"/>
              </a:ext>
            </a:extLst>
          </p:cNvPr>
          <p:cNvSpPr txBox="1"/>
          <p:nvPr/>
        </p:nvSpPr>
        <p:spPr>
          <a:xfrm>
            <a:off x="18189" y="2620826"/>
            <a:ext cx="4047184" cy="42661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整体要求：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、微软雅黑，整页字体大小一样，一般</a:t>
            </a:r>
            <a:r>
              <a:rPr lang="en-US" altLang="zh-CN" dirty="0"/>
              <a:t>14</a:t>
            </a:r>
            <a:r>
              <a:rPr lang="zh-CN" altLang="en-US" dirty="0"/>
              <a:t>号，</a:t>
            </a:r>
            <a:r>
              <a:rPr lang="en-US" altLang="zh-CN" dirty="0"/>
              <a:t>1.3</a:t>
            </a:r>
            <a:r>
              <a:rPr lang="zh-CN" altLang="en-US" dirty="0"/>
              <a:t>倍行距，放不下可</a:t>
            </a:r>
            <a:r>
              <a:rPr lang="en-US" altLang="zh-CN" dirty="0"/>
              <a:t>12</a:t>
            </a:r>
            <a:r>
              <a:rPr lang="zh-CN" altLang="en-US" dirty="0"/>
              <a:t>号</a:t>
            </a:r>
            <a:r>
              <a:rPr lang="zh-CN" altLang="en-US" dirty="0">
                <a:highlight>
                  <a:srgbClr val="FFFF00"/>
                </a:highlight>
              </a:rPr>
              <a:t>（字体不可小于</a:t>
            </a:r>
            <a:r>
              <a:rPr lang="en-US" altLang="zh-CN" dirty="0">
                <a:highlight>
                  <a:srgbClr val="FFFF00"/>
                </a:highlight>
              </a:rPr>
              <a:t>12</a:t>
            </a:r>
            <a:r>
              <a:rPr lang="zh-CN" altLang="en-US" dirty="0">
                <a:highlight>
                  <a:srgbClr val="FFFF00"/>
                </a:highlight>
              </a:rPr>
              <a:t>号）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/>
              <a:t>2</a:t>
            </a:r>
            <a:r>
              <a:rPr lang="zh-CN" altLang="en-US" dirty="0"/>
              <a:t>、布局不要去修改，包括上表下文字，上图下文字，左图右文字这些布局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、项目符号不要修改，一级黑方框，二级白箭头</a:t>
            </a:r>
          </a:p>
          <a:p>
            <a:endParaRPr lang="zh-CN" altLang="en-US" dirty="0"/>
          </a:p>
          <a:p>
            <a:r>
              <a:rPr lang="en-US" altLang="zh-CN" dirty="0"/>
              <a:t>4</a:t>
            </a:r>
            <a:r>
              <a:rPr lang="zh-CN" altLang="en-US" dirty="0"/>
              <a:t>、图，可编辑的粘贴上去，不要是截图，方便调颜色，大小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、注意主题颜色保持蓝色主色调，和去年保持一致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经营方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针及目标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经营方针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圆角矩形 35">
            <a:extLst>
              <a:ext uri="{FF2B5EF4-FFF2-40B4-BE49-F238E27FC236}">
                <a16:creationId xmlns:a16="http://schemas.microsoft.com/office/drawing/2014/main" id="{2EEED375-EDFF-1ACE-823C-97ACCA2189B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32194" y="4423549"/>
            <a:ext cx="1705949" cy="529432"/>
          </a:xfrm>
          <a:prstGeom prst="roundRect">
            <a:avLst>
              <a:gd name="adj" fmla="val 50000"/>
            </a:avLst>
          </a:prstGeom>
          <a:solidFill>
            <a:srgbClr val="392A96"/>
          </a:soli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投资研究交易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84C5D7-897E-DF30-8D17-6B76292B172B}"/>
              </a:ext>
            </a:extLst>
          </p:cNvPr>
          <p:cNvSpPr txBox="1"/>
          <p:nvPr/>
        </p:nvSpPr>
        <p:spPr bwMode="auto">
          <a:xfrm>
            <a:off x="853791" y="1045771"/>
            <a:ext cx="10291778" cy="285078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中宋S" panose="00020600040101010101" charset="-122"/>
                <a:sym typeface="+mn-ea"/>
              </a:rPr>
              <a:t>总目标：坚定价值投资理念，依托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中宋S" panose="00020600040101010101" charset="-122"/>
                <a:sym typeface="+mn-ea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汉仪中宋S" panose="00020600040101010101" charset="-122"/>
                <a:sym typeface="+mn-ea"/>
              </a:rPr>
              <a:t>技术深化投研能力，打造稳定超额收益的产品，实现投资者财富长期稳健增长。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5">
            <a:extLst>
              <a:ext uri="{FF2B5EF4-FFF2-40B4-BE49-F238E27FC236}">
                <a16:creationId xmlns:a16="http://schemas.microsoft.com/office/drawing/2014/main" id="{898AA75E-7D17-D456-411F-DD0FF9768C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32194" y="1466766"/>
            <a:ext cx="1705949" cy="529432"/>
          </a:xfrm>
          <a:prstGeom prst="roundRect">
            <a:avLst>
              <a:gd name="adj" fmla="val 50000"/>
            </a:avLst>
          </a:prstGeom>
          <a:solidFill>
            <a:srgbClr val="392A96"/>
          </a:soli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客户服务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F1D6ED-2812-FEC3-DF21-195F9CF3EF8F}"/>
              </a:ext>
            </a:extLst>
          </p:cNvPr>
          <p:cNvSpPr txBox="1"/>
          <p:nvPr/>
        </p:nvSpPr>
        <p:spPr>
          <a:xfrm>
            <a:off x="2487941" y="3966337"/>
            <a:ext cx="8884257" cy="1465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投研体系工业化，投资能力人工智能化，将基于量化的投资能力转化为基于人工智能技术的投资能力。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研究驱动和团队协作，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实现更稳定、可预期的长期业绩。公募产品逐步从由单一基金经理负责转化为由基金经理团队负责。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进行研究部绩效考核方案改革，全面转型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。开展新技术、新策略、新领域方面的研究。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just" defTabSz="457200">
              <a:lnSpc>
                <a:spcPct val="130000"/>
              </a:lnSpc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重构交易职能，交易室从“算法使用者”升级为“交易管理优化专家”。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408912-F57F-D3A1-1D6F-333F4F9AEC5A}"/>
              </a:ext>
            </a:extLst>
          </p:cNvPr>
          <p:cNvSpPr/>
          <p:nvPr/>
        </p:nvSpPr>
        <p:spPr>
          <a:xfrm>
            <a:off x="1585166" y="4010643"/>
            <a:ext cx="10302032" cy="1476000"/>
          </a:xfrm>
          <a:prstGeom prst="rect">
            <a:avLst/>
          </a:prstGeom>
          <a:noFill/>
          <a:ln w="19050">
            <a:solidFill>
              <a:srgbClr val="392A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AFF68F-EEE6-425D-FFA9-1C9F8B18454E}"/>
              </a:ext>
            </a:extLst>
          </p:cNvPr>
          <p:cNvSpPr txBox="1"/>
          <p:nvPr/>
        </p:nvSpPr>
        <p:spPr>
          <a:xfrm>
            <a:off x="2486035" y="1429331"/>
            <a:ext cx="8452161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algn="just">
              <a:lnSpc>
                <a:spcPct val="130000"/>
              </a:lnSpc>
              <a:buFont typeface="Wingdings" panose="05000000000000000000" pitchFamily="2" charset="2"/>
              <a:buChar char="n"/>
              <a:defRPr sz="140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457200"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围绕客户需求，开展全周期智能化的客户服务管理</a:t>
            </a:r>
            <a:r>
              <a:rPr lang="zh-CN" altLang="en-US" dirty="0">
                <a:solidFill>
                  <a:prstClr val="black"/>
                </a:solidFill>
                <a:sym typeface="+mn-ea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坚持以投资者回报为导向，通过体系化和阶段化的销售协同和内容陪伴，提升投资者获得感。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30E0D2-0DA2-6B68-A4C1-92E2093190F3}"/>
              </a:ext>
            </a:extLst>
          </p:cNvPr>
          <p:cNvSpPr/>
          <p:nvPr/>
        </p:nvSpPr>
        <p:spPr>
          <a:xfrm>
            <a:off x="1583261" y="1419035"/>
            <a:ext cx="10303939" cy="690055"/>
          </a:xfrm>
          <a:prstGeom prst="rect">
            <a:avLst/>
          </a:prstGeom>
          <a:noFill/>
          <a:ln w="19050">
            <a:solidFill>
              <a:srgbClr val="392A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D83D7EC-EFA0-34D5-D127-A069B300E188}"/>
              </a:ext>
            </a:extLst>
          </p:cNvPr>
          <p:cNvGrpSpPr/>
          <p:nvPr/>
        </p:nvGrpSpPr>
        <p:grpSpPr>
          <a:xfrm>
            <a:off x="732194" y="3197040"/>
            <a:ext cx="11155006" cy="725376"/>
            <a:chOff x="732194" y="2201749"/>
            <a:chExt cx="11155006" cy="725376"/>
          </a:xfrm>
        </p:grpSpPr>
        <p:sp>
          <p:nvSpPr>
            <p:cNvPr id="25" name="圆角矩形 35">
              <a:extLst>
                <a:ext uri="{FF2B5EF4-FFF2-40B4-BE49-F238E27FC236}">
                  <a16:creationId xmlns:a16="http://schemas.microsoft.com/office/drawing/2014/main" id="{A899C4E2-F79F-A7D6-8982-3CA9C33444C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32194" y="2289917"/>
              <a:ext cx="1705949" cy="529432"/>
            </a:xfrm>
            <a:prstGeom prst="roundRect">
              <a:avLst>
                <a:gd name="adj" fmla="val 50000"/>
              </a:avLst>
            </a:prstGeom>
            <a:solidFill>
              <a:srgbClr val="392A96"/>
            </a:solidFill>
            <a:ln>
              <a:solidFill>
                <a:schemeClr val="bg1"/>
              </a:solidFill>
            </a:ln>
            <a:effectLst>
              <a:outerShdw blurRad="127000" dist="635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产品业务布局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84C49EE-58E5-0F16-7EA2-8284BF8753CD}"/>
                </a:ext>
              </a:extLst>
            </p:cNvPr>
            <p:cNvSpPr txBox="1"/>
            <p:nvPr/>
          </p:nvSpPr>
          <p:spPr>
            <a:xfrm>
              <a:off x="2487941" y="2221481"/>
              <a:ext cx="8495375" cy="6251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285750" indent="-285750" algn="just">
                <a:lnSpc>
                  <a:spcPct val="130000"/>
                </a:lnSpc>
                <a:buFont typeface="Wingdings" panose="05000000000000000000" pitchFamily="2" charset="2"/>
                <a:buChar char="n"/>
                <a:defRPr sz="140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lvl="0" defTabSz="457200"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构建多资产、多策略的业务布局，以全方位捕捉市场机遇并平抑波动。</a:t>
              </a:r>
            </a:p>
            <a:p>
              <a:pPr lvl="0" defTabSz="457200"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打造与客户需求场景深度契合的产品矩阵，实现客户全生命周期服务的精准触达与价值交付。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F8FBDFC-AB02-05E6-876A-CB09C76B3493}"/>
                </a:ext>
              </a:extLst>
            </p:cNvPr>
            <p:cNvSpPr/>
            <p:nvPr/>
          </p:nvSpPr>
          <p:spPr>
            <a:xfrm>
              <a:off x="1585167" y="2201749"/>
              <a:ext cx="10302033" cy="725376"/>
            </a:xfrm>
            <a:prstGeom prst="rect">
              <a:avLst/>
            </a:prstGeom>
            <a:noFill/>
            <a:ln w="19050">
              <a:solidFill>
                <a:srgbClr val="392A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52F445B-B5CB-A20B-ADE1-DB70989CB825}"/>
              </a:ext>
            </a:extLst>
          </p:cNvPr>
          <p:cNvGrpSpPr/>
          <p:nvPr/>
        </p:nvGrpSpPr>
        <p:grpSpPr>
          <a:xfrm>
            <a:off x="730288" y="2183415"/>
            <a:ext cx="11156912" cy="903000"/>
            <a:chOff x="737450" y="2988569"/>
            <a:chExt cx="11156912" cy="90300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4259CA5-9775-1234-AAC0-49FB5C9DF288}"/>
                </a:ext>
              </a:extLst>
            </p:cNvPr>
            <p:cNvSpPr/>
            <p:nvPr/>
          </p:nvSpPr>
          <p:spPr>
            <a:xfrm>
              <a:off x="1590423" y="2988569"/>
              <a:ext cx="10303939" cy="903000"/>
            </a:xfrm>
            <a:prstGeom prst="rect">
              <a:avLst/>
            </a:prstGeom>
            <a:noFill/>
            <a:ln w="19050">
              <a:solidFill>
                <a:srgbClr val="392A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圆角矩形 35">
              <a:extLst>
                <a:ext uri="{FF2B5EF4-FFF2-40B4-BE49-F238E27FC236}">
                  <a16:creationId xmlns:a16="http://schemas.microsoft.com/office/drawing/2014/main" id="{225DB2C6-1DF4-D644-6BA0-883F9489F8F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37450" y="3191980"/>
              <a:ext cx="1705949" cy="529432"/>
            </a:xfrm>
            <a:prstGeom prst="roundRect">
              <a:avLst>
                <a:gd name="adj" fmla="val 50000"/>
              </a:avLst>
            </a:prstGeom>
            <a:solidFill>
              <a:srgbClr val="392A96"/>
            </a:solidFill>
            <a:ln>
              <a:solidFill>
                <a:schemeClr val="bg1"/>
              </a:solidFill>
            </a:ln>
            <a:effectLst>
              <a:outerShdw blurRad="127000" dist="635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投资行为管理</a:t>
              </a: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546E9852-54A7-C047-63A6-69A8EC89BBB9}"/>
              </a:ext>
            </a:extLst>
          </p:cNvPr>
          <p:cNvSpPr/>
          <p:nvPr/>
        </p:nvSpPr>
        <p:spPr>
          <a:xfrm>
            <a:off x="1585168" y="5575251"/>
            <a:ext cx="10302030" cy="658497"/>
          </a:xfrm>
          <a:prstGeom prst="rect">
            <a:avLst/>
          </a:prstGeom>
          <a:noFill/>
          <a:ln w="19050">
            <a:solidFill>
              <a:srgbClr val="392A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圆角矩形 35">
            <a:extLst>
              <a:ext uri="{FF2B5EF4-FFF2-40B4-BE49-F238E27FC236}">
                <a16:creationId xmlns:a16="http://schemas.microsoft.com/office/drawing/2014/main" id="{D60F6985-B646-B906-499B-21E4559D501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32194" y="5633031"/>
            <a:ext cx="1705949" cy="529432"/>
          </a:xfrm>
          <a:prstGeom prst="roundRect">
            <a:avLst>
              <a:gd name="adj" fmla="val 50000"/>
            </a:avLst>
          </a:prstGeom>
          <a:solidFill>
            <a:srgbClr val="392A96"/>
          </a:solidFill>
          <a:ln>
            <a:solidFill>
              <a:schemeClr val="bg1"/>
            </a:solidFill>
          </a:ln>
          <a:effectLst>
            <a:outerShdw blurRad="1270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工业化投研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平台建设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EB1146-A94F-94D9-D072-F9C81C3322CD}"/>
              </a:ext>
            </a:extLst>
          </p:cNvPr>
          <p:cNvSpPr txBox="1"/>
          <p:nvPr/>
        </p:nvSpPr>
        <p:spPr>
          <a:xfrm>
            <a:off x="2487941" y="5718862"/>
            <a:ext cx="8452161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将公司目前分散的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系统按照工业化投研体系进行整合和重构，进行工业化投研体系改造。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CAF82B4-2202-D52D-1297-C7BDB6F2A745}"/>
              </a:ext>
            </a:extLst>
          </p:cNvPr>
          <p:cNvSpPr txBox="1"/>
          <p:nvPr/>
        </p:nvSpPr>
        <p:spPr>
          <a:xfrm>
            <a:off x="2493558" y="2158776"/>
            <a:ext cx="9288134" cy="9052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 algn="just">
              <a:lnSpc>
                <a:spcPct val="130000"/>
              </a:lnSpc>
              <a:buFont typeface="Wingdings" panose="05000000000000000000" pitchFamily="2" charset="2"/>
              <a:buChar char="n"/>
              <a:defRPr sz="140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根据产品预设目标和业绩基准偏离监测分析，运用</a:t>
            </a:r>
            <a:r>
              <a:rPr lang="en-US" altLang="zh-CN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对产品运行过程中的风险暴露和业绩归因进行拆解和风控，保障产品输出为低成本高质量的大众消费品。评价运行结果提供基金经理调整建议，加强对基金经理的业绩评价。</a:t>
            </a:r>
          </a:p>
          <a:p>
            <a:pPr defTabSz="457200">
              <a:defRPr/>
            </a:pPr>
            <a:r>
              <a:rPr lang="zh-CN" altLang="en-US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运用</a:t>
            </a:r>
            <a:r>
              <a:rPr lang="en-US" altLang="zh-CN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sz="1400" kern="1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梳理产品投资策略方法论及特色，向销售端提供路演支持，向产品端提供发行和持营支持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E4439F72-7665-A6B9-8898-ECFB0EDE6377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1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26E5B2B-4BA0-1A45-E89C-E3DBC9CA1B5C}"/>
              </a:ext>
            </a:extLst>
          </p:cNvPr>
          <p:cNvSpPr/>
          <p:nvPr/>
        </p:nvSpPr>
        <p:spPr>
          <a:xfrm>
            <a:off x="-1578193" y="357442"/>
            <a:ext cx="2322989" cy="331124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各部门看是否需要更新，更新请标黄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、客户服务：机构、渠道、互金、企划部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投资行为管理：监察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、产品业务布局：产品部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、投资研究交易：权益、固收、研究、交易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5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、工业化投研平台建设：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IT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9559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重点工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作及关键因素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关键因素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30A1012-B31C-E98F-976B-917030DB728F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9455589"/>
              </p:ext>
            </p:extLst>
          </p:nvPr>
        </p:nvGraphicFramePr>
        <p:xfrm>
          <a:off x="607193" y="1078198"/>
          <a:ext cx="11217264" cy="5218426"/>
        </p:xfrm>
        <a:graphic>
          <a:graphicData uri="http://schemas.openxmlformats.org/drawingml/2006/table">
            <a:tbl>
              <a:tblPr firstRow="1" bandRow="1"/>
              <a:tblGrid>
                <a:gridCol w="855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422766486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380558029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3227941600"/>
                    </a:ext>
                  </a:extLst>
                </a:gridCol>
                <a:gridCol w="2581961">
                  <a:extLst>
                    <a:ext uri="{9D8B030D-6E8A-4147-A177-3AD203B41FA5}">
                      <a16:colId xmlns:a16="http://schemas.microsoft.com/office/drawing/2014/main" val="2439925622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80887818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282180629"/>
                    </a:ext>
                  </a:extLst>
                </a:gridCol>
              </a:tblGrid>
              <a:tr h="5004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关键因素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投资研究交易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工业化投研平台建设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合规管理及风险控制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18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业务目标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权益投资：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核心产品业绩排名进前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固收投资：提升投研体系，保障各主要产品投资业绩进入前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研究部：用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AI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技术改造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个现有策略，储备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个创新投资策略，储备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个基金经理人选。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中央交易室：降低交易成本，提升交易绩效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2bps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40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倍换手产品年化业绩提升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0.8%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），释放投资业绩；交易完成率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交易风险事件（业内平均千分之一交易失败率）。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indent="0" algn="just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将研究员和基金经理的全套流程整合，达到研究投资全过程可追溯。安全、合规、可靠，防止资产流失。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indent="0" algn="just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力争公司全年不受到监管处罚。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7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关键举措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、投研风控一体化，释放策略收益，核心产品业绩排名进前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、万得偏股混合型基金指数增强策略上线，对应产品预期规模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亿元。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、净值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以下产品的策略改造，净值力争回到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0.95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以上。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、转债投资相对基准超额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、二级债基投资业绩进入前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、各主动管理纯债产品业绩进入前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、研究员应用前沿技术比如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大模型开发出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个可落地的创新投资策略改造现有基金产品。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、研究员应用最新技术开发出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个创新投资策略为之后的新产品做策略储备。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、在研究员中发掘潜在的基金经理人选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人，具体表现为在对应的行业基准模拟盘业绩排名前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交易算法优化，提升交易绩效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2bps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。创建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1-2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条优化算法策略；进行全面的实盘回测和交易成本分析，打通影响业绩的淤堵点。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建立算法数据库，算法信息及参数可视化，投研交协同优化算法，集思广益。</a:t>
                      </a:r>
                    </a:p>
                    <a:p>
                      <a:pPr marL="0" marR="0" lvl="0" indent="0" algn="just" defTabSz="914400" rtl="0" eaLnBrk="1" fontAlgn="ctr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交易完成率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交易风险事件。加强部门员工业务能力和风险意识培训；增加双人复核机制；建立关于无交易失败的激励机制。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、基础平台增强，因子的结果写入采用统一数据接口，年末保证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的因子结果数据由平台写入。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完成模拟仓开发（与通联合作）。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、交易优化，通过风控及交易环境硬件优化，力争能通过优化提升交易速度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完善三会治理架构及人员结构。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强化投资交易管理，深化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在风险管控中的应用。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合规问题自查及整改。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9B1B3508-029E-CE26-E829-C49023C73E03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2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D15CE21-8CFC-56FC-47AD-C6C95A93FA84}"/>
              </a:ext>
            </a:extLst>
          </p:cNvPr>
          <p:cNvSpPr/>
          <p:nvPr/>
        </p:nvSpPr>
        <p:spPr>
          <a:xfrm>
            <a:off x="-1864968" y="278782"/>
            <a:ext cx="2322989" cy="585285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此页为后几页的总领页，写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2027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年的经营计划，每部分总结三个重要的点，其中至少一点注意与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及最新政策相结合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各部门认领更新，更新请</a:t>
            </a:r>
            <a:r>
              <a:rPr lang="zh-CN" altLang="en-US" sz="1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标黄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、客户服务：机构、渠道、互金部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投资行为管理：监察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、产品业务布局：产品部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、投资研究交易：权益、固收、研究、交易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5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、工业化投研平台建设：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IT</a:t>
            </a:r>
          </a:p>
          <a:p>
            <a:pPr>
              <a:lnSpc>
                <a:spcPct val="130000"/>
              </a:lnSpc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6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合规管理及风险控制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: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第一点行政，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点监察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重点工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作及关键因素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重点工作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投资研究交易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B4CF693-AB97-D915-4E3B-4F44603F2832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2586369"/>
              </p:ext>
            </p:extLst>
          </p:nvPr>
        </p:nvGraphicFramePr>
        <p:xfrm>
          <a:off x="714681" y="1085549"/>
          <a:ext cx="10908000" cy="5407326"/>
        </p:xfrm>
        <a:graphic>
          <a:graphicData uri="http://schemas.openxmlformats.org/drawingml/2006/table">
            <a:tbl>
              <a:tblPr firstRow="1" bandRow="1"/>
              <a:tblGrid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9936">
                  <a:extLst>
                    <a:ext uri="{9D8B030D-6E8A-4147-A177-3AD203B41FA5}">
                      <a16:colId xmlns:a16="http://schemas.microsoft.com/office/drawing/2014/main" val="3566994714"/>
                    </a:ext>
                  </a:extLst>
                </a:gridCol>
                <a:gridCol w="4718064">
                  <a:extLst>
                    <a:ext uri="{9D8B030D-6E8A-4147-A177-3AD203B41FA5}">
                      <a16:colId xmlns:a16="http://schemas.microsoft.com/office/drawing/2014/main" val="271500688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781803914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52122748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4058453982"/>
                    </a:ext>
                  </a:extLst>
                </a:gridCol>
              </a:tblGrid>
              <a:tr h="2505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 rtl="0" fontAlgn="ctr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业务目标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algn="ctr" rtl="0" fontAlgn="ctr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关键举措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重点工作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业务条线</a:t>
                      </a:r>
                    </a:p>
                  </a:txBody>
                  <a:tcPr marL="72000" marR="72000" marT="635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974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948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922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3959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9933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5907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1881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7855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第一责任人</a:t>
                      </a:r>
                    </a:p>
                  </a:txBody>
                  <a:tcPr marL="91434" marR="91434" marT="45717" marB="45717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>
                      <a:lvl1pPr marL="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5974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91948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79220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83959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9933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75907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21881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678555" algn="l" defTabSz="919480" rtl="0" eaLnBrk="1" latinLnBrk="0" hangingPunct="1">
                        <a:defRPr sz="181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110000"/>
                        </a:lnSpc>
                      </a:pPr>
                      <a:r>
                        <a:rPr lang="zh-CN" alt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第二责任人</a:t>
                      </a:r>
                    </a:p>
                  </a:txBody>
                  <a:tcPr marL="91434" marR="91434" marT="45717" marB="45717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05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研究：用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技术改造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个现有策略，储备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个创新投资策略，储备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个基金经理人选。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研究员应用前沿技术比如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大模型开发出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个可落地的创新投资策略改造现有基金产品。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明确</a:t>
                      </a: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大模型的应用场景，完成</a:t>
                      </a: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2-3</a:t>
                      </a: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个策略原型的初步回测。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对选定原型进行全周期回测、风险分析及成本模拟。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将验证通过的策略部署于小规模实盘，建立实时监控面板，跟踪其表现与模型预测是否一致。若策略稳定则进行产品改造。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刘耘娜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研究部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839176"/>
                  </a:ext>
                </a:extLst>
              </a:tr>
              <a:tr h="109605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研究员应用最新技术开发出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个创新投资策略为之后的新产品做策略储备。</a:t>
                      </a:r>
                      <a:endParaRPr lang="en-US" altLang="zh-CN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通过市场研究提出创新投资策略，探讨新技术的应用场景。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对选定原型进行全周期回测、风险分析及成本模拟。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将验证通过的策略部署于模拟盘，建立实时监控面板，跟踪其表现与模型预测是否一致。若表现稳定则储备此策略备用。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刘耘娜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研究部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6974"/>
                  </a:ext>
                </a:extLst>
              </a:tr>
              <a:tr h="75082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1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在研究员中发掘潜在的基金经理人选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人，具体表现为在对应的行业基准模拟盘业绩排名前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选择有深度的新领域，进行系统性研究，并形成行业研究报告。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研究员上线个人模拟盘，锻炼投资能力。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kumimoji="0" lang="zh-CN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组织培训和内部交流帮助研究员形成投资框架体系。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刘耘娜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研究部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634221"/>
                  </a:ext>
                </a:extLst>
              </a:tr>
              <a:tr h="61765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交易：交易：降低交易成本，提升交易绩效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2bps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40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倍换手产品年化业绩提升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0.8%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），释放投资业绩；交易完成率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100%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交易风险事件。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ct val="110000"/>
                        </a:lnSpc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交易算法优化，提升交易绩效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2bps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根据基金经理和实际交易需求，创建优化算法策略。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全面实盘回测，投交结合，寻求最适宜的交易方式。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交易成本分析，打通影响业绩的淤堵点。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祝亚鹏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中央交易室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429736"/>
                  </a:ext>
                </a:extLst>
              </a:tr>
              <a:tr h="57853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建立算法数据库并可视化。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算法信息收集汇总、分类。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LUCY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系统建立数据库，写入算法信息。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算法信息及参数可视化，投研交协同优化算法。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祝亚鹏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中央交易室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531190"/>
                  </a:ext>
                </a:extLst>
              </a:tr>
              <a:tr h="57853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交易完成率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交易风险事件。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加强部门员工业务能力和风险意识培训。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部门内分工合作更合理化精细化，双人复核机制。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加强制度建设，建立关于无交易失败的激励机制。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</a:t>
                      </a:r>
                    </a:p>
                  </a:txBody>
                  <a:tcPr marL="72000" marR="72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刘岩</a:t>
                      </a:r>
                    </a:p>
                  </a:txBody>
                  <a:tcPr marL="72000" marR="72000" marT="45717" marB="45717"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祝亚鹏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中央交易室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120161"/>
                  </a:ext>
                </a:extLst>
              </a:tr>
            </a:tbl>
          </a:graphicData>
        </a:graphic>
      </p:graphicFrame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600AA330-CD78-AAEB-13E4-32E02B0B9DC8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3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951B24-D221-0AB7-C9B0-978BD8E11D45}"/>
              </a:ext>
            </a:extLst>
          </p:cNvPr>
          <p:cNvSpPr/>
          <p:nvPr/>
        </p:nvSpPr>
        <p:spPr>
          <a:xfrm>
            <a:off x="-816925" y="1751008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研究、交易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7F88608-0BB1-A383-1D76-D4BE9A2206C0}"/>
              </a:ext>
            </a:extLst>
          </p:cNvPr>
          <p:cNvSpPr/>
          <p:nvPr/>
        </p:nvSpPr>
        <p:spPr>
          <a:xfrm>
            <a:off x="2245709" y="529029"/>
            <a:ext cx="1589954" cy="130179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此列和总领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P7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页观点保持一致，原文粘贴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949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b="1">
                <a:latin typeface="微软雅黑"/>
                <a:ea typeface="微软雅黑"/>
              </a:rPr>
              <a:t>三、业务计划-研究部-新技术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sz="1600" b="1">
                  <a:latin typeface="微软雅黑"/>
                  <a:ea typeface="微软雅黑"/>
                </a:rPr>
                <a:t>事件样本库</a:t>
              </a: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algn="ctr"/>
              <a:r>
                <a:rPr sz="1600" b="1">
                  <a:latin typeface="微软雅黑"/>
                  <a:ea typeface="微软雅黑"/>
                </a:rPr>
                <a:t>模型对照检验</a:t>
              </a:r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sz="1600" b="1">
                  <a:latin typeface="微软雅黑"/>
                  <a:ea typeface="微软雅黑"/>
                </a:rPr>
                <a:t>因子持续跟踪</a:t>
              </a: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大模型热点轮动</a:t>
              </a:r>
              <a:endParaRPr lang="en-US" altLang="zh-CN" sz="1400" b="1" kern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策略</a:t>
              </a:r>
              <a:endParaRPr lang="zh-CN" altLang="en-US" sz="1400" kern="1200" dirty="0"/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优基增强</a:t>
              </a:r>
              <a:r>
                <a:rPr lang="en-US" altLang="zh-CN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策略</a:t>
              </a:r>
              <a:endParaRPr lang="zh-CN" altLang="en-US" sz="1400" kern="1200" dirty="0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sz="1600" b="0">
                <a:latin typeface="微软雅黑"/>
                <a:ea typeface="微软雅黑"/>
              </a:rPr>
              <a:t>业务目标：完善公告事件模型与文本因子的研究验证。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35ECA58C-30B7-450A-BF68-85B6E4A51810}"/>
              </a:ext>
            </a:extLst>
          </p:cNvPr>
          <p:cNvSpPr>
            <a:spLocks noGrp="1"/>
          </p:cNvSpPr>
          <p:nvPr/>
        </p:nvSpPr>
        <p:spPr>
          <a:xfrm>
            <a:off x="2600325" y="17430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190500" indent="-190500">
              <a:defRPr sz="1400" b="1">
                <a:solidFill>
                  <a:srgbClr val="000000"/>
                </a:solidFill>
              </a:defRPr>
              <a:lnSpc>
                <a:spcPct val="130000"/>
              </a:lnSpc>
              <a:buFont typeface="Arial"/>
              <a:buChar char="▪"/>
            </a:pPr>
            <a:r>
              <a:rPr sz="1400" b="1">
                <a:solidFill>
                  <a:srgbClr val="000000"/>
                </a:solidFill>
                <a:ea typeface="微软雅黑"/>
              </a:rPr>
              <a:t>公告事件模型：先做财报与业绩预告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3A52CD51-CAE1-4DA3-A4F5-2632011C5567}"/>
              </a:ext>
            </a:extLst>
          </p:cNvPr>
          <p:cNvSpPr>
            <a:spLocks noGrp="1"/>
          </p:cNvSpPr>
          <p:nvPr/>
        </p:nvSpPr>
        <p:spPr>
          <a:xfrm>
            <a:off x="2838450" y="20288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复用现有事件驱动模型，按公告披露时间建样本，保留原文、事件类别及预期差标签。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D0BCA734-6BA0-4155-8335-8E485B5EB7E6}"/>
              </a:ext>
            </a:extLst>
          </p:cNvPr>
          <p:cNvSpPr>
            <a:spLocks noGrp="1"/>
          </p:cNvSpPr>
          <p:nvPr/>
        </p:nvSpPr>
        <p:spPr>
          <a:xfrm>
            <a:off x="2838450" y="25431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Q1完成样本核验，Q2比较量价基线与事件模型，检查事件后5日、20日的预测增量。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DC32208E-8EC2-4DC2-8F3F-E32548528A15}"/>
              </a:ext>
            </a:extLst>
          </p:cNvPr>
          <p:cNvSpPr>
            <a:spLocks noGrp="1"/>
          </p:cNvSpPr>
          <p:nvPr/>
        </p:nvSpPr>
        <p:spPr>
          <a:xfrm>
            <a:off x="2600325" y="30575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190500" indent="-190500">
              <a:defRPr sz="1400" b="1">
                <a:solidFill>
                  <a:srgbClr val="000000"/>
                </a:solidFill>
              </a:defRPr>
              <a:lnSpc>
                <a:spcPct val="130000"/>
              </a:lnSpc>
              <a:buFont typeface="Arial"/>
              <a:buChar char="▪"/>
            </a:pPr>
            <a:r>
              <a:rPr sz="1400" b="1">
                <a:solidFill>
                  <a:srgbClr val="000000"/>
                </a:solidFill>
                <a:ea typeface="微软雅黑"/>
              </a:rPr>
              <a:t>文本因子：先验证，再扩展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0D99D98E-678D-41E6-8E61-BB593C2B2C3D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用大模型提取公告的方向、强度和依据，人工抽查后，与现有财务量价因子做增量检验。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C90A9A90-9909-4EF9-9144-9E25110B0A6F}"/>
              </a:ext>
            </a:extLst>
          </p:cNvPr>
          <p:cNvSpPr>
            <a:spLocks noGrp="1"/>
          </p:cNvSpPr>
          <p:nvPr/>
        </p:nvSpPr>
        <p:spPr>
          <a:xfrm>
            <a:off x="2838450" y="38576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Q3完成一轮样本外测试，保留有效因子，记录无效结果与失败原因。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5E6A368F-1EA3-48AB-9C13-DBA774859407}"/>
              </a:ext>
            </a:extLst>
          </p:cNvPr>
          <p:cNvSpPr>
            <a:spLocks noGrp="1"/>
          </p:cNvSpPr>
          <p:nvPr/>
        </p:nvSpPr>
        <p:spPr>
          <a:xfrm>
            <a:off x="2600325" y="43719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190500" indent="-190500">
              <a:defRPr sz="1400" b="1">
                <a:solidFill>
                  <a:srgbClr val="000000"/>
                </a:solidFill>
              </a:defRPr>
              <a:lnSpc>
                <a:spcPct val="130000"/>
              </a:lnSpc>
              <a:buFont typeface="Arial"/>
              <a:buChar char="▪"/>
            </a:pPr>
            <a:r>
              <a:rPr sz="1400" b="1">
                <a:solidFill>
                  <a:srgbClr val="000000"/>
                </a:solidFill>
                <a:ea typeface="微软雅黑"/>
              </a:rPr>
              <a:t>研究流程：把重复检验固定下来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D5240C73-88DF-49C3-91FE-66AFA19EADBE}"/>
              </a:ext>
            </a:extLst>
          </p:cNvPr>
          <p:cNvSpPr>
            <a:spLocks noGrp="1"/>
          </p:cNvSpPr>
          <p:nvPr/>
        </p:nvSpPr>
        <p:spPr>
          <a:xfrm>
            <a:off x="2838450" y="46577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统一输出RankIC、分组收益、换手及成本后表现，登记数据版本、训练区间与参数。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9BB095D2-DD05-497D-8A32-CE4803220321}"/>
              </a:ext>
            </a:extLst>
          </p:cNvPr>
          <p:cNvSpPr>
            <a:spLocks noGrp="1"/>
          </p:cNvSpPr>
          <p:nvPr/>
        </p:nvSpPr>
        <p:spPr>
          <a:xfrm>
            <a:off x="2838450" y="51720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Q4交付事件样本库、模型对照报告及因子跟踪清单，支持后续策略复用。</a:t>
            </a:r>
          </a:p>
        </p:txBody>
      </p:sp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10362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00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38200" y="121031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: 圆角 8"/>
          <p:cNvSpPr/>
          <p:nvPr/>
        </p:nvSpPr>
        <p:spPr>
          <a:xfrm>
            <a:off x="3069943" y="1557361"/>
            <a:ext cx="996287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投研阶段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5434397" y="1557361"/>
            <a:ext cx="996287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决策阶段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7798851" y="1557364"/>
            <a:ext cx="1389344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交易执行阶段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10315092" y="1557364"/>
            <a:ext cx="1266530" cy="529791"/>
          </a:xfrm>
          <a:prstGeom prst="roundRect">
            <a:avLst/>
          </a:prstGeom>
          <a:solidFill>
            <a:srgbClr val="392A96"/>
          </a:solidFill>
          <a:ln w="0"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lIns="0" tIns="0" rIns="0" bIns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风险控制阶段</a:t>
            </a:r>
          </a:p>
        </p:txBody>
      </p:sp>
      <p:sp>
        <p:nvSpPr>
          <p:cNvPr id="17" name="箭头: 右 16"/>
          <p:cNvSpPr/>
          <p:nvPr/>
        </p:nvSpPr>
        <p:spPr>
          <a:xfrm>
            <a:off x="4310827" y="1615358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/>
          <p:cNvSpPr/>
          <p:nvPr/>
        </p:nvSpPr>
        <p:spPr>
          <a:xfrm>
            <a:off x="6834234" y="1622399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9392206" y="1622398"/>
            <a:ext cx="771099" cy="40260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172"/>
          <p:cNvSpPr/>
          <p:nvPr/>
        </p:nvSpPr>
        <p:spPr>
          <a:xfrm>
            <a:off x="2585616" y="2332128"/>
            <a:ext cx="2010410" cy="4088906"/>
          </a:xfrm>
          <a:custGeom>
            <a:avLst/>
            <a:gdLst/>
            <a:ahLst/>
            <a:cxnLst/>
            <a:rect l="0" t="0" r="r" b="b"/>
            <a:pathLst>
              <a:path w="5584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2" y="132"/>
                  <a:pt x="53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8" y="65"/>
                  <a:pt x="124" y="54"/>
                  <a:pt x="141" y="44"/>
                </a:cubicBezTo>
                <a:cubicBezTo>
                  <a:pt x="158" y="35"/>
                  <a:pt x="177" y="26"/>
                  <a:pt x="196" y="20"/>
                </a:cubicBezTo>
                <a:cubicBezTo>
                  <a:pt x="215" y="13"/>
                  <a:pt x="235" y="8"/>
                  <a:pt x="255" y="5"/>
                </a:cubicBezTo>
                <a:cubicBezTo>
                  <a:pt x="276" y="1"/>
                  <a:pt x="296" y="0"/>
                  <a:pt x="317" y="0"/>
                </a:cubicBezTo>
                <a:lnTo>
                  <a:pt x="5266" y="0"/>
                </a:lnTo>
                <a:cubicBezTo>
                  <a:pt x="5287" y="0"/>
                  <a:pt x="5308" y="1"/>
                  <a:pt x="5328" y="5"/>
                </a:cubicBezTo>
                <a:cubicBezTo>
                  <a:pt x="5348" y="8"/>
                  <a:pt x="5368" y="13"/>
                  <a:pt x="5388" y="20"/>
                </a:cubicBezTo>
                <a:cubicBezTo>
                  <a:pt x="5407" y="26"/>
                  <a:pt x="5425" y="35"/>
                  <a:pt x="5442" y="44"/>
                </a:cubicBezTo>
                <a:cubicBezTo>
                  <a:pt x="5460" y="54"/>
                  <a:pt x="5476" y="65"/>
                  <a:pt x="5491" y="77"/>
                </a:cubicBezTo>
                <a:cubicBezTo>
                  <a:pt x="5505" y="89"/>
                  <a:pt x="5518" y="103"/>
                  <a:pt x="5530" y="117"/>
                </a:cubicBezTo>
                <a:cubicBezTo>
                  <a:pt x="5542" y="132"/>
                  <a:pt x="5551" y="147"/>
                  <a:pt x="5559" y="163"/>
                </a:cubicBezTo>
                <a:cubicBezTo>
                  <a:pt x="5567" y="179"/>
                  <a:pt x="5573" y="196"/>
                  <a:pt x="5577" y="213"/>
                </a:cubicBezTo>
                <a:cubicBezTo>
                  <a:pt x="5582" y="230"/>
                  <a:pt x="5584" y="247"/>
                  <a:pt x="5584" y="264"/>
                </a:cubicBezTo>
                <a:lnTo>
                  <a:pt x="5584" y="12648"/>
                </a:lnTo>
                <a:cubicBezTo>
                  <a:pt x="5584" y="12669"/>
                  <a:pt x="5582" y="12689"/>
                  <a:pt x="5577" y="12710"/>
                </a:cubicBezTo>
                <a:cubicBezTo>
                  <a:pt x="5573" y="12730"/>
                  <a:pt x="5567" y="12750"/>
                  <a:pt x="5559" y="12769"/>
                </a:cubicBezTo>
                <a:cubicBezTo>
                  <a:pt x="5551" y="12788"/>
                  <a:pt x="5542" y="12807"/>
                  <a:pt x="5530" y="12824"/>
                </a:cubicBezTo>
                <a:cubicBezTo>
                  <a:pt x="5518" y="12841"/>
                  <a:pt x="5505" y="12857"/>
                  <a:pt x="5491" y="12872"/>
                </a:cubicBezTo>
                <a:cubicBezTo>
                  <a:pt x="5476" y="12887"/>
                  <a:pt x="5460" y="12900"/>
                  <a:pt x="5442" y="12912"/>
                </a:cubicBezTo>
                <a:cubicBezTo>
                  <a:pt x="5425" y="12923"/>
                  <a:pt x="5407" y="12933"/>
                  <a:pt x="5388" y="12941"/>
                </a:cubicBezTo>
                <a:cubicBezTo>
                  <a:pt x="5368" y="12949"/>
                  <a:pt x="5348" y="12955"/>
                  <a:pt x="5328" y="12959"/>
                </a:cubicBezTo>
                <a:cubicBezTo>
                  <a:pt x="5308" y="12963"/>
                  <a:pt x="5287" y="12965"/>
                  <a:pt x="5266" y="12965"/>
                </a:cubicBezTo>
                <a:lnTo>
                  <a:pt x="317" y="12965"/>
                </a:lnTo>
                <a:cubicBezTo>
                  <a:pt x="296" y="12965"/>
                  <a:pt x="276" y="12963"/>
                  <a:pt x="255" y="12959"/>
                </a:cubicBezTo>
                <a:cubicBezTo>
                  <a:pt x="235" y="12955"/>
                  <a:pt x="215" y="12949"/>
                  <a:pt x="196" y="12941"/>
                </a:cubicBezTo>
                <a:cubicBezTo>
                  <a:pt x="177" y="12933"/>
                  <a:pt x="158" y="12923"/>
                  <a:pt x="141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8" y="12857"/>
                  <a:pt x="65" y="12841"/>
                  <a:pt x="53" y="12824"/>
                </a:cubicBezTo>
                <a:cubicBezTo>
                  <a:pt x="42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任意多边形 173"/>
          <p:cNvSpPr/>
          <p:nvPr/>
        </p:nvSpPr>
        <p:spPr>
          <a:xfrm>
            <a:off x="2585496" y="2217767"/>
            <a:ext cx="2010240" cy="114480"/>
          </a:xfrm>
          <a:custGeom>
            <a:avLst/>
            <a:gdLst/>
            <a:ahLst/>
            <a:cxnLst/>
            <a:rect l="0" t="0" r="r" b="b"/>
            <a:pathLst>
              <a:path w="5584" h="318">
                <a:moveTo>
                  <a:pt x="0" y="0"/>
                </a:moveTo>
                <a:lnTo>
                  <a:pt x="5584" y="0"/>
                </a:lnTo>
                <a:lnTo>
                  <a:pt x="5584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754263" y="2762730"/>
            <a:ext cx="1736615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构建债市情绪指数与政策分析系统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618535" y="3238384"/>
            <a:ext cx="1847850" cy="2709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  <a:cs typeface="+mn-cs"/>
              </a:rPr>
              <a:t>数据处理：批量解析海量文本与非结构化数据。</a:t>
            </a:r>
            <a:endParaRPr lang="en-US" altLang="zh-CN" sz="1200" dirty="0">
              <a:solidFill>
                <a:prstClr val="black"/>
              </a:solidFill>
              <a:latin typeface="Times New Roman" panose="02020603050405020304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  <a:cs typeface="+mn-cs"/>
              </a:rPr>
              <a:t>信息提取：精准提炼关键数据、政策情绪与潜在风险信号。</a:t>
            </a:r>
            <a:endParaRPr lang="en-US" altLang="zh-CN" sz="1200" dirty="0">
              <a:solidFill>
                <a:prstClr val="black"/>
              </a:solidFill>
              <a:latin typeface="Times New Roman" panose="02020603050405020304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  <a:cs typeface="+mn-cs"/>
              </a:rPr>
              <a:t>指数构建：基于分析结果，构建量化的债市情绪指数。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任意多边形 176"/>
          <p:cNvSpPr/>
          <p:nvPr/>
        </p:nvSpPr>
        <p:spPr>
          <a:xfrm>
            <a:off x="4989381" y="2359802"/>
            <a:ext cx="2009775" cy="4061232"/>
          </a:xfrm>
          <a:custGeom>
            <a:avLst/>
            <a:gdLst/>
            <a:ahLst/>
            <a:cxnLst/>
            <a:rect l="0" t="0" r="r" b="b"/>
            <a:pathLst>
              <a:path w="5583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1" y="132"/>
                  <a:pt x="53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7" y="65"/>
                  <a:pt x="123" y="54"/>
                  <a:pt x="141" y="44"/>
                </a:cubicBezTo>
                <a:cubicBezTo>
                  <a:pt x="158" y="35"/>
                  <a:pt x="176" y="26"/>
                  <a:pt x="196" y="20"/>
                </a:cubicBezTo>
                <a:cubicBezTo>
                  <a:pt x="215" y="13"/>
                  <a:pt x="235" y="8"/>
                  <a:pt x="255" y="5"/>
                </a:cubicBezTo>
                <a:cubicBezTo>
                  <a:pt x="276" y="1"/>
                  <a:pt x="296" y="0"/>
                  <a:pt x="317" y="0"/>
                </a:cubicBezTo>
                <a:lnTo>
                  <a:pt x="5266" y="0"/>
                </a:lnTo>
                <a:cubicBezTo>
                  <a:pt x="5287" y="0"/>
                  <a:pt x="5307" y="1"/>
                  <a:pt x="5328" y="5"/>
                </a:cubicBezTo>
                <a:cubicBezTo>
                  <a:pt x="5348" y="8"/>
                  <a:pt x="5368" y="13"/>
                  <a:pt x="5387" y="20"/>
                </a:cubicBezTo>
                <a:cubicBezTo>
                  <a:pt x="5407" y="26"/>
                  <a:pt x="5425" y="35"/>
                  <a:pt x="5442" y="44"/>
                </a:cubicBezTo>
                <a:cubicBezTo>
                  <a:pt x="5459" y="54"/>
                  <a:pt x="5476" y="65"/>
                  <a:pt x="5490" y="77"/>
                </a:cubicBezTo>
                <a:cubicBezTo>
                  <a:pt x="5505" y="89"/>
                  <a:pt x="5518" y="103"/>
                  <a:pt x="5530" y="117"/>
                </a:cubicBezTo>
                <a:cubicBezTo>
                  <a:pt x="5541" y="132"/>
                  <a:pt x="5551" y="147"/>
                  <a:pt x="5559" y="163"/>
                </a:cubicBezTo>
                <a:cubicBezTo>
                  <a:pt x="5567" y="179"/>
                  <a:pt x="5573" y="196"/>
                  <a:pt x="5577" y="213"/>
                </a:cubicBezTo>
                <a:cubicBezTo>
                  <a:pt x="5581" y="230"/>
                  <a:pt x="5583" y="247"/>
                  <a:pt x="5583" y="264"/>
                </a:cubicBezTo>
                <a:lnTo>
                  <a:pt x="5583" y="12648"/>
                </a:lnTo>
                <a:cubicBezTo>
                  <a:pt x="5583" y="12669"/>
                  <a:pt x="5581" y="12689"/>
                  <a:pt x="5577" y="12710"/>
                </a:cubicBezTo>
                <a:cubicBezTo>
                  <a:pt x="5573" y="12730"/>
                  <a:pt x="5567" y="12750"/>
                  <a:pt x="5559" y="12769"/>
                </a:cubicBezTo>
                <a:cubicBezTo>
                  <a:pt x="5551" y="12788"/>
                  <a:pt x="5541" y="12807"/>
                  <a:pt x="5530" y="12824"/>
                </a:cubicBezTo>
                <a:cubicBezTo>
                  <a:pt x="5518" y="12841"/>
                  <a:pt x="5505" y="12857"/>
                  <a:pt x="5490" y="12872"/>
                </a:cubicBezTo>
                <a:cubicBezTo>
                  <a:pt x="5476" y="12887"/>
                  <a:pt x="5459" y="12900"/>
                  <a:pt x="5442" y="12912"/>
                </a:cubicBezTo>
                <a:cubicBezTo>
                  <a:pt x="5425" y="12923"/>
                  <a:pt x="5407" y="12933"/>
                  <a:pt x="5387" y="12941"/>
                </a:cubicBezTo>
                <a:cubicBezTo>
                  <a:pt x="5368" y="12949"/>
                  <a:pt x="5348" y="12955"/>
                  <a:pt x="5328" y="12959"/>
                </a:cubicBezTo>
                <a:cubicBezTo>
                  <a:pt x="5307" y="12963"/>
                  <a:pt x="5287" y="12965"/>
                  <a:pt x="5266" y="12965"/>
                </a:cubicBezTo>
                <a:lnTo>
                  <a:pt x="317" y="12965"/>
                </a:lnTo>
                <a:cubicBezTo>
                  <a:pt x="296" y="12965"/>
                  <a:pt x="276" y="12963"/>
                  <a:pt x="255" y="12959"/>
                </a:cubicBezTo>
                <a:cubicBezTo>
                  <a:pt x="235" y="12955"/>
                  <a:pt x="215" y="12949"/>
                  <a:pt x="196" y="12941"/>
                </a:cubicBezTo>
                <a:cubicBezTo>
                  <a:pt x="176" y="12933"/>
                  <a:pt x="158" y="12923"/>
                  <a:pt x="141" y="12912"/>
                </a:cubicBezTo>
                <a:cubicBezTo>
                  <a:pt x="123" y="12900"/>
                  <a:pt x="107" y="12887"/>
                  <a:pt x="93" y="12872"/>
                </a:cubicBezTo>
                <a:cubicBezTo>
                  <a:pt x="78" y="12857"/>
                  <a:pt x="65" y="12841"/>
                  <a:pt x="53" y="12824"/>
                </a:cubicBezTo>
                <a:cubicBezTo>
                  <a:pt x="41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任意多边形 177"/>
          <p:cNvSpPr/>
          <p:nvPr/>
        </p:nvSpPr>
        <p:spPr>
          <a:xfrm>
            <a:off x="4989366" y="2245441"/>
            <a:ext cx="2009880" cy="114480"/>
          </a:xfrm>
          <a:custGeom>
            <a:avLst/>
            <a:gdLst/>
            <a:ahLst/>
            <a:cxnLst/>
            <a:rect l="0" t="0" r="r" b="b"/>
            <a:pathLst>
              <a:path w="5583" h="318">
                <a:moveTo>
                  <a:pt x="0" y="0"/>
                </a:moveTo>
                <a:lnTo>
                  <a:pt x="5583" y="0"/>
                </a:lnTo>
                <a:lnTo>
                  <a:pt x="5583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34" name="任意多边形 178"/>
          <p:cNvSpPr/>
          <p:nvPr/>
        </p:nvSpPr>
        <p:spPr>
          <a:xfrm>
            <a:off x="5779926" y="2386467"/>
            <a:ext cx="428760" cy="343080"/>
          </a:xfrm>
          <a:custGeom>
            <a:avLst/>
            <a:gdLst/>
            <a:ahLst/>
            <a:cxnLst/>
            <a:rect l="0" t="0" r="r" b="b"/>
            <a:pathLst>
              <a:path w="1191" h="953">
                <a:moveTo>
                  <a:pt x="326" y="725"/>
                </a:moveTo>
                <a:cubicBezTo>
                  <a:pt x="308" y="755"/>
                  <a:pt x="298" y="789"/>
                  <a:pt x="298" y="824"/>
                </a:cubicBezTo>
                <a:cubicBezTo>
                  <a:pt x="280" y="831"/>
                  <a:pt x="260" y="834"/>
                  <a:pt x="239" y="834"/>
                </a:cubicBezTo>
                <a:cubicBezTo>
                  <a:pt x="140" y="834"/>
                  <a:pt x="60" y="754"/>
                  <a:pt x="60" y="656"/>
                </a:cubicBezTo>
                <a:lnTo>
                  <a:pt x="60" y="120"/>
                </a:lnTo>
                <a:cubicBezTo>
                  <a:pt x="27" y="120"/>
                  <a:pt x="0" y="93"/>
                  <a:pt x="0" y="60"/>
                </a:cubicBezTo>
                <a:cubicBezTo>
                  <a:pt x="0" y="27"/>
                  <a:pt x="27" y="0"/>
                  <a:pt x="60" y="0"/>
                </a:cubicBezTo>
                <a:lnTo>
                  <a:pt x="179" y="0"/>
                </a:lnTo>
                <a:lnTo>
                  <a:pt x="298" y="0"/>
                </a:lnTo>
                <a:lnTo>
                  <a:pt x="417" y="0"/>
                </a:lnTo>
                <a:cubicBezTo>
                  <a:pt x="450" y="0"/>
                  <a:pt x="477" y="27"/>
                  <a:pt x="477" y="60"/>
                </a:cubicBezTo>
                <a:cubicBezTo>
                  <a:pt x="477" y="93"/>
                  <a:pt x="450" y="120"/>
                  <a:pt x="417" y="120"/>
                </a:cubicBezTo>
                <a:lnTo>
                  <a:pt x="417" y="577"/>
                </a:lnTo>
                <a:lnTo>
                  <a:pt x="326" y="725"/>
                </a:lnTo>
                <a:moveTo>
                  <a:pt x="179" y="120"/>
                </a:moveTo>
                <a:lnTo>
                  <a:pt x="179" y="298"/>
                </a:lnTo>
                <a:lnTo>
                  <a:pt x="298" y="298"/>
                </a:lnTo>
                <a:lnTo>
                  <a:pt x="298" y="120"/>
                </a:lnTo>
                <a:lnTo>
                  <a:pt x="179" y="120"/>
                </a:lnTo>
                <a:moveTo>
                  <a:pt x="655" y="0"/>
                </a:moveTo>
                <a:lnTo>
                  <a:pt x="894" y="0"/>
                </a:lnTo>
                <a:lnTo>
                  <a:pt x="953" y="0"/>
                </a:lnTo>
                <a:cubicBezTo>
                  <a:pt x="986" y="0"/>
                  <a:pt x="1013" y="27"/>
                  <a:pt x="1013" y="60"/>
                </a:cubicBezTo>
                <a:cubicBezTo>
                  <a:pt x="1013" y="93"/>
                  <a:pt x="986" y="120"/>
                  <a:pt x="953" y="120"/>
                </a:cubicBezTo>
                <a:lnTo>
                  <a:pt x="953" y="401"/>
                </a:lnTo>
                <a:lnTo>
                  <a:pt x="1172" y="756"/>
                </a:lnTo>
                <a:cubicBezTo>
                  <a:pt x="1185" y="777"/>
                  <a:pt x="1191" y="800"/>
                  <a:pt x="1191" y="824"/>
                </a:cubicBezTo>
                <a:cubicBezTo>
                  <a:pt x="1191" y="895"/>
                  <a:pt x="1133" y="953"/>
                  <a:pt x="1062" y="953"/>
                </a:cubicBezTo>
                <a:lnTo>
                  <a:pt x="487" y="953"/>
                </a:lnTo>
                <a:cubicBezTo>
                  <a:pt x="416" y="953"/>
                  <a:pt x="358" y="895"/>
                  <a:pt x="358" y="824"/>
                </a:cubicBezTo>
                <a:cubicBezTo>
                  <a:pt x="358" y="800"/>
                  <a:pt x="364" y="777"/>
                  <a:pt x="377" y="756"/>
                </a:cubicBezTo>
                <a:lnTo>
                  <a:pt x="596" y="401"/>
                </a:lnTo>
                <a:lnTo>
                  <a:pt x="596" y="120"/>
                </a:lnTo>
                <a:cubicBezTo>
                  <a:pt x="563" y="120"/>
                  <a:pt x="536" y="93"/>
                  <a:pt x="536" y="60"/>
                </a:cubicBezTo>
                <a:cubicBezTo>
                  <a:pt x="536" y="27"/>
                  <a:pt x="563" y="0"/>
                  <a:pt x="596" y="0"/>
                </a:cubicBezTo>
                <a:lnTo>
                  <a:pt x="655" y="0"/>
                </a:lnTo>
                <a:moveTo>
                  <a:pt x="715" y="120"/>
                </a:moveTo>
                <a:lnTo>
                  <a:pt x="715" y="418"/>
                </a:lnTo>
                <a:cubicBezTo>
                  <a:pt x="715" y="428"/>
                  <a:pt x="712" y="439"/>
                  <a:pt x="706" y="449"/>
                </a:cubicBezTo>
                <a:lnTo>
                  <a:pt x="615" y="596"/>
                </a:lnTo>
                <a:lnTo>
                  <a:pt x="934" y="596"/>
                </a:lnTo>
                <a:lnTo>
                  <a:pt x="843" y="449"/>
                </a:lnTo>
                <a:cubicBezTo>
                  <a:pt x="837" y="439"/>
                  <a:pt x="834" y="429"/>
                  <a:pt x="834" y="418"/>
                </a:cubicBezTo>
                <a:lnTo>
                  <a:pt x="834" y="120"/>
                </a:lnTo>
                <a:lnTo>
                  <a:pt x="715" y="120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09547" y="2832272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智能决策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035736" y="3235702"/>
            <a:ext cx="18478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从洞察到策略：将深度投研洞察，转化为具有前瞻性的投资策略。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科学决策过程：运用固收量化模型与多情景模拟，科学制定资产配置方案。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最终价值：全面提升投资决策的效能与精准度。</a:t>
            </a:r>
          </a:p>
        </p:txBody>
      </p:sp>
      <p:sp>
        <p:nvSpPr>
          <p:cNvPr id="38" name="任意多边形 182"/>
          <p:cNvSpPr/>
          <p:nvPr/>
        </p:nvSpPr>
        <p:spPr>
          <a:xfrm>
            <a:off x="7522152" y="2359802"/>
            <a:ext cx="2019300" cy="4061232"/>
          </a:xfrm>
          <a:custGeom>
            <a:avLst/>
            <a:gdLst/>
            <a:ahLst/>
            <a:cxnLst/>
            <a:rect l="0" t="0" r="r" b="b"/>
            <a:pathLst>
              <a:path w="5610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4" y="163"/>
                </a:cubicBezTo>
                <a:cubicBezTo>
                  <a:pt x="32" y="147"/>
                  <a:pt x="42" y="132"/>
                  <a:pt x="54" y="117"/>
                </a:cubicBezTo>
                <a:cubicBezTo>
                  <a:pt x="65" y="103"/>
                  <a:pt x="78" y="89"/>
                  <a:pt x="93" y="77"/>
                </a:cubicBezTo>
                <a:cubicBezTo>
                  <a:pt x="108" y="65"/>
                  <a:pt x="124" y="54"/>
                  <a:pt x="141" y="44"/>
                </a:cubicBezTo>
                <a:cubicBezTo>
                  <a:pt x="159" y="35"/>
                  <a:pt x="177" y="26"/>
                  <a:pt x="196" y="20"/>
                </a:cubicBezTo>
                <a:cubicBezTo>
                  <a:pt x="216" y="13"/>
                  <a:pt x="235" y="8"/>
                  <a:pt x="256" y="5"/>
                </a:cubicBezTo>
                <a:cubicBezTo>
                  <a:pt x="276" y="1"/>
                  <a:pt x="297" y="0"/>
                  <a:pt x="318" y="0"/>
                </a:cubicBezTo>
                <a:lnTo>
                  <a:pt x="5292" y="0"/>
                </a:lnTo>
                <a:cubicBezTo>
                  <a:pt x="5313" y="0"/>
                  <a:pt x="5333" y="1"/>
                  <a:pt x="5354" y="5"/>
                </a:cubicBezTo>
                <a:cubicBezTo>
                  <a:pt x="5374" y="8"/>
                  <a:pt x="5394" y="13"/>
                  <a:pt x="5413" y="20"/>
                </a:cubicBezTo>
                <a:cubicBezTo>
                  <a:pt x="5433" y="26"/>
                  <a:pt x="5451" y="35"/>
                  <a:pt x="5468" y="44"/>
                </a:cubicBezTo>
                <a:cubicBezTo>
                  <a:pt x="5486" y="54"/>
                  <a:pt x="5502" y="65"/>
                  <a:pt x="5517" y="77"/>
                </a:cubicBezTo>
                <a:cubicBezTo>
                  <a:pt x="5532" y="89"/>
                  <a:pt x="5545" y="103"/>
                  <a:pt x="5557" y="117"/>
                </a:cubicBezTo>
                <a:cubicBezTo>
                  <a:pt x="5568" y="132"/>
                  <a:pt x="5578" y="147"/>
                  <a:pt x="5586" y="163"/>
                </a:cubicBezTo>
                <a:cubicBezTo>
                  <a:pt x="5594" y="179"/>
                  <a:pt x="5600" y="196"/>
                  <a:pt x="5604" y="213"/>
                </a:cubicBezTo>
                <a:cubicBezTo>
                  <a:pt x="5608" y="230"/>
                  <a:pt x="5610" y="247"/>
                  <a:pt x="5610" y="264"/>
                </a:cubicBezTo>
                <a:lnTo>
                  <a:pt x="5610" y="12648"/>
                </a:lnTo>
                <a:cubicBezTo>
                  <a:pt x="5610" y="12669"/>
                  <a:pt x="5608" y="12689"/>
                  <a:pt x="5604" y="12710"/>
                </a:cubicBezTo>
                <a:cubicBezTo>
                  <a:pt x="5600" y="12730"/>
                  <a:pt x="5594" y="12750"/>
                  <a:pt x="5586" y="12769"/>
                </a:cubicBezTo>
                <a:cubicBezTo>
                  <a:pt x="5578" y="12788"/>
                  <a:pt x="5568" y="12807"/>
                  <a:pt x="5557" y="12824"/>
                </a:cubicBezTo>
                <a:cubicBezTo>
                  <a:pt x="5545" y="12841"/>
                  <a:pt x="5532" y="12857"/>
                  <a:pt x="5517" y="12872"/>
                </a:cubicBezTo>
                <a:cubicBezTo>
                  <a:pt x="5502" y="12887"/>
                  <a:pt x="5486" y="12900"/>
                  <a:pt x="5468" y="12912"/>
                </a:cubicBezTo>
                <a:cubicBezTo>
                  <a:pt x="5451" y="12923"/>
                  <a:pt x="5433" y="12933"/>
                  <a:pt x="5413" y="12941"/>
                </a:cubicBezTo>
                <a:cubicBezTo>
                  <a:pt x="5394" y="12949"/>
                  <a:pt x="5374" y="12955"/>
                  <a:pt x="5354" y="12959"/>
                </a:cubicBezTo>
                <a:cubicBezTo>
                  <a:pt x="5333" y="12963"/>
                  <a:pt x="5313" y="12965"/>
                  <a:pt x="5292" y="12965"/>
                </a:cubicBezTo>
                <a:lnTo>
                  <a:pt x="318" y="12965"/>
                </a:lnTo>
                <a:cubicBezTo>
                  <a:pt x="297" y="12965"/>
                  <a:pt x="276" y="12963"/>
                  <a:pt x="256" y="12959"/>
                </a:cubicBezTo>
                <a:cubicBezTo>
                  <a:pt x="235" y="12955"/>
                  <a:pt x="216" y="12949"/>
                  <a:pt x="196" y="12941"/>
                </a:cubicBezTo>
                <a:cubicBezTo>
                  <a:pt x="177" y="12933"/>
                  <a:pt x="159" y="12923"/>
                  <a:pt x="141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8" y="12857"/>
                  <a:pt x="65" y="12841"/>
                  <a:pt x="54" y="12824"/>
                </a:cubicBezTo>
                <a:cubicBezTo>
                  <a:pt x="42" y="12807"/>
                  <a:pt x="32" y="12788"/>
                  <a:pt x="24" y="12769"/>
                </a:cubicBezTo>
                <a:cubicBezTo>
                  <a:pt x="16" y="12750"/>
                  <a:pt x="10" y="12730"/>
                  <a:pt x="6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任意多边形 183"/>
          <p:cNvSpPr/>
          <p:nvPr/>
        </p:nvSpPr>
        <p:spPr>
          <a:xfrm>
            <a:off x="7521882" y="2245441"/>
            <a:ext cx="2019600" cy="114480"/>
          </a:xfrm>
          <a:custGeom>
            <a:avLst/>
            <a:gdLst/>
            <a:ahLst/>
            <a:cxnLst/>
            <a:rect l="0" t="0" r="r" b="b"/>
            <a:pathLst>
              <a:path w="5610" h="318">
                <a:moveTo>
                  <a:pt x="0" y="0"/>
                </a:moveTo>
                <a:lnTo>
                  <a:pt x="5610" y="0"/>
                </a:lnTo>
                <a:lnTo>
                  <a:pt x="5610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813536" y="2855918"/>
            <a:ext cx="1436291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智能优化债券交易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564062" y="3245862"/>
            <a:ext cx="18478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核心方法：通过动态评估流动性与智能匹配路径，优化交易决策。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实现基础：整合实时市场数据，确保决策的前瞻性与科学性。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4" name="任意多边形 188"/>
          <p:cNvSpPr/>
          <p:nvPr/>
        </p:nvSpPr>
        <p:spPr>
          <a:xfrm>
            <a:off x="9943084" y="2359802"/>
            <a:ext cx="2010410" cy="4061232"/>
          </a:xfrm>
          <a:custGeom>
            <a:avLst/>
            <a:gdLst/>
            <a:ahLst/>
            <a:cxnLst/>
            <a:rect l="0" t="0" r="r" b="b"/>
            <a:pathLst>
              <a:path w="5584" h="12965">
                <a:moveTo>
                  <a:pt x="0" y="12648"/>
                </a:moveTo>
                <a:lnTo>
                  <a:pt x="0" y="264"/>
                </a:lnTo>
                <a:cubicBezTo>
                  <a:pt x="0" y="247"/>
                  <a:pt x="2" y="230"/>
                  <a:pt x="7" y="213"/>
                </a:cubicBezTo>
                <a:cubicBezTo>
                  <a:pt x="11" y="196"/>
                  <a:pt x="17" y="179"/>
                  <a:pt x="25" y="163"/>
                </a:cubicBezTo>
                <a:cubicBezTo>
                  <a:pt x="33" y="147"/>
                  <a:pt x="42" y="132"/>
                  <a:pt x="54" y="117"/>
                </a:cubicBezTo>
                <a:cubicBezTo>
                  <a:pt x="66" y="103"/>
                  <a:pt x="79" y="89"/>
                  <a:pt x="93" y="77"/>
                </a:cubicBezTo>
                <a:cubicBezTo>
                  <a:pt x="108" y="65"/>
                  <a:pt x="124" y="54"/>
                  <a:pt x="142" y="44"/>
                </a:cubicBezTo>
                <a:cubicBezTo>
                  <a:pt x="159" y="35"/>
                  <a:pt x="177" y="26"/>
                  <a:pt x="196" y="20"/>
                </a:cubicBezTo>
                <a:cubicBezTo>
                  <a:pt x="216" y="13"/>
                  <a:pt x="236" y="8"/>
                  <a:pt x="256" y="5"/>
                </a:cubicBezTo>
                <a:cubicBezTo>
                  <a:pt x="276" y="1"/>
                  <a:pt x="297" y="0"/>
                  <a:pt x="318" y="0"/>
                </a:cubicBezTo>
                <a:lnTo>
                  <a:pt x="5267" y="0"/>
                </a:lnTo>
                <a:cubicBezTo>
                  <a:pt x="5287" y="0"/>
                  <a:pt x="5308" y="1"/>
                  <a:pt x="5329" y="5"/>
                </a:cubicBezTo>
                <a:cubicBezTo>
                  <a:pt x="5349" y="8"/>
                  <a:pt x="5369" y="13"/>
                  <a:pt x="5388" y="20"/>
                </a:cubicBezTo>
                <a:cubicBezTo>
                  <a:pt x="5407" y="26"/>
                  <a:pt x="5426" y="35"/>
                  <a:pt x="5443" y="44"/>
                </a:cubicBezTo>
                <a:cubicBezTo>
                  <a:pt x="5460" y="54"/>
                  <a:pt x="5476" y="65"/>
                  <a:pt x="5491" y="77"/>
                </a:cubicBezTo>
                <a:cubicBezTo>
                  <a:pt x="5506" y="89"/>
                  <a:pt x="5519" y="103"/>
                  <a:pt x="5531" y="117"/>
                </a:cubicBezTo>
                <a:cubicBezTo>
                  <a:pt x="5542" y="132"/>
                  <a:pt x="5552" y="147"/>
                  <a:pt x="5560" y="163"/>
                </a:cubicBezTo>
                <a:cubicBezTo>
                  <a:pt x="5568" y="179"/>
                  <a:pt x="5574" y="196"/>
                  <a:pt x="5578" y="213"/>
                </a:cubicBezTo>
                <a:cubicBezTo>
                  <a:pt x="5582" y="230"/>
                  <a:pt x="5584" y="247"/>
                  <a:pt x="5584" y="264"/>
                </a:cubicBezTo>
                <a:lnTo>
                  <a:pt x="5584" y="12648"/>
                </a:lnTo>
                <a:cubicBezTo>
                  <a:pt x="5584" y="12669"/>
                  <a:pt x="5582" y="12689"/>
                  <a:pt x="5578" y="12710"/>
                </a:cubicBezTo>
                <a:cubicBezTo>
                  <a:pt x="5574" y="12730"/>
                  <a:pt x="5568" y="12750"/>
                  <a:pt x="5560" y="12769"/>
                </a:cubicBezTo>
                <a:cubicBezTo>
                  <a:pt x="5552" y="12788"/>
                  <a:pt x="5542" y="12807"/>
                  <a:pt x="5531" y="12824"/>
                </a:cubicBezTo>
                <a:cubicBezTo>
                  <a:pt x="5519" y="12841"/>
                  <a:pt x="5506" y="12857"/>
                  <a:pt x="5491" y="12872"/>
                </a:cubicBezTo>
                <a:cubicBezTo>
                  <a:pt x="5476" y="12887"/>
                  <a:pt x="5460" y="12900"/>
                  <a:pt x="5443" y="12912"/>
                </a:cubicBezTo>
                <a:cubicBezTo>
                  <a:pt x="5426" y="12923"/>
                  <a:pt x="5407" y="12933"/>
                  <a:pt x="5388" y="12941"/>
                </a:cubicBezTo>
                <a:cubicBezTo>
                  <a:pt x="5369" y="12949"/>
                  <a:pt x="5349" y="12955"/>
                  <a:pt x="5329" y="12959"/>
                </a:cubicBezTo>
                <a:cubicBezTo>
                  <a:pt x="5308" y="12963"/>
                  <a:pt x="5287" y="12965"/>
                  <a:pt x="5267" y="12965"/>
                </a:cubicBezTo>
                <a:lnTo>
                  <a:pt x="318" y="12965"/>
                </a:lnTo>
                <a:cubicBezTo>
                  <a:pt x="297" y="12965"/>
                  <a:pt x="276" y="12963"/>
                  <a:pt x="256" y="12959"/>
                </a:cubicBezTo>
                <a:cubicBezTo>
                  <a:pt x="236" y="12955"/>
                  <a:pt x="216" y="12949"/>
                  <a:pt x="196" y="12941"/>
                </a:cubicBezTo>
                <a:cubicBezTo>
                  <a:pt x="177" y="12933"/>
                  <a:pt x="159" y="12923"/>
                  <a:pt x="142" y="12912"/>
                </a:cubicBezTo>
                <a:cubicBezTo>
                  <a:pt x="124" y="12900"/>
                  <a:pt x="108" y="12887"/>
                  <a:pt x="93" y="12872"/>
                </a:cubicBezTo>
                <a:cubicBezTo>
                  <a:pt x="79" y="12857"/>
                  <a:pt x="66" y="12841"/>
                  <a:pt x="54" y="12824"/>
                </a:cubicBezTo>
                <a:cubicBezTo>
                  <a:pt x="42" y="12807"/>
                  <a:pt x="33" y="12788"/>
                  <a:pt x="25" y="12769"/>
                </a:cubicBezTo>
                <a:cubicBezTo>
                  <a:pt x="17" y="12750"/>
                  <a:pt x="11" y="12730"/>
                  <a:pt x="7" y="12710"/>
                </a:cubicBezTo>
                <a:cubicBezTo>
                  <a:pt x="2" y="12689"/>
                  <a:pt x="0" y="12669"/>
                  <a:pt x="0" y="12648"/>
                </a:cubicBezTo>
                <a:close/>
              </a:path>
            </a:pathLst>
          </a:custGeom>
          <a:solidFill>
            <a:srgbClr val="F0F4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任意多边形 189"/>
          <p:cNvSpPr/>
          <p:nvPr/>
        </p:nvSpPr>
        <p:spPr>
          <a:xfrm>
            <a:off x="9943389" y="2245441"/>
            <a:ext cx="2010240" cy="114480"/>
          </a:xfrm>
          <a:custGeom>
            <a:avLst/>
            <a:gdLst/>
            <a:ahLst/>
            <a:cxnLst/>
            <a:rect l="0" t="0" r="r" b="b"/>
            <a:pathLst>
              <a:path w="5584" h="318">
                <a:moveTo>
                  <a:pt x="0" y="0"/>
                </a:moveTo>
                <a:lnTo>
                  <a:pt x="5584" y="0"/>
                </a:lnTo>
                <a:lnTo>
                  <a:pt x="5584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defTabSz="914400"/>
            <a:endParaRPr lang="en-US" sz="2400">
              <a:solidFill>
                <a:srgbClr val="FFFFFF"/>
              </a:solidFill>
              <a:latin typeface="Times New Roman" panose="02020603050405020304"/>
              <a:ea typeface="微软雅黑" panose="020B0503020204020204" pitchFamily="34" charset="-122"/>
            </a:endParaRPr>
          </a:p>
        </p:txBody>
      </p:sp>
      <p:sp>
        <p:nvSpPr>
          <p:cNvPr id="46" name="任意多边形 190"/>
          <p:cNvSpPr/>
          <p:nvPr/>
        </p:nvSpPr>
        <p:spPr>
          <a:xfrm>
            <a:off x="10733949" y="2386467"/>
            <a:ext cx="429120" cy="343080"/>
          </a:xfrm>
          <a:custGeom>
            <a:avLst/>
            <a:gdLst/>
            <a:ahLst/>
            <a:cxnLst/>
            <a:rect l="0" t="0" r="r" b="b"/>
            <a:pathLst>
              <a:path w="1192" h="953">
                <a:moveTo>
                  <a:pt x="596" y="0"/>
                </a:moveTo>
                <a:cubicBezTo>
                  <a:pt x="629" y="0"/>
                  <a:pt x="656" y="27"/>
                  <a:pt x="656" y="60"/>
                </a:cubicBezTo>
                <a:lnTo>
                  <a:pt x="656" y="179"/>
                </a:lnTo>
                <a:lnTo>
                  <a:pt x="880" y="179"/>
                </a:lnTo>
                <a:cubicBezTo>
                  <a:pt x="954" y="179"/>
                  <a:pt x="1013" y="239"/>
                  <a:pt x="1013" y="313"/>
                </a:cubicBezTo>
                <a:lnTo>
                  <a:pt x="1013" y="819"/>
                </a:lnTo>
                <a:cubicBezTo>
                  <a:pt x="1013" y="893"/>
                  <a:pt x="954" y="953"/>
                  <a:pt x="880" y="953"/>
                </a:cubicBezTo>
                <a:lnTo>
                  <a:pt x="313" y="953"/>
                </a:lnTo>
                <a:cubicBezTo>
                  <a:pt x="239" y="953"/>
                  <a:pt x="179" y="893"/>
                  <a:pt x="179" y="819"/>
                </a:cubicBezTo>
                <a:lnTo>
                  <a:pt x="179" y="313"/>
                </a:lnTo>
                <a:cubicBezTo>
                  <a:pt x="179" y="239"/>
                  <a:pt x="239" y="179"/>
                  <a:pt x="313" y="179"/>
                </a:cubicBezTo>
                <a:lnTo>
                  <a:pt x="536" y="179"/>
                </a:lnTo>
                <a:lnTo>
                  <a:pt x="536" y="60"/>
                </a:lnTo>
                <a:cubicBezTo>
                  <a:pt x="536" y="27"/>
                  <a:pt x="563" y="0"/>
                  <a:pt x="596" y="0"/>
                </a:cubicBezTo>
                <a:moveTo>
                  <a:pt x="387" y="715"/>
                </a:moveTo>
                <a:cubicBezTo>
                  <a:pt x="371" y="715"/>
                  <a:pt x="358" y="729"/>
                  <a:pt x="358" y="745"/>
                </a:cubicBezTo>
                <a:cubicBezTo>
                  <a:pt x="358" y="761"/>
                  <a:pt x="371" y="775"/>
                  <a:pt x="387" y="775"/>
                </a:cubicBezTo>
                <a:lnTo>
                  <a:pt x="447" y="775"/>
                </a:lnTo>
                <a:cubicBezTo>
                  <a:pt x="463" y="775"/>
                  <a:pt x="477" y="761"/>
                  <a:pt x="477" y="745"/>
                </a:cubicBezTo>
                <a:cubicBezTo>
                  <a:pt x="477" y="729"/>
                  <a:pt x="463" y="715"/>
                  <a:pt x="447" y="715"/>
                </a:cubicBezTo>
                <a:lnTo>
                  <a:pt x="387" y="715"/>
                </a:lnTo>
                <a:moveTo>
                  <a:pt x="566" y="715"/>
                </a:moveTo>
                <a:cubicBezTo>
                  <a:pt x="550" y="715"/>
                  <a:pt x="536" y="729"/>
                  <a:pt x="536" y="745"/>
                </a:cubicBezTo>
                <a:cubicBezTo>
                  <a:pt x="536" y="761"/>
                  <a:pt x="550" y="775"/>
                  <a:pt x="566" y="775"/>
                </a:cubicBezTo>
                <a:lnTo>
                  <a:pt x="626" y="775"/>
                </a:lnTo>
                <a:cubicBezTo>
                  <a:pt x="643" y="775"/>
                  <a:pt x="656" y="761"/>
                  <a:pt x="656" y="745"/>
                </a:cubicBezTo>
                <a:cubicBezTo>
                  <a:pt x="656" y="729"/>
                  <a:pt x="643" y="715"/>
                  <a:pt x="626" y="715"/>
                </a:cubicBezTo>
                <a:lnTo>
                  <a:pt x="566" y="715"/>
                </a:lnTo>
                <a:moveTo>
                  <a:pt x="746" y="715"/>
                </a:moveTo>
                <a:cubicBezTo>
                  <a:pt x="729" y="715"/>
                  <a:pt x="716" y="729"/>
                  <a:pt x="716" y="745"/>
                </a:cubicBezTo>
                <a:cubicBezTo>
                  <a:pt x="716" y="761"/>
                  <a:pt x="729" y="775"/>
                  <a:pt x="746" y="775"/>
                </a:cubicBezTo>
                <a:lnTo>
                  <a:pt x="805" y="775"/>
                </a:lnTo>
                <a:cubicBezTo>
                  <a:pt x="822" y="775"/>
                  <a:pt x="835" y="761"/>
                  <a:pt x="835" y="745"/>
                </a:cubicBezTo>
                <a:cubicBezTo>
                  <a:pt x="835" y="729"/>
                  <a:pt x="822" y="715"/>
                  <a:pt x="805" y="715"/>
                </a:cubicBezTo>
                <a:lnTo>
                  <a:pt x="746" y="715"/>
                </a:lnTo>
                <a:moveTo>
                  <a:pt x="492" y="477"/>
                </a:moveTo>
                <a:cubicBezTo>
                  <a:pt x="492" y="467"/>
                  <a:pt x="490" y="458"/>
                  <a:pt x="486" y="449"/>
                </a:cubicBezTo>
                <a:cubicBezTo>
                  <a:pt x="482" y="439"/>
                  <a:pt x="477" y="431"/>
                  <a:pt x="470" y="424"/>
                </a:cubicBezTo>
                <a:cubicBezTo>
                  <a:pt x="463" y="417"/>
                  <a:pt x="455" y="412"/>
                  <a:pt x="446" y="408"/>
                </a:cubicBezTo>
                <a:cubicBezTo>
                  <a:pt x="437" y="405"/>
                  <a:pt x="427" y="403"/>
                  <a:pt x="417" y="403"/>
                </a:cubicBezTo>
                <a:cubicBezTo>
                  <a:pt x="407" y="403"/>
                  <a:pt x="398" y="405"/>
                  <a:pt x="389" y="408"/>
                </a:cubicBezTo>
                <a:cubicBezTo>
                  <a:pt x="380" y="412"/>
                  <a:pt x="372" y="417"/>
                  <a:pt x="365" y="424"/>
                </a:cubicBezTo>
                <a:cubicBezTo>
                  <a:pt x="358" y="431"/>
                  <a:pt x="352" y="439"/>
                  <a:pt x="348" y="449"/>
                </a:cubicBezTo>
                <a:cubicBezTo>
                  <a:pt x="345" y="458"/>
                  <a:pt x="343" y="467"/>
                  <a:pt x="343" y="477"/>
                </a:cubicBezTo>
                <a:cubicBezTo>
                  <a:pt x="343" y="487"/>
                  <a:pt x="345" y="496"/>
                  <a:pt x="348" y="506"/>
                </a:cubicBezTo>
                <a:cubicBezTo>
                  <a:pt x="352" y="515"/>
                  <a:pt x="358" y="523"/>
                  <a:pt x="365" y="530"/>
                </a:cubicBezTo>
                <a:cubicBezTo>
                  <a:pt x="372" y="537"/>
                  <a:pt x="380" y="542"/>
                  <a:pt x="389" y="546"/>
                </a:cubicBezTo>
                <a:cubicBezTo>
                  <a:pt x="398" y="550"/>
                  <a:pt x="407" y="551"/>
                  <a:pt x="417" y="551"/>
                </a:cubicBezTo>
                <a:cubicBezTo>
                  <a:pt x="427" y="551"/>
                  <a:pt x="437" y="550"/>
                  <a:pt x="446" y="546"/>
                </a:cubicBezTo>
                <a:cubicBezTo>
                  <a:pt x="455" y="542"/>
                  <a:pt x="463" y="537"/>
                  <a:pt x="470" y="530"/>
                </a:cubicBezTo>
                <a:cubicBezTo>
                  <a:pt x="477" y="523"/>
                  <a:pt x="482" y="515"/>
                  <a:pt x="486" y="506"/>
                </a:cubicBezTo>
                <a:cubicBezTo>
                  <a:pt x="490" y="496"/>
                  <a:pt x="492" y="487"/>
                  <a:pt x="492" y="477"/>
                </a:cubicBezTo>
                <a:moveTo>
                  <a:pt x="775" y="551"/>
                </a:moveTo>
                <a:cubicBezTo>
                  <a:pt x="785" y="551"/>
                  <a:pt x="795" y="550"/>
                  <a:pt x="804" y="546"/>
                </a:cubicBezTo>
                <a:cubicBezTo>
                  <a:pt x="813" y="542"/>
                  <a:pt x="821" y="537"/>
                  <a:pt x="828" y="530"/>
                </a:cubicBezTo>
                <a:cubicBezTo>
                  <a:pt x="835" y="523"/>
                  <a:pt x="840" y="515"/>
                  <a:pt x="844" y="506"/>
                </a:cubicBezTo>
                <a:cubicBezTo>
                  <a:pt x="848" y="496"/>
                  <a:pt x="850" y="487"/>
                  <a:pt x="850" y="477"/>
                </a:cubicBezTo>
                <a:cubicBezTo>
                  <a:pt x="850" y="467"/>
                  <a:pt x="848" y="458"/>
                  <a:pt x="844" y="449"/>
                </a:cubicBezTo>
                <a:cubicBezTo>
                  <a:pt x="840" y="439"/>
                  <a:pt x="835" y="431"/>
                  <a:pt x="828" y="424"/>
                </a:cubicBezTo>
                <a:cubicBezTo>
                  <a:pt x="821" y="417"/>
                  <a:pt x="813" y="412"/>
                  <a:pt x="804" y="408"/>
                </a:cubicBezTo>
                <a:cubicBezTo>
                  <a:pt x="795" y="405"/>
                  <a:pt x="785" y="403"/>
                  <a:pt x="775" y="403"/>
                </a:cubicBezTo>
                <a:cubicBezTo>
                  <a:pt x="765" y="403"/>
                  <a:pt x="756" y="405"/>
                  <a:pt x="747" y="408"/>
                </a:cubicBezTo>
                <a:cubicBezTo>
                  <a:pt x="738" y="412"/>
                  <a:pt x="730" y="417"/>
                  <a:pt x="723" y="424"/>
                </a:cubicBezTo>
                <a:cubicBezTo>
                  <a:pt x="716" y="431"/>
                  <a:pt x="710" y="439"/>
                  <a:pt x="707" y="449"/>
                </a:cubicBezTo>
                <a:cubicBezTo>
                  <a:pt x="703" y="458"/>
                  <a:pt x="701" y="467"/>
                  <a:pt x="701" y="477"/>
                </a:cubicBezTo>
                <a:cubicBezTo>
                  <a:pt x="701" y="487"/>
                  <a:pt x="703" y="496"/>
                  <a:pt x="707" y="506"/>
                </a:cubicBezTo>
                <a:cubicBezTo>
                  <a:pt x="710" y="515"/>
                  <a:pt x="716" y="523"/>
                  <a:pt x="723" y="530"/>
                </a:cubicBezTo>
                <a:cubicBezTo>
                  <a:pt x="730" y="537"/>
                  <a:pt x="738" y="542"/>
                  <a:pt x="747" y="546"/>
                </a:cubicBezTo>
                <a:cubicBezTo>
                  <a:pt x="756" y="550"/>
                  <a:pt x="765" y="551"/>
                  <a:pt x="775" y="551"/>
                </a:cubicBezTo>
                <a:moveTo>
                  <a:pt x="90" y="418"/>
                </a:moveTo>
                <a:lnTo>
                  <a:pt x="120" y="418"/>
                </a:lnTo>
                <a:lnTo>
                  <a:pt x="120" y="775"/>
                </a:lnTo>
                <a:lnTo>
                  <a:pt x="90" y="775"/>
                </a:lnTo>
                <a:cubicBezTo>
                  <a:pt x="40" y="775"/>
                  <a:pt x="0" y="735"/>
                  <a:pt x="0" y="685"/>
                </a:cubicBezTo>
                <a:lnTo>
                  <a:pt x="0" y="507"/>
                </a:lnTo>
                <a:cubicBezTo>
                  <a:pt x="0" y="458"/>
                  <a:pt x="40" y="418"/>
                  <a:pt x="90" y="418"/>
                </a:cubicBezTo>
                <a:moveTo>
                  <a:pt x="1103" y="418"/>
                </a:moveTo>
                <a:cubicBezTo>
                  <a:pt x="1152" y="418"/>
                  <a:pt x="1192" y="458"/>
                  <a:pt x="1192" y="507"/>
                </a:cubicBezTo>
                <a:lnTo>
                  <a:pt x="1192" y="685"/>
                </a:lnTo>
                <a:cubicBezTo>
                  <a:pt x="1192" y="735"/>
                  <a:pt x="1152" y="775"/>
                  <a:pt x="1103" y="775"/>
                </a:cubicBezTo>
                <a:lnTo>
                  <a:pt x="1073" y="775"/>
                </a:lnTo>
                <a:lnTo>
                  <a:pt x="1073" y="418"/>
                </a:lnTo>
                <a:lnTo>
                  <a:pt x="1103" y="418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171049" y="2810067"/>
            <a:ext cx="1677173" cy="43088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zh-CN"/>
            </a:defPPr>
            <a:lvl1pPr>
              <a:defRPr sz="1500" b="1" i="0" u="none" strike="noStrike">
                <a:solidFill>
                  <a:srgbClr val="392A96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92A9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自动化信评与信用风险监测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10024364" y="3277634"/>
            <a:ext cx="18478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marR="0" lvl="0" indent="-285750" defTabSz="9144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"/>
              <a:defRPr kumimoji="0" sz="12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前瞻预警：</a:t>
            </a:r>
            <a:endParaRPr lang="en-US" altLang="zh-CN" dirty="0"/>
          </a:p>
          <a:p>
            <a:r>
              <a:rPr lang="zh-CN" altLang="en-US" dirty="0"/>
              <a:t>实时监测跨资产风险，预测市场极端事件。</a:t>
            </a:r>
            <a:endParaRPr lang="en-US" altLang="zh-CN" dirty="0"/>
          </a:p>
          <a:p>
            <a:r>
              <a:rPr lang="zh-CN" altLang="en-US" dirty="0"/>
              <a:t>追踪资金流向与市场波动，识别潜在传导路径。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主动防控：</a:t>
            </a:r>
            <a:endParaRPr lang="en-US" altLang="zh-CN" dirty="0"/>
          </a:p>
          <a:p>
            <a:r>
              <a:rPr lang="zh-CN" altLang="en-US" dirty="0"/>
              <a:t>对识别出的风险路径进行实时预警与提示。</a:t>
            </a:r>
            <a:endParaRPr lang="en-US" altLang="zh-CN" dirty="0"/>
          </a:p>
          <a:p>
            <a:r>
              <a:rPr lang="zh-CN" altLang="en-US" dirty="0"/>
              <a:t>自动化合规检查，显著增强合规管理能力。</a:t>
            </a:r>
          </a:p>
        </p:txBody>
      </p:sp>
      <p:pic>
        <p:nvPicPr>
          <p:cNvPr id="50" name="图形 49" descr="上升趋势条形图 纯色填充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5039" y="2336251"/>
            <a:ext cx="386093" cy="386093"/>
          </a:xfrm>
          <a:prstGeom prst="rect">
            <a:avLst/>
          </a:prstGeom>
        </p:spPr>
      </p:pic>
      <p:sp>
        <p:nvSpPr>
          <p:cNvPr id="28" name="任意多边形 174"/>
          <p:cNvSpPr/>
          <p:nvPr/>
        </p:nvSpPr>
        <p:spPr>
          <a:xfrm>
            <a:off x="8381381" y="2407100"/>
            <a:ext cx="300600" cy="343080"/>
          </a:xfrm>
          <a:custGeom>
            <a:avLst/>
            <a:gdLst/>
            <a:ahLst/>
            <a:cxnLst/>
            <a:rect l="0" t="0" r="r" b="b"/>
            <a:pathLst>
              <a:path w="835" h="953">
                <a:moveTo>
                  <a:pt x="417" y="31"/>
                </a:moveTo>
                <a:cubicBezTo>
                  <a:pt x="404" y="31"/>
                  <a:pt x="397" y="25"/>
                  <a:pt x="388" y="18"/>
                </a:cubicBezTo>
                <a:cubicBezTo>
                  <a:pt x="376" y="10"/>
                  <a:pt x="361" y="0"/>
                  <a:pt x="328" y="0"/>
                </a:cubicBezTo>
                <a:cubicBezTo>
                  <a:pt x="271" y="0"/>
                  <a:pt x="231" y="82"/>
                  <a:pt x="205" y="167"/>
                </a:cubicBezTo>
                <a:cubicBezTo>
                  <a:pt x="117" y="183"/>
                  <a:pt x="60" y="210"/>
                  <a:pt x="60" y="239"/>
                </a:cubicBezTo>
                <a:cubicBezTo>
                  <a:pt x="60" y="266"/>
                  <a:pt x="106" y="289"/>
                  <a:pt x="180" y="306"/>
                </a:cubicBezTo>
                <a:cubicBezTo>
                  <a:pt x="179" y="313"/>
                  <a:pt x="179" y="321"/>
                  <a:pt x="179" y="328"/>
                </a:cubicBezTo>
                <a:cubicBezTo>
                  <a:pt x="179" y="360"/>
                  <a:pt x="185" y="390"/>
                  <a:pt x="196" y="418"/>
                </a:cubicBezTo>
                <a:lnTo>
                  <a:pt x="85" y="418"/>
                </a:lnTo>
                <a:cubicBezTo>
                  <a:pt x="71" y="418"/>
                  <a:pt x="60" y="429"/>
                  <a:pt x="60" y="442"/>
                </a:cubicBezTo>
                <a:cubicBezTo>
                  <a:pt x="60" y="446"/>
                  <a:pt x="60" y="449"/>
                  <a:pt x="61" y="452"/>
                </a:cubicBezTo>
                <a:lnTo>
                  <a:pt x="134" y="632"/>
                </a:lnTo>
                <a:cubicBezTo>
                  <a:pt x="53" y="692"/>
                  <a:pt x="0" y="789"/>
                  <a:pt x="0" y="898"/>
                </a:cubicBezTo>
                <a:cubicBezTo>
                  <a:pt x="0" y="929"/>
                  <a:pt x="25" y="953"/>
                  <a:pt x="55" y="953"/>
                </a:cubicBezTo>
                <a:lnTo>
                  <a:pt x="779" y="953"/>
                </a:lnTo>
                <a:cubicBezTo>
                  <a:pt x="810" y="953"/>
                  <a:pt x="835" y="929"/>
                  <a:pt x="835" y="898"/>
                </a:cubicBezTo>
                <a:cubicBezTo>
                  <a:pt x="835" y="789"/>
                  <a:pt x="782" y="693"/>
                  <a:pt x="701" y="632"/>
                </a:cubicBezTo>
                <a:lnTo>
                  <a:pt x="773" y="452"/>
                </a:lnTo>
                <a:cubicBezTo>
                  <a:pt x="774" y="449"/>
                  <a:pt x="775" y="446"/>
                  <a:pt x="775" y="442"/>
                </a:cubicBezTo>
                <a:cubicBezTo>
                  <a:pt x="775" y="429"/>
                  <a:pt x="764" y="418"/>
                  <a:pt x="750" y="418"/>
                </a:cubicBezTo>
                <a:lnTo>
                  <a:pt x="639" y="418"/>
                </a:lnTo>
                <a:cubicBezTo>
                  <a:pt x="650" y="390"/>
                  <a:pt x="656" y="360"/>
                  <a:pt x="656" y="328"/>
                </a:cubicBezTo>
                <a:cubicBezTo>
                  <a:pt x="656" y="321"/>
                  <a:pt x="656" y="313"/>
                  <a:pt x="655" y="306"/>
                </a:cubicBezTo>
                <a:cubicBezTo>
                  <a:pt x="728" y="289"/>
                  <a:pt x="775" y="266"/>
                  <a:pt x="775" y="239"/>
                </a:cubicBezTo>
                <a:cubicBezTo>
                  <a:pt x="775" y="210"/>
                  <a:pt x="718" y="183"/>
                  <a:pt x="630" y="167"/>
                </a:cubicBezTo>
                <a:cubicBezTo>
                  <a:pt x="604" y="82"/>
                  <a:pt x="564" y="0"/>
                  <a:pt x="506" y="0"/>
                </a:cubicBezTo>
                <a:cubicBezTo>
                  <a:pt x="473" y="0"/>
                  <a:pt x="458" y="10"/>
                  <a:pt x="446" y="18"/>
                </a:cubicBezTo>
                <a:cubicBezTo>
                  <a:pt x="437" y="25"/>
                  <a:pt x="429" y="31"/>
                  <a:pt x="417" y="31"/>
                </a:cubicBezTo>
                <a:moveTo>
                  <a:pt x="522" y="418"/>
                </a:moveTo>
                <a:lnTo>
                  <a:pt x="498" y="418"/>
                </a:lnTo>
                <a:cubicBezTo>
                  <a:pt x="467" y="418"/>
                  <a:pt x="440" y="398"/>
                  <a:pt x="430" y="369"/>
                </a:cubicBezTo>
                <a:cubicBezTo>
                  <a:pt x="426" y="356"/>
                  <a:pt x="408" y="356"/>
                  <a:pt x="403" y="369"/>
                </a:cubicBezTo>
                <a:cubicBezTo>
                  <a:pt x="394" y="398"/>
                  <a:pt x="366" y="418"/>
                  <a:pt x="336" y="418"/>
                </a:cubicBezTo>
                <a:lnTo>
                  <a:pt x="313" y="418"/>
                </a:lnTo>
                <a:cubicBezTo>
                  <a:pt x="272" y="418"/>
                  <a:pt x="238" y="384"/>
                  <a:pt x="238" y="343"/>
                </a:cubicBezTo>
                <a:lnTo>
                  <a:pt x="238" y="316"/>
                </a:lnTo>
                <a:cubicBezTo>
                  <a:pt x="291" y="324"/>
                  <a:pt x="352" y="328"/>
                  <a:pt x="417" y="328"/>
                </a:cubicBezTo>
                <a:cubicBezTo>
                  <a:pt x="482" y="328"/>
                  <a:pt x="544" y="324"/>
                  <a:pt x="596" y="316"/>
                </a:cubicBezTo>
                <a:lnTo>
                  <a:pt x="596" y="343"/>
                </a:lnTo>
                <a:cubicBezTo>
                  <a:pt x="596" y="384"/>
                  <a:pt x="563" y="418"/>
                  <a:pt x="522" y="418"/>
                </a:cubicBezTo>
                <a:moveTo>
                  <a:pt x="357" y="596"/>
                </a:moveTo>
                <a:lnTo>
                  <a:pt x="387" y="656"/>
                </a:lnTo>
                <a:lnTo>
                  <a:pt x="328" y="894"/>
                </a:lnTo>
                <a:lnTo>
                  <a:pt x="238" y="537"/>
                </a:lnTo>
                <a:lnTo>
                  <a:pt x="357" y="596"/>
                </a:lnTo>
                <a:moveTo>
                  <a:pt x="596" y="537"/>
                </a:moveTo>
                <a:lnTo>
                  <a:pt x="506" y="894"/>
                </a:lnTo>
                <a:lnTo>
                  <a:pt x="447" y="656"/>
                </a:lnTo>
                <a:lnTo>
                  <a:pt x="476" y="596"/>
                </a:lnTo>
                <a:lnTo>
                  <a:pt x="596" y="537"/>
                </a:lnTo>
                <a:close/>
              </a:path>
            </a:pathLst>
          </a:custGeom>
          <a:solidFill>
            <a:srgbClr val="392A9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6C711BE2-EFF0-17B5-1629-EB59278D02CB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5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1B0623-F833-3C15-72A2-7210C7CB93B5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技术改造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个现有策略。</a:t>
            </a:r>
            <a:endParaRPr lang="zh-CN" altLang="en-US" sz="16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E3F736F-F993-7B39-A293-56F87919DB70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/>
        </p:nvGrpSpPr>
        <p:grpSpPr>
          <a:xfrm>
            <a:off x="6832527" y="6072436"/>
            <a:ext cx="4580903" cy="266514"/>
            <a:chOff x="6838552" y="6174464"/>
            <a:chExt cx="4580903" cy="266514"/>
          </a:xfrm>
        </p:grpSpPr>
        <p:sp>
          <p:nvSpPr>
            <p:cNvPr id="79" name="圆角矩形 74"/>
            <p:cNvSpPr/>
            <p:nvPr/>
          </p:nvSpPr>
          <p:spPr bwMode="gray">
            <a:xfrm>
              <a:off x="8303119" y="6217338"/>
              <a:ext cx="509287" cy="160439"/>
            </a:xfrm>
            <a:prstGeom prst="roundRect">
              <a:avLst/>
            </a:prstGeom>
            <a:solidFill>
              <a:srgbClr val="7030A0"/>
            </a:solidFill>
            <a:ln w="1270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>
              <a:flatTx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圆角矩形 74"/>
            <p:cNvSpPr/>
            <p:nvPr/>
          </p:nvSpPr>
          <p:spPr bwMode="gray">
            <a:xfrm>
              <a:off x="6838552" y="6218541"/>
              <a:ext cx="509287" cy="160439"/>
            </a:xfrm>
            <a:prstGeom prst="roundRect">
              <a:avLst/>
            </a:prstGeom>
            <a:solidFill>
              <a:srgbClr val="4469BE"/>
            </a:solidFill>
            <a:ln w="1270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>
              <a:flatTx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351901" y="6174464"/>
              <a:ext cx="8840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系统已实现</a:t>
              </a: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8817447" y="6193714"/>
              <a:ext cx="10919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26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年规划</a:t>
              </a:r>
            </a:p>
          </p:txBody>
        </p:sp>
        <p:sp>
          <p:nvSpPr>
            <p:cNvPr id="83" name="圆角矩形 74"/>
            <p:cNvSpPr/>
            <p:nvPr/>
          </p:nvSpPr>
          <p:spPr bwMode="gray">
            <a:xfrm>
              <a:off x="9595375" y="6218381"/>
              <a:ext cx="509287" cy="16043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 anchor="ctr">
              <a:flatTx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10109702" y="6194757"/>
              <a:ext cx="13097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27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年</a:t>
              </a:r>
              <a:r>
                <a:rPr kumimoji="1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/28</a:t>
              </a: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年规划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248708" y="1963524"/>
            <a:ext cx="8105092" cy="293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模型矩阵</a:t>
            </a:r>
          </a:p>
        </p:txBody>
      </p:sp>
      <p:sp>
        <p:nvSpPr>
          <p:cNvPr id="13" name="矩形 12"/>
          <p:cNvSpPr/>
          <p:nvPr/>
        </p:nvSpPr>
        <p:spPr>
          <a:xfrm>
            <a:off x="2573788" y="1968368"/>
            <a:ext cx="440204" cy="39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债券研究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3253095" y="4745899"/>
            <a:ext cx="1341460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利率择时策略</a:t>
            </a:r>
          </a:p>
        </p:txBody>
      </p:sp>
      <p:sp>
        <p:nvSpPr>
          <p:cNvPr id="28" name="矩形: 圆角 27"/>
          <p:cNvSpPr/>
          <p:nvPr/>
        </p:nvSpPr>
        <p:spPr>
          <a:xfrm>
            <a:off x="3255633" y="5134248"/>
            <a:ext cx="1338921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汇率择时策略</a:t>
            </a:r>
          </a:p>
        </p:txBody>
      </p:sp>
      <p:sp>
        <p:nvSpPr>
          <p:cNvPr id="29" name="矩形: 圆角 28"/>
          <p:cNvSpPr/>
          <p:nvPr/>
        </p:nvSpPr>
        <p:spPr>
          <a:xfrm>
            <a:off x="4710883" y="5112073"/>
            <a:ext cx="1345847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商品择时策略</a:t>
            </a:r>
          </a:p>
        </p:txBody>
      </p:sp>
      <p:sp>
        <p:nvSpPr>
          <p:cNvPr id="31" name="矩形 30"/>
          <p:cNvSpPr/>
          <p:nvPr/>
        </p:nvSpPr>
        <p:spPr>
          <a:xfrm>
            <a:off x="3236602" y="3942796"/>
            <a:ext cx="8176828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策略矩阵</a:t>
            </a:r>
          </a:p>
        </p:txBody>
      </p:sp>
      <p:sp>
        <p:nvSpPr>
          <p:cNvPr id="32" name="矩形 31"/>
          <p:cNvSpPr/>
          <p:nvPr/>
        </p:nvSpPr>
        <p:spPr>
          <a:xfrm>
            <a:off x="3222954" y="4378016"/>
            <a:ext cx="2855471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宏观利率策略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260237" y="4360509"/>
            <a:ext cx="2662513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信用策略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62895" y="4360509"/>
            <a:ext cx="2251659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转债策略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195517" y="4735548"/>
            <a:ext cx="1053952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双低策略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9195517" y="5116015"/>
            <a:ext cx="1053952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股性策略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9195517" y="5491998"/>
            <a:ext cx="1053952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下修策略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6270577" y="5499684"/>
            <a:ext cx="1207908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骑乘策略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10385635" y="5099248"/>
            <a:ext cx="1053952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轮动策略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10384498" y="5480434"/>
            <a:ext cx="1053952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244233" y="2321143"/>
            <a:ext cx="2789425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宏观利率模型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86781" y="2326001"/>
            <a:ext cx="2789424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信用模型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162895" y="2330182"/>
            <a:ext cx="2219037" cy="28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转债模型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3236352" y="2710201"/>
            <a:ext cx="1341460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利率动能</a:t>
            </a: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</a:p>
        </p:txBody>
      </p:sp>
      <p:sp>
        <p:nvSpPr>
          <p:cNvPr id="48" name="矩形: 圆角 47"/>
          <p:cNvSpPr/>
          <p:nvPr/>
        </p:nvSpPr>
        <p:spPr>
          <a:xfrm>
            <a:off x="3220479" y="3086081"/>
            <a:ext cx="1338921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汇率动能模型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4698468" y="3081543"/>
            <a:ext cx="1345847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商品引导模型</a:t>
            </a:r>
          </a:p>
        </p:txBody>
      </p:sp>
      <p:sp>
        <p:nvSpPr>
          <p:cNvPr id="51" name="矩形: 圆角 50"/>
          <p:cNvSpPr/>
          <p:nvPr/>
        </p:nvSpPr>
        <p:spPr>
          <a:xfrm>
            <a:off x="3256700" y="5511248"/>
            <a:ext cx="2786381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自动驾驶策略</a:t>
            </a:r>
          </a:p>
        </p:txBody>
      </p:sp>
      <p:sp>
        <p:nvSpPr>
          <p:cNvPr id="52" name="矩形: 圆角 51"/>
          <p:cNvSpPr/>
          <p:nvPr/>
        </p:nvSpPr>
        <p:spPr>
          <a:xfrm>
            <a:off x="4719494" y="4730488"/>
            <a:ext cx="1341460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利率势能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策略</a:t>
            </a:r>
          </a:p>
        </p:txBody>
      </p:sp>
      <p:sp>
        <p:nvSpPr>
          <p:cNvPr id="53" name="矩形: 圆角 52"/>
          <p:cNvSpPr/>
          <p:nvPr/>
        </p:nvSpPr>
        <p:spPr>
          <a:xfrm>
            <a:off x="4692198" y="2710201"/>
            <a:ext cx="1341460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利率势能模型</a:t>
            </a:r>
          </a:p>
        </p:txBody>
      </p:sp>
      <p:sp>
        <p:nvSpPr>
          <p:cNvPr id="54" name="矩形: 圆角 53"/>
          <p:cNvSpPr/>
          <p:nvPr/>
        </p:nvSpPr>
        <p:spPr>
          <a:xfrm>
            <a:off x="6271063" y="4748591"/>
            <a:ext cx="2617487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下沉策略</a:t>
            </a:r>
          </a:p>
        </p:txBody>
      </p:sp>
      <p:sp>
        <p:nvSpPr>
          <p:cNvPr id="55" name="矩形: 圆角 54"/>
          <p:cNvSpPr/>
          <p:nvPr/>
        </p:nvSpPr>
        <p:spPr>
          <a:xfrm>
            <a:off x="6260237" y="5133152"/>
            <a:ext cx="1207908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套息策略</a:t>
            </a:r>
          </a:p>
        </p:txBody>
      </p:sp>
      <p:sp>
        <p:nvSpPr>
          <p:cNvPr id="56" name="矩形: 圆角 55"/>
          <p:cNvSpPr/>
          <p:nvPr/>
        </p:nvSpPr>
        <p:spPr>
          <a:xfrm>
            <a:off x="7593352" y="5510153"/>
            <a:ext cx="1317061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行业轮动策略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7570862" y="5144455"/>
            <a:ext cx="1339551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品种轮动策略</a:t>
            </a:r>
          </a:p>
        </p:txBody>
      </p:sp>
      <p:sp>
        <p:nvSpPr>
          <p:cNvPr id="58" name="矩形: 圆角 57"/>
          <p:cNvSpPr/>
          <p:nvPr/>
        </p:nvSpPr>
        <p:spPr>
          <a:xfrm>
            <a:off x="10384498" y="4718580"/>
            <a:ext cx="1053952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动能策略</a:t>
            </a:r>
          </a:p>
        </p:txBody>
      </p:sp>
      <p:sp>
        <p:nvSpPr>
          <p:cNvPr id="59" name="矩形: 圆角 58"/>
          <p:cNvSpPr/>
          <p:nvPr/>
        </p:nvSpPr>
        <p:spPr>
          <a:xfrm>
            <a:off x="3222493" y="3421817"/>
            <a:ext cx="2820587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自动驾驶模型</a:t>
            </a:r>
          </a:p>
        </p:txBody>
      </p:sp>
      <p:sp>
        <p:nvSpPr>
          <p:cNvPr id="61" name="矩形: 圆角 60"/>
          <p:cNvSpPr/>
          <p:nvPr/>
        </p:nvSpPr>
        <p:spPr>
          <a:xfrm>
            <a:off x="6202636" y="3059046"/>
            <a:ext cx="1341461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息差势能模型</a:t>
            </a:r>
          </a:p>
        </p:txBody>
      </p:sp>
      <p:sp>
        <p:nvSpPr>
          <p:cNvPr id="62" name="矩形: 圆角 61"/>
          <p:cNvSpPr/>
          <p:nvPr/>
        </p:nvSpPr>
        <p:spPr>
          <a:xfrm>
            <a:off x="7654393" y="3416181"/>
            <a:ext cx="1302161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骑乘策略模型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矩形: 圆角 62"/>
          <p:cNvSpPr/>
          <p:nvPr/>
        </p:nvSpPr>
        <p:spPr>
          <a:xfrm>
            <a:off x="6202636" y="2695434"/>
            <a:ext cx="2773569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基本面择券模型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6230029" y="3433858"/>
            <a:ext cx="1341461" cy="288000"/>
          </a:xfrm>
          <a:prstGeom prst="roundRect">
            <a:avLst/>
          </a:prstGeom>
          <a:solidFill>
            <a:srgbClr val="548235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利差动能模型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7634744" y="3043715"/>
            <a:ext cx="1341461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品种势能模型</a:t>
            </a:r>
          </a:p>
        </p:txBody>
      </p:sp>
      <p:sp>
        <p:nvSpPr>
          <p:cNvPr id="66" name="矩形: 圆角 65"/>
          <p:cNvSpPr/>
          <p:nvPr/>
        </p:nvSpPr>
        <p:spPr>
          <a:xfrm>
            <a:off x="9192103" y="2685375"/>
            <a:ext cx="2132833" cy="288000"/>
          </a:xfrm>
          <a:prstGeom prst="roundRect">
            <a:avLst/>
          </a:prstGeom>
          <a:solidFill>
            <a:srgbClr val="7030A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择时模型</a:t>
            </a:r>
          </a:p>
        </p:txBody>
      </p:sp>
      <p:sp>
        <p:nvSpPr>
          <p:cNvPr id="67" name="矩形: 圆角 66"/>
          <p:cNvSpPr/>
          <p:nvPr/>
        </p:nvSpPr>
        <p:spPr>
          <a:xfrm>
            <a:off x="9205996" y="3063920"/>
            <a:ext cx="2132833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技术面择券模型</a:t>
            </a:r>
          </a:p>
        </p:txBody>
      </p:sp>
      <p:sp>
        <p:nvSpPr>
          <p:cNvPr id="68" name="矩形: 圆角 67"/>
          <p:cNvSpPr/>
          <p:nvPr/>
        </p:nvSpPr>
        <p:spPr>
          <a:xfrm>
            <a:off x="9205996" y="3426706"/>
            <a:ext cx="2132833" cy="288000"/>
          </a:xfrm>
          <a:prstGeom prst="roundRect">
            <a:avLst/>
          </a:prstGeom>
          <a:solidFill>
            <a:srgbClr val="0070C0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正股因子模型</a:t>
            </a:r>
          </a:p>
        </p:txBody>
      </p:sp>
      <p:sp>
        <p:nvSpPr>
          <p:cNvPr id="69" name="矩形 68"/>
          <p:cNvSpPr/>
          <p:nvPr/>
        </p:nvSpPr>
        <p:spPr>
          <a:xfrm>
            <a:off x="3133635" y="1961319"/>
            <a:ext cx="8436633" cy="397746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138746" y="2247628"/>
            <a:ext cx="2964269" cy="1598632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103016" y="2247918"/>
            <a:ext cx="2946366" cy="162196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9054399" y="2250065"/>
            <a:ext cx="2515869" cy="161981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141198" y="4272151"/>
            <a:ext cx="2964269" cy="1666637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103015" y="4268667"/>
            <a:ext cx="2945940" cy="1666637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043982" y="4244588"/>
            <a:ext cx="2526286" cy="1690716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2404030" y="1961319"/>
            <a:ext cx="734198" cy="397746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56CF608F-A40D-E4C5-A134-A6278A85E548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6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2BF2D6-FDB0-0178-42F2-B29FDDFA90C3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个创新投资策略。</a:t>
            </a:r>
            <a:endParaRPr lang="zh-CN" altLang="en-US" sz="1600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F2D235B-CED0-275D-C008-AA04AC2F3479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800" b="1">
                <a:latin typeface="微软雅黑"/>
                <a:ea typeface="微软雅黑"/>
              </a:rPr>
              <a:t>三、业务计划-研究部-新策略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sz="1600" b="1">
                  <a:latin typeface="微软雅黑"/>
                  <a:ea typeface="微软雅黑"/>
                </a:rPr>
                <a:t>多因子选股</a:t>
              </a: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algn="ctr"/>
              <a:r>
                <a:rPr sz="1600" b="1">
                  <a:latin typeface="微软雅黑"/>
                  <a:ea typeface="微软雅黑"/>
                </a:rPr>
                <a:t>风险约束组合</a:t>
              </a:r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sz="1600" b="1">
                  <a:latin typeface="微软雅黑"/>
                  <a:ea typeface="微软雅黑"/>
                </a:rPr>
                <a:t>模拟盘复盘</a:t>
              </a: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大模型热点轮动</a:t>
              </a:r>
              <a:endParaRPr lang="en-US" altLang="zh-CN" sz="1400" b="1" kern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策略</a:t>
              </a:r>
              <a:endParaRPr lang="zh-CN" altLang="en-US" sz="1400" kern="1200" dirty="0"/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优基增强</a:t>
              </a:r>
              <a:r>
                <a:rPr lang="en-US" altLang="zh-CN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AI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400" b="1" kern="12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策略</a:t>
              </a:r>
              <a:endParaRPr lang="zh-CN" altLang="en-US" sz="1400" kern="1200" dirty="0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latin typeface="微软雅黑"/>
                <a:ea typeface="微软雅黑"/>
              </a:rPr>
              <a:t>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sz="1600" b="0">
                <a:latin typeface="微软雅黑"/>
                <a:ea typeface="微软雅黑"/>
              </a:rPr>
              <a:t>业务目标：完成多因子选股与风险控制的策略验证。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B06BD497-AF8F-4A56-8C40-502D9C291650}"/>
              </a:ext>
            </a:extLst>
          </p:cNvPr>
          <p:cNvSpPr>
            <a:spLocks noGrp="1"/>
          </p:cNvSpPr>
          <p:nvPr/>
        </p:nvSpPr>
        <p:spPr>
          <a:xfrm>
            <a:off x="2600325" y="17430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190500" indent="-190500">
              <a:defRPr sz="1400" b="1">
                <a:solidFill>
                  <a:srgbClr val="000000"/>
                </a:solidFill>
              </a:defRPr>
              <a:lnSpc>
                <a:spcPct val="130000"/>
              </a:lnSpc>
              <a:buFont typeface="Arial"/>
              <a:buChar char="▪"/>
            </a:pPr>
            <a:r>
              <a:rPr sz="1400" b="1">
                <a:solidFill>
                  <a:srgbClr val="000000"/>
                </a:solidFill>
                <a:ea typeface="微软雅黑"/>
              </a:rPr>
              <a:t>多因子选股：形成可比较的策略原型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32A237CA-7D29-4249-BB45-E5C6E0820A23}"/>
              </a:ext>
            </a:extLst>
          </p:cNvPr>
          <p:cNvSpPr>
            <a:spLocks noGrp="1"/>
          </p:cNvSpPr>
          <p:nvPr/>
        </p:nvSpPr>
        <p:spPr>
          <a:xfrm>
            <a:off x="2838450" y="20288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复用因子检验和组合模块，按经济含义去重，比较等权、ICIR与机器学习合成。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9E6DB72A-FA03-41C3-878D-3095A730E06B}"/>
              </a:ext>
            </a:extLst>
          </p:cNvPr>
          <p:cNvSpPr>
            <a:spLocks noGrp="1"/>
          </p:cNvSpPr>
          <p:nvPr/>
        </p:nvSpPr>
        <p:spPr>
          <a:xfrm>
            <a:off x="2838450" y="25431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Q1固定股票池和基准，Q2完成滚动样本外回测，统一比较成本后超额与回撤。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BA0BC450-4E89-407E-88EE-D82EEEC83351}"/>
              </a:ext>
            </a:extLst>
          </p:cNvPr>
          <p:cNvSpPr>
            <a:spLocks noGrp="1"/>
          </p:cNvSpPr>
          <p:nvPr/>
        </p:nvSpPr>
        <p:spPr>
          <a:xfrm>
            <a:off x="2600325" y="30575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190500" indent="-190500">
              <a:defRPr sz="1400" b="1">
                <a:solidFill>
                  <a:srgbClr val="000000"/>
                </a:solidFill>
              </a:defRPr>
              <a:lnSpc>
                <a:spcPct val="130000"/>
              </a:lnSpc>
              <a:buFont typeface="Arial"/>
              <a:buChar char="▪"/>
            </a:pPr>
            <a:r>
              <a:rPr sz="1400" b="1">
                <a:solidFill>
                  <a:srgbClr val="000000"/>
                </a:solidFill>
                <a:ea typeface="微软雅黑"/>
              </a:rPr>
              <a:t>风险控制：检验市场状态能否改善组合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FFBE1B0D-0444-4FFD-BF3C-D2B002F14F16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利用现有波动、相关性、拥挤度及流动性指标，研究风险升高时的仓位与因子权重调整。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868482BF-5B1F-4BDA-8E4E-8BBE66C9FFFB}"/>
              </a:ext>
            </a:extLst>
          </p:cNvPr>
          <p:cNvSpPr>
            <a:spLocks noGrp="1"/>
          </p:cNvSpPr>
          <p:nvPr/>
        </p:nvSpPr>
        <p:spPr>
          <a:xfrm>
            <a:off x="2838450" y="38576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加入行业、个股及换手约束，对比固定权重，检验回撤改善是否抵得过收益损失。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EF8A8B4F-C0CE-45DA-B4D4-902B4D82252B}"/>
              </a:ext>
            </a:extLst>
          </p:cNvPr>
          <p:cNvSpPr>
            <a:spLocks noGrp="1"/>
          </p:cNvSpPr>
          <p:nvPr/>
        </p:nvSpPr>
        <p:spPr>
          <a:xfrm>
            <a:off x="2600325" y="43719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190500" indent="-190500">
              <a:defRPr sz="1400" b="1">
                <a:solidFill>
                  <a:srgbClr val="000000"/>
                </a:solidFill>
              </a:defRPr>
              <a:lnSpc>
                <a:spcPct val="130000"/>
              </a:lnSpc>
              <a:buFont typeface="Arial"/>
              <a:buChar char="▪"/>
            </a:pPr>
            <a:r>
              <a:rPr sz="1400" b="1">
                <a:solidFill>
                  <a:srgbClr val="000000"/>
                </a:solidFill>
                <a:ea typeface="微软雅黑"/>
              </a:rPr>
              <a:t>模拟跟踪：按月决定保留或调整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6BD742E7-AA9A-4E57-A327-15D2A8F384BC}"/>
              </a:ext>
            </a:extLst>
          </p:cNvPr>
          <p:cNvSpPr>
            <a:spLocks noGrp="1"/>
          </p:cNvSpPr>
          <p:nvPr/>
        </p:nvSpPr>
        <p:spPr>
          <a:xfrm>
            <a:off x="2838450" y="46577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Q3将通过检验的原型纳入模拟盘，逐日跟踪偏离，按月拆解选股、风格与成本贡献。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7FED2144-037C-4CD3-8724-49827669642F}"/>
              </a:ext>
            </a:extLst>
          </p:cNvPr>
          <p:cNvSpPr>
            <a:spLocks noGrp="1"/>
          </p:cNvSpPr>
          <p:nvPr/>
        </p:nvSpPr>
        <p:spPr>
          <a:xfrm>
            <a:off x="2838450" y="51720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152400" indent="-152400">
              <a:defRPr sz="1400" b="0">
                <a:solidFill>
                  <a:srgbClr val="000000"/>
                </a:solidFill>
              </a:defRPr>
              <a:lnSpc>
                <a:spcPct val="130000"/>
              </a:lnSpc>
              <a:buFont typeface="Wingdings"/>
              <a:buChar char="➢"/>
            </a:pPr>
            <a:r>
              <a:rPr sz="1400" b="0">
                <a:solidFill>
                  <a:srgbClr val="000000"/>
                </a:solidFill>
                <a:ea typeface="微软雅黑"/>
              </a:rPr>
              <a:t>Q4交付策略说明书及复盘报告，依据样本外和模拟盘结果提出储备或改造建议。</a:t>
            </a:r>
          </a:p>
        </p:txBody>
      </p:sp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新领域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新科技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7" name="直接连接符 16"/>
          <p:cNvCxnSpPr/>
          <p:nvPr/>
        </p:nvCxnSpPr>
        <p:spPr bwMode="auto">
          <a:xfrm>
            <a:off x="2438326" y="3579895"/>
            <a:ext cx="9432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" name="直接连接符 17"/>
          <p:cNvCxnSpPr/>
          <p:nvPr/>
        </p:nvCxnSpPr>
        <p:spPr bwMode="auto">
          <a:xfrm>
            <a:off x="2428701" y="4525496"/>
            <a:ext cx="94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" name="直接连接符 18"/>
          <p:cNvCxnSpPr/>
          <p:nvPr/>
        </p:nvCxnSpPr>
        <p:spPr bwMode="auto">
          <a:xfrm>
            <a:off x="2428701" y="5451842"/>
            <a:ext cx="9468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文本框 19"/>
          <p:cNvSpPr txBox="1"/>
          <p:nvPr/>
        </p:nvSpPr>
        <p:spPr>
          <a:xfrm>
            <a:off x="2234042" y="2379642"/>
            <a:ext cx="1505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dirty="0"/>
              <a:t>AI</a:t>
            </a:r>
            <a:r>
              <a:rPr lang="zh-CN" altLang="en-US" dirty="0"/>
              <a:t>科技</a:t>
            </a:r>
            <a:endParaRPr lang="en-US" altLang="zh-CN" dirty="0"/>
          </a:p>
          <a:p>
            <a:pPr algn="ctr"/>
            <a:r>
              <a:rPr lang="zh-CN" altLang="en-US" dirty="0"/>
              <a:t>细分行业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2406970" y="2910344"/>
            <a:ext cx="1160054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基础设施</a:t>
            </a:r>
          </a:p>
        </p:txBody>
      </p:sp>
      <p:sp>
        <p:nvSpPr>
          <p:cNvPr id="22" name="矩形: 圆角 21"/>
          <p:cNvSpPr/>
          <p:nvPr/>
        </p:nvSpPr>
        <p:spPr>
          <a:xfrm>
            <a:off x="2406970" y="3913696"/>
            <a:ext cx="1160054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2406970" y="4840048"/>
            <a:ext cx="1160054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交互科技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2406970" y="5708641"/>
            <a:ext cx="1160054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原生平台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4337706" y="1748664"/>
            <a:ext cx="2503173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传统主动研究计划</a:t>
            </a: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4127854" y="2438873"/>
            <a:ext cx="2984146" cy="1104533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密切关注国家政策、龙头公司资本开支等产业趋势的拐点，结合成长股估值水平给予投资建议。</a:t>
            </a:r>
          </a:p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维持对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基础设施发展的跟踪。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7756989" y="1748664"/>
            <a:ext cx="3286101" cy="432000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结合新技术改进研究的计划</a:t>
            </a: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4127854" y="3644682"/>
            <a:ext cx="298414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深度研究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应用相关公司的商业化能力，挑选出在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应用竞争中有望跑赢行业的优质股票。</a:t>
            </a:r>
          </a:p>
        </p:txBody>
      </p:sp>
      <p:sp>
        <p:nvSpPr>
          <p:cNvPr id="29" name="文本框 28"/>
          <p:cNvSpPr txBox="1"/>
          <p:nvPr>
            <p:custDataLst>
              <p:tags r:id="rId5"/>
            </p:custDataLst>
          </p:nvPr>
        </p:nvSpPr>
        <p:spPr>
          <a:xfrm>
            <a:off x="7606320" y="4584949"/>
            <a:ext cx="375856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利用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模型的量化能力，对交互科技产品的月度用户数据进行量化分析，结合过往表现进行归因，建立自动化分析模型。</a:t>
            </a:r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7606320" y="5472580"/>
            <a:ext cx="375856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利用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的自然语言处理技术，对行业政策、社交媒体用户数据等进行语义分析，量化市场情绪，建立识别潜在风险的分析模型。</a:t>
            </a: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4127854" y="5472580"/>
            <a:ext cx="298414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进行广泛的行业及竞争研究，基于公司的竞争格局、业绩和估值周期，定期给予投资建议。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052740" y="1703054"/>
            <a:ext cx="1505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dirty="0"/>
              <a:t>研究方法</a:t>
            </a:r>
            <a:endParaRPr lang="en-US" altLang="zh-CN" dirty="0"/>
          </a:p>
          <a:p>
            <a:pPr algn="ctr"/>
            <a:r>
              <a:rPr lang="zh-CN" altLang="en-US" dirty="0"/>
              <a:t>及计划</a:t>
            </a:r>
          </a:p>
        </p:txBody>
      </p:sp>
      <p:sp>
        <p:nvSpPr>
          <p:cNvPr id="34" name="文本框 33"/>
          <p:cNvSpPr txBox="1"/>
          <p:nvPr>
            <p:custDataLst>
              <p:tags r:id="rId8"/>
            </p:custDataLst>
          </p:nvPr>
        </p:nvSpPr>
        <p:spPr>
          <a:xfrm>
            <a:off x="7606320" y="2438873"/>
            <a:ext cx="3758566" cy="1104533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行业进展较为保密，信息非标化程度高，计划仍以主动研究的定期跟踪模式为主。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对于事件驱动型股票，利用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模型快速生成事件归因和推演报告，提高判断效率。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9"/>
            </p:custDataLst>
          </p:nvPr>
        </p:nvSpPr>
        <p:spPr>
          <a:xfrm>
            <a:off x="7606320" y="3644682"/>
            <a:ext cx="375856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充分利用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大语言模型和深度推理功能，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快速更新对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技术前沿学术及应用知识的更新学习，提供领先的价值判断指标。</a:t>
            </a:r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4097219" y="4584949"/>
            <a:ext cx="2984146" cy="846001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marL="285750" indent="-285750"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n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进行行业及竞争研究，跟踪产品周期和用户数据，基于公司产品周期和行业景气度给予投资建议。</a:t>
            </a: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6196FC01-D419-C7F2-5EC2-5909B7738D90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8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14D0C4-4278-AE3F-5187-46B62D55957A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个基金经理人选，具体表现为在对应的行业基准模拟盘业绩排名前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9DE0032-CBFE-462C-BAF4-99425984BFC4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新领域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新能源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DA4A9E14-8798-D953-275C-05B695379D9E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9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DD5E55-87F2-483A-E45B-88CE9BA9025D}"/>
              </a:ext>
            </a:extLst>
          </p:cNvPr>
          <p:cNvSpPr/>
          <p:nvPr/>
        </p:nvSpPr>
        <p:spPr>
          <a:xfrm>
            <a:off x="4251645" y="1534662"/>
            <a:ext cx="5211683" cy="3450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中国新型电力系统建设的核心是智能预测、智能调度、智能调节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FE8DA70-D324-F043-58D1-2A63106087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8672" y="1879756"/>
            <a:ext cx="8766007" cy="45983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A6A79D-4C4C-E498-460B-A4DB8B8ED580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个基金经理人选，具体表现为在对应的行业基准模拟盘业绩排名前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2E0D374-8F7E-9E6C-FDEC-F483572ADB56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zh-CN" altLang="en-US" sz="2800" b="1" dirty="0">
                <a:solidFill>
                  <a:prstClr val="black"/>
                </a:solidFill>
                <a:highlight>
                  <a:srgbClr val="FF00FF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计划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新领域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创新药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extLst>
              <p:ext uri="{D42A27DB-BD31-4B8C-83A1-F6EECF244321}">
                <p14:modId xmlns:p14="http://schemas.microsoft.com/office/powerpoint/2010/main" val="2764412418"/>
              </p:ext>
            </p:extLst>
          </p:nvPr>
        </p:nvGraphicFramePr>
        <p:xfrm>
          <a:off x="2354580" y="1588168"/>
          <a:ext cx="9575165" cy="4800566"/>
        </p:xfrm>
        <a:graphic>
          <a:graphicData uri="http://schemas.openxmlformats.org/drawingml/2006/table">
            <a:tbl>
              <a:tblPr/>
              <a:tblGrid>
                <a:gridCol w="185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8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036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AI赋能模式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92A9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具体策略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59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投资策略革新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靶点评估与早期发现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AI文献挖掘+靶点可行性评分，整合多组学数据，AI模型量化新靶点的成药概率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临床成功率预测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动态概率预测模型+患者分层分析，实时预测各阶段成功概率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投资组合管理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知识图谱网+蒙特卡洛模拟，优化在给定风险下的配置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659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量化因子体系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临床概率因子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靶点质量+设计强度，细化历史成功率，将医药知识转化为可量化的信号因子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商业价值因子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市场规模+竞争格局+定价能力+专利壁垒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5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公司能力因子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团队背景+研发效率+财务报表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251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技术平台与模型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数据层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构建专属的“AI投研平台”和统一的“医药数据库”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模拟与算法层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概率加权净现值模型+事件驱动模型+多因子选股</a:t>
                      </a:r>
                      <a:endParaRPr lang="zh-CN" altLang="en-US" sz="12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应用层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分析师“副驾驶”，智能预警系统</a:t>
                      </a: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自动化公司画像与报告生成</a:t>
                      </a: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估值模型助手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5636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生态构建与赋能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赋能被投企业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提供“数据与AI即服务”平台，靶点地图与竞品监控</a:t>
                      </a: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临床试验方案模拟器</a:t>
                      </a:r>
                      <a:r>
                        <a:rPr lang="en-US" alt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真实世界证据分析工具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065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投资前沿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sz="12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系统性投资“Biotech”公司，核心是AI驱动的药物发现平台，不仅是单一管线</a:t>
                      </a:r>
                    </a:p>
                  </a:txBody>
                  <a:tcPr marL="36000" marR="360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ADA33571-7529-6A96-E33A-AD8A79CE003B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06B70827-A504-4031-B5B4-75733B93EC38}" type="slidenum">
              <a:rPr lang="zh-CN" altLang="en-US" smtClean="0">
                <a:solidFill>
                  <a:prstClr val="black"/>
                </a:solidFill>
                <a:latin typeface="Times New Roman"/>
                <a:ea typeface="微软雅黑"/>
              </a:rPr>
              <a:pPr algn="ctr"/>
              <a:t>10</a:t>
            </a:fld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B5F7C7-D864-A5E9-545F-D19F5D6874C0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业务目标：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个基金经理人选，具体表现为在对应的行业基准模拟盘业绩排名前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98EB2C9-36C0-E465-006E-912F3F753883}"/>
              </a:ext>
            </a:extLst>
          </p:cNvPr>
          <p:cNvSpPr/>
          <p:nvPr/>
        </p:nvSpPr>
        <p:spPr>
          <a:xfrm>
            <a:off x="-662892" y="1682890"/>
            <a:ext cx="1259218" cy="9413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研究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4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3010"/>
  <p:tag name="KSO_WM_UNIT_LAYERLEVEL" val="1_1_1"/>
  <p:tag name="KSO_WM_TAG_VERSION" val="3.0"/>
  <p:tag name="KSO_WM_UNIT_VALUE" val="10"/>
  <p:tag name="KSO_WM_UNIT_TYPE" val="l_h_a"/>
  <p:tag name="KSO_WM_UNIT_ID" val="diagram20233010_3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29.1999938964844,&quot;left&quot;:25.969089134396473,&quot;top&quot;:138.87236525648223,&quot;width&quot;:640.7045776367189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,&quot;colorType&quot;:1,&quot;foreColorIndex&quot;:5,&quot;pos&quot;:0.4399999976158142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LINE_FORE_SCHEMECOLOR_INDEX" val="14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5,5,5,5,5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25*354"/>
  <p:tag name="TABLE_ENDDRAG_RECT" val="174*130*625*35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25*354"/>
  <p:tag name="TABLE_ENDDRAG_RECT" val="174*130*625*35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65,&quot;left&quot;:19.15,&quot;top&quot;:62.25,&quot;width&quot;:695.1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720*384"/>
  <p:tag name="TABLE_ENDDRAG_RECT" val="194*95*720*384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3298</TotalTime>
  <Words>3548</Words>
  <Application>Microsoft Office PowerPoint</Application>
  <PresentationFormat>宽屏</PresentationFormat>
  <Paragraphs>364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微软雅黑</vt:lpstr>
      <vt:lpstr>Arial</vt:lpstr>
      <vt:lpstr>Calibri</vt:lpstr>
      <vt:lpstr>Calibri Light</vt:lpstr>
      <vt:lpstr>Times New Roman</vt:lpstr>
      <vt:lpstr>Wingdings</vt:lpstr>
      <vt:lpstr>Office 主题​​</vt:lpstr>
      <vt:lpstr>3_Office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刘耘娜</cp:lastModifiedBy>
  <cp:revision>3587</cp:revision>
  <cp:lastPrinted>2025-11-18T11:22:18Z</cp:lastPrinted>
  <dcterms:created xsi:type="dcterms:W3CDTF">2022-03-16T10:45:00Z</dcterms:created>
  <dcterms:modified xsi:type="dcterms:W3CDTF">2026-10-22T02:25:04Z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