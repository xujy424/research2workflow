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71c4bc892d43d5" /><Relationship Type="http://schemas.openxmlformats.org/officeDocument/2006/relationships/extended-properties" Target="/docProps/app.xml" Id="Rb3fa4381c5c64336" /><Relationship Type="http://schemas.openxmlformats.org/officeDocument/2006/relationships/officeDocument" Target="/ppt/presentation.xml" Id="R97347dc12b7944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95a69184f14878"/>
  </p:sldMasterIdLst>
  <p:notesMasterIdLst>
    <p:notesMasterId xmlns:r="http://schemas.openxmlformats.org/officeDocument/2006/relationships" r:id="R6bd32524036c4457"/>
  </p:notesMasterIdLst>
  <p:sldIdLst>
    <p:sldId xmlns:r="http://schemas.openxmlformats.org/officeDocument/2006/relationships" id="256" r:id="R55a74708cfb64bfc"/>
    <p:sldId xmlns:r="http://schemas.openxmlformats.org/officeDocument/2006/relationships" id="257" r:id="R43d67307a81249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9956ff8f2d49a7" /><Relationship Type="http://schemas.openxmlformats.org/officeDocument/2006/relationships/slideMaster" Target="/ppt/slideMasters/slideMaster1.xml" Id="R0a95a69184f14878" /><Relationship Type="http://schemas.openxmlformats.org/officeDocument/2006/relationships/notesMaster" Target="/ppt/notesMasters/notesMaster1.xml" Id="R6bd32524036c4457" /><Relationship Type="http://schemas.openxmlformats.org/officeDocument/2006/relationships/presProps" Target="/ppt/presProps.xml" Id="Rccb7effa20a346e4" /><Relationship Type="http://schemas.openxmlformats.org/officeDocument/2006/relationships/tableStyles" Target="/ppt/tableStyles.xml" Id="R06afdd0961064cc8" /><Relationship Type="http://schemas.openxmlformats.org/officeDocument/2006/relationships/slide" Target="/ppt/slides/slide1.xml" Id="R55a74708cfb64bfc" /><Relationship Type="http://schemas.openxmlformats.org/officeDocument/2006/relationships/slide" Target="/ppt/slides/slide2.xml" Id="R43d67307a81249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e81813b9be43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b3d5bf8be841b2" /><Relationship Type="http://schemas.openxmlformats.org/officeDocument/2006/relationships/notesMaster" Target="/ppt/notesMasters/notesMaster1.xml" Id="R1cc8c26348cc41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3c3242719e485b" /><Relationship Type="http://schemas.openxmlformats.org/officeDocument/2006/relationships/notesMaster" Target="/ppt/notesMasters/notesMaster1.xml" Id="R076be54b44514c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efb5afcc7f48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aeafde6824e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1c313ccb474c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445d45fef4e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2fb9041d24a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30076b827442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7B5CEF-853B-472D-884A-2B189284C1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D5BFE06-3F2D-47B6-83E8-48A2ED0AD8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94BB352-05D1-4479-9319-0BF00675FB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0118F5-EF04-4D91-8893-D50617608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10622DA-C8F9-4D65-A98D-E0A12504F7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9B289C-8415-48E9-A062-716C8F53D3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AE5369-A286-482F-96DC-3211F68959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0AD264B-9D41-44DD-AFC5-55E285E265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75A053E-9A45-487B-B362-EE74CEDAA0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2CB5D4-D92E-4D27-8E99-F775C3914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e93c45ec774c76" /><Relationship Type="http://schemas.openxmlformats.org/officeDocument/2006/relationships/slideLayout" Target="/ppt/slideLayouts/slideLayout1.xml" Id="R989a37ef8d6a45e6" /><Relationship Type="http://schemas.openxmlformats.org/officeDocument/2006/relationships/slideLayout" Target="/ppt/slideLayouts/slideLayout2.xml" Id="Rbdb559ffedd64723" /><Relationship Type="http://schemas.openxmlformats.org/officeDocument/2006/relationships/slideLayout" Target="/ppt/slideLayouts/slideLayout3.xml" Id="R17ecfeccc3324b38" /><Relationship Type="http://schemas.openxmlformats.org/officeDocument/2006/relationships/slideLayout" Target="/ppt/slideLayouts/slideLayout4.xml" Id="Rae42844f8b834396" /><Relationship Type="http://schemas.openxmlformats.org/officeDocument/2006/relationships/slideLayout" Target="/ppt/slideLayouts/slideLayout5.xml" Id="R342ab5bc31824b2a" /><Relationship Type="http://schemas.openxmlformats.org/officeDocument/2006/relationships/slideLayout" Target="/ppt/slideLayouts/slideLayout6.xml" Id="R0f3457fa363248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9a37ef8d6a45e6"/>
    <p:sldLayoutId xmlns:r="http://schemas.openxmlformats.org/officeDocument/2006/relationships" id="2147483650" r:id="Rbdb559ffedd64723"/>
    <p:sldLayoutId xmlns:r="http://schemas.openxmlformats.org/officeDocument/2006/relationships" id="2147483651" r:id="R17ecfeccc3324b38"/>
    <p:sldLayoutId xmlns:r="http://schemas.openxmlformats.org/officeDocument/2006/relationships" id="2147483652" r:id="Rae42844f8b834396"/>
    <p:sldLayoutId xmlns:r="http://schemas.openxmlformats.org/officeDocument/2006/relationships" id="2147483653" r:id="R342ab5bc31824b2a"/>
    <p:sldLayoutId xmlns:r="http://schemas.openxmlformats.org/officeDocument/2006/relationships" id="2147483654" r:id="R0f3457fa363248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893096db5b4944" /><Relationship Type="http://schemas.openxmlformats.org/officeDocument/2006/relationships/notesSlide" Target="/ppt/notesSlides/notesSlide1.xml" Id="R97787573b00e46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93a10607144081" /><Relationship Type="http://schemas.openxmlformats.org/officeDocument/2006/relationships/notesSlide" Target="/ppt/notesSlides/notesSlide2.xml" Id="R4c6a397f56a14f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4D0F8-D8D0-47C0-BA0F-ABE1AD5C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43075"/>
            <a:ext cx="514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AI风格感知：条件输入与状态门控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10D98-28E5-4E3F-B650-23220C60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2882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Q1统一L2、预期及成长因子的生效时点，构建大小盘、成长价值与风险状态样本。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9E399-5E9A-4E29-9494-45EB3225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4317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Q2借鉴PRIME加入状态输入与门控，对比无状态GRU和分位规则，检验未来因子收益。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6349B-20FF-4D85-8D40-38A248BF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057525"/>
            <a:ext cx="514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多任务学习：共享GRU，预测不同期限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7D88A-FCD4-481B-8CB9-CEEC3859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4327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设置1、3、5日预测头，各自拟合真实收益，以等权损失训练，对比单一5日标签。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6DDBF-3CD4-4FB9-8095-9DA34E57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先检验5日RankIC与成本后收益，优于单任务后再试自适应权重，独立样本留作终检。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859E4-AF02-48E7-AF9E-083ABEEF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371975"/>
            <a:ext cx="514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滚动验证：识别模型的真实增量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6B74FC-5E7A-49BC-B8E1-8CEEC02E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5772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Q3分别检验状态门控与多任务的贡献，比较分域RankIC、分组单调性及成本后超额。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EC743-583E-4399-9E9B-146C7E1D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172075"/>
            <a:ext cx="4857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Q4跟踪通过检验的模拟盘，归档数据口径、模型配置与失效条件，训练验证按标签期隔离。</a:t>
            </a:r>
          </a:p>
        </p:txBody>
      </p:sp>
    </p:spTree>
    <p:extLst>
      <p:ext uri="{BB962C8B-B14F-4D97-AF65-F5344CB8AC3E}">
        <p14:creationId xmlns:p14="http://schemas.microsoft.com/office/powerpoint/2010/main" val="5580068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865F5-F259-473A-B106-F89323A7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1462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L2增强指增</a:t>
            </a:r>
          </a:p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特征构造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F2365-D76F-4156-B047-E53B77E4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33750"/>
            <a:ext cx="200025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Q1按时段、订单规模及主动方向拆分委托与成交样本。</a:t>
            </a:r>
          </a:p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提取订单流不平衡、交易聚集和冲击后流动性恢复，补充成长与预期因子。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F10E7-E648-4AE7-9C92-C9B972C1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71462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L2增强指增</a:t>
            </a:r>
          </a:p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AI筛选组合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2825B-72AB-4A20-B5CA-20AC02DD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33750"/>
            <a:ext cx="200025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Q2用机器学习检验因子增量，控制行业市值及动量反转的影响。</a:t>
            </a:r>
          </a:p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按ICIR和相关性筛选，加入风险模型、换手与容量约束。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971F5-8699-4503-AA56-24D0F23C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1462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状态感知配置</a:t>
            </a:r>
          </a:p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指标与面板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E41599-1E11-4ABF-B400-EAD77E14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200025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Q1建立大小盘、行业轮动、ETF申赎及流动性压力指标库。</a:t>
            </a:r>
          </a:p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输出多窗口历史分位，检验对未来因子收益的预测力，区分输入与监控。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86F42-FDBA-4EC1-9D4D-7FB2131F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1462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1">
                <a:solidFill>
                  <a:srgbClr val="000000"/>
                </a:solidFill>
              </a:defRPr>
            </a:defPPr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 b="1">
                <a:solidFill>
                  <a:srgbClr val="000000"/>
                </a:solidFill>
              </a:defRPr>
            </a:lvl2pPr>
            <a:lvl3pPr>
              <a:defRPr sz="1400" b="1">
                <a:solidFill>
                  <a:srgbClr val="000000"/>
                </a:solidFill>
              </a:defRPr>
            </a:lvl3pPr>
            <a:lvl4pPr>
              <a:defRPr sz="1400" b="1">
                <a:solidFill>
                  <a:srgbClr val="000000"/>
                </a:solidFill>
              </a:defRPr>
            </a:lvl4pPr>
            <a:lvl5pPr>
              <a:defRPr sz="1400" b="1">
                <a:solidFill>
                  <a:srgbClr val="000000"/>
                </a:solidFill>
              </a:defRPr>
            </a:lvl5pPr>
            <a:lvl6pPr>
              <a:defRPr sz="1400" b="1">
                <a:solidFill>
                  <a:srgbClr val="000000"/>
                </a:solidFill>
              </a:defRPr>
            </a:lvl6pPr>
            <a:lvl7pPr>
              <a:defRPr sz="1400" b="1">
                <a:solidFill>
                  <a:srgbClr val="000000"/>
                </a:solidFill>
              </a:defRPr>
            </a:lvl7pPr>
            <a:lvl8pPr>
              <a:defRPr sz="1400" b="1">
                <a:solidFill>
                  <a:srgbClr val="000000"/>
                </a:solidFill>
              </a:defRPr>
            </a:lvl8pPr>
            <a:lvl9pPr>
              <a:defRPr sz="1400" b="1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状态感知配置</a:t>
            </a:r>
          </a:p>
          <a:p xmlns:a="http://schemas.openxmlformats.org/drawingml/2006/main">
            <a:pPr>
              <a:defRPr sz="1400" b="1">
                <a:solidFill>
                  <a:srgbClr val="000000"/>
                </a:solidFill>
              </a:defRPr>
            </a:pPr>
            <a:r>
              <a:rPr sz="1400" b="1">
                <a:solidFill>
                  <a:srgbClr val="000000"/>
                </a:solidFill>
              </a:rPr>
              <a:t>AI动态权重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EC021-2972-42AD-9151-8BA7D454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333750"/>
            <a:ext cx="200025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00" b="0">
                <a:solidFill>
                  <a:srgbClr val="000000"/>
                </a:solidFill>
              </a:defRPr>
            </a:defPPr>
            <a:lvl1pPr>
              <a:defRPr sz="1400" b="0">
                <a:solidFill>
                  <a:srgbClr val="000000"/>
                </a:solidFill>
              </a:defRPr>
            </a:lvl1pPr>
            <a:lvl2pPr>
              <a:defRPr sz="1400" b="0">
                <a:solidFill>
                  <a:srgbClr val="000000"/>
                </a:solidFill>
              </a:defRPr>
            </a:lvl2pPr>
            <a:lvl3pPr>
              <a:defRPr sz="1400" b="0">
                <a:solidFill>
                  <a:srgbClr val="000000"/>
                </a:solidFill>
              </a:defRPr>
            </a:lvl3pPr>
            <a:lvl4pPr>
              <a:defRPr sz="1400" b="0">
                <a:solidFill>
                  <a:srgbClr val="000000"/>
                </a:solidFill>
              </a:defRPr>
            </a:lvl4pPr>
            <a:lvl5pPr>
              <a:defRPr sz="1400" b="0">
                <a:solidFill>
                  <a:srgbClr val="000000"/>
                </a:solidFill>
              </a:defRPr>
            </a:lvl5pPr>
            <a:lvl6pPr>
              <a:defRPr sz="1400" b="0">
                <a:solidFill>
                  <a:srgbClr val="000000"/>
                </a:solidFill>
              </a:defRPr>
            </a:lvl6pPr>
            <a:lvl7pPr>
              <a:defRPr sz="1400" b="0">
                <a:solidFill>
                  <a:srgbClr val="000000"/>
                </a:solidFill>
              </a:defRPr>
            </a:lvl7pPr>
            <a:lvl8pPr>
              <a:defRPr sz="1400" b="0">
                <a:solidFill>
                  <a:srgbClr val="000000"/>
                </a:solidFill>
              </a:defRPr>
            </a:lvl8pPr>
            <a:lvl9pPr>
              <a:defRPr sz="1400" b="0">
                <a:solidFill>
                  <a:srgbClr val="000000"/>
                </a:solidFill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Q2比较等权、固定ICIR、分位规则与AI状态门控配置。</a:t>
            </a:r>
          </a:p>
          <a:p xmlns:a="http://schemas.openxmlformats.org/drawingml/2006/main">
            <a:pPr>
              <a:defRPr sz="1400" b="0">
                <a:solidFill>
                  <a:srgbClr val="000000"/>
                </a:solidFill>
              </a:defRPr>
            </a:pPr>
            <a:r>
              <a:rPr sz="1400" b="0">
                <a:solidFill>
                  <a:srgbClr val="000000"/>
                </a:solidFill>
              </a:rPr>
              <a:t>Q3做成本压力测试，Q4模拟盘复盘超额、回撤和换手，保留人工调整。</a:t>
            </a:r>
          </a:p>
        </p:txBody>
      </p:sp>
    </p:spTree>
    <p:extLst>
      <p:ext uri="{BB962C8B-B14F-4D97-AF65-F5344CB8AC3E}">
        <p14:creationId xmlns:p14="http://schemas.microsoft.com/office/powerpoint/2010/main" val="14896448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2026-10-26T06:16:21.7580000Z</dcterms:created>
  <dcterms:modified xsi:type="dcterms:W3CDTF">2026-10-26T06:16:21.7580000Z</dcterms:modified>
</coreProperties>
</file>