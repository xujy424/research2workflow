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62" r:id="rId1"/>
  </p:sldMasterIdLst>
  <p:notesMasterIdLst>
    <p:notesMasterId r:id="rId4"/>
  </p:notesMasterIdLst>
  <p:handoutMasterIdLst>
    <p:handoutMasterId r:id="rId5"/>
  </p:handoutMasterIdLst>
  <p:sldIdLst>
    <p:sldId id="2147377771" r:id="rId2"/>
    <p:sldId id="2147377772" r:id="rId3"/>
  </p:sldIdLst>
  <p:sldSz cx="12192000" cy="6858000"/>
  <p:notesSz cx="6807200" cy="9939338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7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4" clrIdx="0"/>
  <p:cmAuthor id="2" name="kongkaijia" initials="K" lastIdx="1" clrIdx="1"/>
  <p:cmAuthor id="3" name="8613967107247" initials="8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F3"/>
    <a:srgbClr val="392A96"/>
    <a:srgbClr val="4A589B"/>
    <a:srgbClr val="4469BE"/>
    <a:srgbClr val="547CC7"/>
    <a:srgbClr val="698CD2"/>
    <a:srgbClr val="FFFFFF"/>
    <a:srgbClr val="5677BB"/>
    <a:srgbClr val="4168B0"/>
    <a:srgbClr val="3256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13" autoAdjust="0"/>
    <p:restoredTop sz="93775" autoAdjust="0"/>
  </p:normalViewPr>
  <p:slideViewPr>
    <p:cSldViewPr snapToGrid="0" showGuides="1">
      <p:cViewPr varScale="1">
        <p:scale>
          <a:sx n="84" d="100"/>
          <a:sy n="84" d="100"/>
        </p:scale>
        <p:origin x="79" y="192"/>
      </p:cViewPr>
      <p:guideLst>
        <p:guide orient="horz" pos="2161"/>
        <p:guide pos="377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52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  <a:t>2026/10/26</a:t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1" y="4783306"/>
            <a:ext cx="5445760" cy="3913615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工作基础：上季度参考中的事件驱动、</a:t>
            </a:r>
            <a:r>
              <a:rPr lang="en-US" altLang="zh-CN"/>
              <a:t>LLM</a:t>
            </a:r>
            <a:r>
              <a:rPr lang="zh-CN" altLang="en-US"/>
              <a:t>因子方向；本项目</a:t>
            </a:r>
            <a:r>
              <a:rPr lang="en-US" altLang="zh-CN"/>
              <a:t>v2/ResearchFlow</a:t>
            </a:r>
            <a:r>
              <a:rPr lang="zh-CN" altLang="en-US"/>
              <a:t>单因子检验、因子登记及机器学习模块。季度节点与交付物为</a:t>
            </a:r>
            <a:r>
              <a:rPr lang="en-US" altLang="zh-CN"/>
              <a:t>2027</a:t>
            </a:r>
            <a:r>
              <a:rPr lang="zh-CN" altLang="en-US"/>
              <a:t>年拟定计划，未将研究模块表述为实盘成果。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55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工作基础：</a:t>
            </a:r>
            <a:r>
              <a:rPr lang="en-US" altLang="zh-CN"/>
              <a:t>v2/ResearchFlow/README_v2.md</a:t>
            </a:r>
            <a:r>
              <a:rPr lang="zh-CN" altLang="en-US"/>
              <a:t>；</a:t>
            </a:r>
            <a:r>
              <a:rPr lang="en-US" altLang="zh-CN"/>
              <a:t>v2/Monitor/risk.py</a:t>
            </a:r>
            <a:r>
              <a:rPr lang="zh-CN" altLang="en-US"/>
              <a:t>、</a:t>
            </a:r>
            <a:r>
              <a:rPr lang="en-US" altLang="zh-CN"/>
              <a:t>style.py</a:t>
            </a:r>
            <a:r>
              <a:rPr lang="zh-CN" altLang="en-US"/>
              <a:t>、</a:t>
            </a:r>
            <a:r>
              <a:rPr lang="en-US" altLang="zh-CN"/>
              <a:t>micro.py</a:t>
            </a:r>
            <a:r>
              <a:rPr lang="zh-CN" altLang="en-US"/>
              <a:t>；上季度参考中的组合优化与动态权重方向。拟定计划以样本外和模拟盘检验为前提，不作收益承诺。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855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09CF5-116C-4BCD-847A-AECE88C31DD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70322-7507-45AB-B146-2ADEB5E5C724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800CF-EFCB-4FE1-9D94-F08D094C50A0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F9BF-B070-4016-8B98-8AD75DBCEBF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5FEF0-3D51-49F3-9230-D09BFCE66748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647E-AF21-4BC6-9085-9B2A80650086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370EE-688F-4DD6-964A-506A37311987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548FA-3A25-427F-B5C1-05FE651C4EB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443A-F0C5-444F-B401-77BAEFADDAB1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054E1-EE94-4FA9-9F0B-E66AC9E9D49C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5F72-5D5C-449E-A518-38358EAF45E2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4B3C-580F-4FB7-A2AC-067F76B98959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5" name="Line 12"/>
          <p:cNvSpPr>
            <a:spLocks noChangeShapeType="1"/>
          </p:cNvSpPr>
          <p:nvPr/>
        </p:nvSpPr>
        <p:spPr bwMode="auto">
          <a:xfrm>
            <a:off x="0" y="923925"/>
            <a:ext cx="12192000" cy="0"/>
          </a:xfrm>
          <a:prstGeom prst="line">
            <a:avLst/>
          </a:prstGeom>
          <a:noFill/>
          <a:ln w="76200">
            <a:solidFill>
              <a:srgbClr val="392A96"/>
            </a:solidFill>
            <a:miter lim="800000"/>
          </a:ln>
        </p:spPr>
        <p:txBody>
          <a:bodyPr wrap="none" lIns="92549" tIns="46280" rIns="92549" bIns="46280"/>
          <a:lstStyle/>
          <a:p>
            <a:endParaRPr lang="zh-CN" altLang="en-US" sz="1800">
              <a:cs typeface="微软雅黑" panose="020B0503020204020204" pitchFamily="34" charset="-122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93759C-9C06-4EBB-AD2A-39C071E1AB49}" type="datetime1">
              <a:rPr lang="zh-CN" altLang="en-US" smtClean="0"/>
              <a:t>2026/10/26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AA2EF9-2AFE-43D0-BC3E-73A7881286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2B960-645A-40D2-898D-B4C821FD2B3D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70827-A504-4031-B5B4-75733B93EC3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923925"/>
            <a:ext cx="12204000" cy="0"/>
          </a:xfrm>
          <a:prstGeom prst="line">
            <a:avLst/>
          </a:prstGeom>
          <a:noFill/>
          <a:ln w="76200">
            <a:solidFill>
              <a:srgbClr val="392A9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三、业务计划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新技术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D8B3E80-239A-0A03-9B45-25CEA452DE94}"/>
              </a:ext>
            </a:extLst>
          </p:cNvPr>
          <p:cNvGrpSpPr/>
          <p:nvPr/>
        </p:nvGrpSpPr>
        <p:grpSpPr>
          <a:xfrm>
            <a:off x="7783854" y="1271601"/>
            <a:ext cx="3211155" cy="5221274"/>
            <a:chOff x="7771237" y="1044200"/>
            <a:chExt cx="3233618" cy="5257799"/>
          </a:xfrm>
        </p:grpSpPr>
        <p:sp>
          <p:nvSpPr>
            <p:cNvPr id="10" name="箭头: 环形 9">
              <a:extLst>
                <a:ext uri="{FF2B5EF4-FFF2-40B4-BE49-F238E27FC236}">
                  <a16:creationId xmlns:a16="http://schemas.microsoft.com/office/drawing/2014/main" id="{F5CE000B-52F3-AB09-1065-B9127840C4A2}"/>
                </a:ext>
              </a:extLst>
            </p:cNvPr>
            <p:cNvSpPr/>
            <p:nvPr/>
          </p:nvSpPr>
          <p:spPr>
            <a:xfrm>
              <a:off x="8474136" y="1044200"/>
              <a:ext cx="2530719" cy="2531104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08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BE795D23-EBFC-9560-BAE4-566A3040B121}"/>
                </a:ext>
              </a:extLst>
            </p:cNvPr>
            <p:cNvSpPr/>
            <p:nvPr/>
          </p:nvSpPr>
          <p:spPr>
            <a:xfrm>
              <a:off x="9033508" y="1958005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事件样本库</a:t>
              </a:r>
              <a:endParaRPr lang="zh-CN" altLang="en-US" sz="1600" kern="1200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形状 11">
              <a:extLst>
                <a:ext uri="{FF2B5EF4-FFF2-40B4-BE49-F238E27FC236}">
                  <a16:creationId xmlns:a16="http://schemas.microsoft.com/office/drawing/2014/main" id="{44C310D8-74E2-02F7-A3EC-B40CF40E5A34}"/>
                </a:ext>
              </a:extLst>
            </p:cNvPr>
            <p:cNvSpPr/>
            <p:nvPr/>
          </p:nvSpPr>
          <p:spPr>
            <a:xfrm>
              <a:off x="7771237" y="2498507"/>
              <a:ext cx="2530719" cy="2531104"/>
            </a:xfrm>
            <a:prstGeom prst="leftCircularArrow">
              <a:avLst>
                <a:gd name="adj1" fmla="val 10980"/>
                <a:gd name="adj2" fmla="val 1142322"/>
                <a:gd name="adj3" fmla="val 6300000"/>
                <a:gd name="adj4" fmla="val 189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3DC86F38-A254-4BB4-B24A-D04FED6020EA}"/>
                </a:ext>
              </a:extLst>
            </p:cNvPr>
            <p:cNvSpPr/>
            <p:nvPr/>
          </p:nvSpPr>
          <p:spPr>
            <a:xfrm>
              <a:off x="8171367" y="3420725"/>
              <a:ext cx="1730460" cy="702967"/>
            </a:xfrm>
            <a:custGeom>
              <a:avLst/>
              <a:gdLst>
                <a:gd name="connsiteX0" fmla="*/ 0 w 1730460"/>
                <a:gd name="connsiteY0" fmla="*/ 0 h 702967"/>
                <a:gd name="connsiteX1" fmla="*/ 1730460 w 1730460"/>
                <a:gd name="connsiteY1" fmla="*/ 0 h 702967"/>
                <a:gd name="connsiteX2" fmla="*/ 1730460 w 1730460"/>
                <a:gd name="connsiteY2" fmla="*/ 702967 h 702967"/>
                <a:gd name="connsiteX3" fmla="*/ 0 w 1730460"/>
                <a:gd name="connsiteY3" fmla="*/ 702967 h 702967"/>
                <a:gd name="connsiteX4" fmla="*/ 0 w 1730460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460" h="702967">
                  <a:moveTo>
                    <a:pt x="0" y="0"/>
                  </a:moveTo>
                  <a:lnTo>
                    <a:pt x="1730460" y="0"/>
                  </a:lnTo>
                  <a:lnTo>
                    <a:pt x="1730460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模型对照检验</a:t>
              </a:r>
              <a:endParaRPr lang="zh-CN" altLang="en-US" sz="1600" kern="1200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空心弧 13">
              <a:extLst>
                <a:ext uri="{FF2B5EF4-FFF2-40B4-BE49-F238E27FC236}">
                  <a16:creationId xmlns:a16="http://schemas.microsoft.com/office/drawing/2014/main" id="{30BD113A-6086-EC98-8BB9-BCC5EB8D71AD}"/>
                </a:ext>
              </a:extLst>
            </p:cNvPr>
            <p:cNvSpPr/>
            <p:nvPr/>
          </p:nvSpPr>
          <p:spPr>
            <a:xfrm>
              <a:off x="8654257" y="4126848"/>
              <a:ext cx="2174280" cy="2175151"/>
            </a:xfrm>
            <a:prstGeom prst="blockArc">
              <a:avLst>
                <a:gd name="adj1" fmla="val 13500000"/>
                <a:gd name="adj2" fmla="val 10800000"/>
                <a:gd name="adj3" fmla="val 1274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7C6A0CCB-92C1-EBC7-EF60-1559666AB7FD}"/>
                </a:ext>
              </a:extLst>
            </p:cNvPr>
            <p:cNvSpPr/>
            <p:nvPr/>
          </p:nvSpPr>
          <p:spPr>
            <a:xfrm>
              <a:off x="9036835" y="4885548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因子持续跟踪</a:t>
              </a:r>
              <a:endParaRPr lang="zh-CN" altLang="en-US" sz="1600" kern="12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prstClr val="black"/>
                </a:solidFill>
                <a:latin typeface="Times New Roman"/>
                <a:ea typeface="微软雅黑"/>
              </a:rPr>
              <a:t>1</a:t>
            </a:r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6BD552-204D-B356-442E-D53F1D074E88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/>
              <a:t>业务目标：完善公告事件模型与文本因子的研究验证。</a:t>
            </a:r>
            <a:endParaRPr lang="zh-CN" altLang="en-US" sz="16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844B18-2520-4EFA-37A0-E1854702A41E}"/>
              </a:ext>
            </a:extLst>
          </p:cNvPr>
          <p:cNvSpPr>
            <a:spLocks noGrp="1"/>
          </p:cNvSpPr>
          <p:nvPr/>
        </p:nvSpPr>
        <p:spPr>
          <a:xfrm>
            <a:off x="2600325" y="17430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公告事件模型：先做财报与业绩预告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44C5F8A-77DA-C587-5AC1-175648056EAA}"/>
              </a:ext>
            </a:extLst>
          </p:cNvPr>
          <p:cNvSpPr>
            <a:spLocks noGrp="1"/>
          </p:cNvSpPr>
          <p:nvPr/>
        </p:nvSpPr>
        <p:spPr>
          <a:xfrm>
            <a:off x="2838450" y="20288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复用现有事件驱动模型，按公告披露时间建样本，保留原文、事件类别及预期差标签。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0BEDFE2-BF9C-7A5D-3269-5E606E1CBEC5}"/>
              </a:ext>
            </a:extLst>
          </p:cNvPr>
          <p:cNvSpPr>
            <a:spLocks noGrp="1"/>
          </p:cNvSpPr>
          <p:nvPr/>
        </p:nvSpPr>
        <p:spPr>
          <a:xfrm>
            <a:off x="2838450" y="25431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Q1完成样本核验，Q2比较量价基线与事件模型，检查事件后5日、20日的预测增量。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81890E-1A1E-D8CA-789E-14FA21F09155}"/>
              </a:ext>
            </a:extLst>
          </p:cNvPr>
          <p:cNvSpPr>
            <a:spLocks noGrp="1"/>
          </p:cNvSpPr>
          <p:nvPr/>
        </p:nvSpPr>
        <p:spPr>
          <a:xfrm>
            <a:off x="2600325" y="305752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文本因子：先验证，再扩展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8CFB1A-1B64-1AB0-9BB5-D9B1AE3FD48A}"/>
              </a:ext>
            </a:extLst>
          </p:cNvPr>
          <p:cNvSpPr>
            <a:spLocks noGrp="1"/>
          </p:cNvSpPr>
          <p:nvPr/>
        </p:nvSpPr>
        <p:spPr>
          <a:xfrm>
            <a:off x="2838450" y="33432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用大模型提取公告的方向、强度和依据，人工抽查后，与现有财务量价因子做增量检验。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F41D39F-F4F6-3691-8B8A-11BA3A8092BA}"/>
              </a:ext>
            </a:extLst>
          </p:cNvPr>
          <p:cNvSpPr>
            <a:spLocks noGrp="1"/>
          </p:cNvSpPr>
          <p:nvPr/>
        </p:nvSpPr>
        <p:spPr>
          <a:xfrm>
            <a:off x="2838450" y="38576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Q3完成一轮样本外测试，保留有效因子，记录无效结果与失败原因。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2B3228-CC90-A480-6414-68600A23EE8C}"/>
              </a:ext>
            </a:extLst>
          </p:cNvPr>
          <p:cNvSpPr>
            <a:spLocks noGrp="1"/>
          </p:cNvSpPr>
          <p:nvPr/>
        </p:nvSpPr>
        <p:spPr>
          <a:xfrm>
            <a:off x="2600325" y="43719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研究流程：把重复检验固定下来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8B9E115-F48D-63DF-343F-8FD0015CFFDC}"/>
              </a:ext>
            </a:extLst>
          </p:cNvPr>
          <p:cNvSpPr>
            <a:spLocks noGrp="1"/>
          </p:cNvSpPr>
          <p:nvPr/>
        </p:nvSpPr>
        <p:spPr>
          <a:xfrm>
            <a:off x="2838450" y="46577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统一输出RankIC、分组收益、换手及成本后表现，登记数据版本、训练区间与参数。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DBB729-6F00-13AC-C1CA-514102A97D7A}"/>
              </a:ext>
            </a:extLst>
          </p:cNvPr>
          <p:cNvSpPr>
            <a:spLocks noGrp="1"/>
          </p:cNvSpPr>
          <p:nvPr/>
        </p:nvSpPr>
        <p:spPr>
          <a:xfrm>
            <a:off x="2838450" y="51720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Q4交付事件样本库、模型对照报告及因子跟踪清单，支持后续策略复用。</a:t>
            </a:r>
          </a:p>
        </p:txBody>
      </p:sp>
    </p:spTree>
    <p:extLst>
      <p:ext uri="{BB962C8B-B14F-4D97-AF65-F5344CB8AC3E}">
        <p14:creationId xmlns:p14="http://schemas.microsoft.com/office/powerpoint/2010/main" val="37247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14681" y="267419"/>
            <a:ext cx="8436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三、业务计划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研究部</a:t>
            </a:r>
            <a:r>
              <a:rPr lang="en-US" altLang="zh-CN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2800" b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新策略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D8B3E80-239A-0A03-9B45-25CEA452DE94}"/>
              </a:ext>
            </a:extLst>
          </p:cNvPr>
          <p:cNvGrpSpPr/>
          <p:nvPr/>
        </p:nvGrpSpPr>
        <p:grpSpPr>
          <a:xfrm>
            <a:off x="7783854" y="1271601"/>
            <a:ext cx="3211155" cy="5221274"/>
            <a:chOff x="7771237" y="1044200"/>
            <a:chExt cx="3233618" cy="5257799"/>
          </a:xfrm>
        </p:grpSpPr>
        <p:sp>
          <p:nvSpPr>
            <p:cNvPr id="10" name="箭头: 环形 9">
              <a:extLst>
                <a:ext uri="{FF2B5EF4-FFF2-40B4-BE49-F238E27FC236}">
                  <a16:creationId xmlns:a16="http://schemas.microsoft.com/office/drawing/2014/main" id="{F5CE000B-52F3-AB09-1065-B9127840C4A2}"/>
                </a:ext>
              </a:extLst>
            </p:cNvPr>
            <p:cNvSpPr/>
            <p:nvPr/>
          </p:nvSpPr>
          <p:spPr>
            <a:xfrm>
              <a:off x="8474136" y="1044200"/>
              <a:ext cx="2530719" cy="2531104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08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BE795D23-EBFC-9560-BAE4-566A3040B121}"/>
                </a:ext>
              </a:extLst>
            </p:cNvPr>
            <p:cNvSpPr/>
            <p:nvPr/>
          </p:nvSpPr>
          <p:spPr>
            <a:xfrm>
              <a:off x="9033508" y="1958005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多因子选股</a:t>
              </a:r>
              <a:endParaRPr lang="zh-CN" altLang="en-US" sz="1600" kern="1200" dirty="0">
                <a:latin typeface="微软雅黑" panose="020B0503020204020204" pitchFamily="34" charset="-122"/>
              </a:endParaRPr>
            </a:p>
          </p:txBody>
        </p:sp>
        <p:sp>
          <p:nvSpPr>
            <p:cNvPr id="12" name="形状 11">
              <a:extLst>
                <a:ext uri="{FF2B5EF4-FFF2-40B4-BE49-F238E27FC236}">
                  <a16:creationId xmlns:a16="http://schemas.microsoft.com/office/drawing/2014/main" id="{44C310D8-74E2-02F7-A3EC-B40CF40E5A34}"/>
                </a:ext>
              </a:extLst>
            </p:cNvPr>
            <p:cNvSpPr/>
            <p:nvPr/>
          </p:nvSpPr>
          <p:spPr>
            <a:xfrm>
              <a:off x="7771237" y="2498507"/>
              <a:ext cx="2530719" cy="2531104"/>
            </a:xfrm>
            <a:prstGeom prst="leftCircularArrow">
              <a:avLst>
                <a:gd name="adj1" fmla="val 10980"/>
                <a:gd name="adj2" fmla="val 1142322"/>
                <a:gd name="adj3" fmla="val 6300000"/>
                <a:gd name="adj4" fmla="val 18900000"/>
                <a:gd name="adj5" fmla="val 125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3DC86F38-A254-4BB4-B24A-D04FED6020EA}"/>
                </a:ext>
              </a:extLst>
            </p:cNvPr>
            <p:cNvSpPr/>
            <p:nvPr/>
          </p:nvSpPr>
          <p:spPr>
            <a:xfrm>
              <a:off x="8171367" y="3420725"/>
              <a:ext cx="1730460" cy="702967"/>
            </a:xfrm>
            <a:custGeom>
              <a:avLst/>
              <a:gdLst>
                <a:gd name="connsiteX0" fmla="*/ 0 w 1730460"/>
                <a:gd name="connsiteY0" fmla="*/ 0 h 702967"/>
                <a:gd name="connsiteX1" fmla="*/ 1730460 w 1730460"/>
                <a:gd name="connsiteY1" fmla="*/ 0 h 702967"/>
                <a:gd name="connsiteX2" fmla="*/ 1730460 w 1730460"/>
                <a:gd name="connsiteY2" fmla="*/ 702967 h 702967"/>
                <a:gd name="connsiteX3" fmla="*/ 0 w 1730460"/>
                <a:gd name="connsiteY3" fmla="*/ 702967 h 702967"/>
                <a:gd name="connsiteX4" fmla="*/ 0 w 1730460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0460" h="702967">
                  <a:moveTo>
                    <a:pt x="0" y="0"/>
                  </a:moveTo>
                  <a:lnTo>
                    <a:pt x="1730460" y="0"/>
                  </a:lnTo>
                  <a:lnTo>
                    <a:pt x="1730460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风险约束组合</a:t>
              </a:r>
              <a:endParaRPr lang="zh-CN" altLang="en-US" sz="1600" kern="1200" dirty="0">
                <a:latin typeface="微软雅黑" panose="020B0503020204020204" pitchFamily="34" charset="-122"/>
              </a:endParaRPr>
            </a:p>
          </p:txBody>
        </p:sp>
        <p:sp>
          <p:nvSpPr>
            <p:cNvPr id="14" name="空心弧 13">
              <a:extLst>
                <a:ext uri="{FF2B5EF4-FFF2-40B4-BE49-F238E27FC236}">
                  <a16:creationId xmlns:a16="http://schemas.microsoft.com/office/drawing/2014/main" id="{30BD113A-6086-EC98-8BB9-BCC5EB8D71AD}"/>
                </a:ext>
              </a:extLst>
            </p:cNvPr>
            <p:cNvSpPr/>
            <p:nvPr/>
          </p:nvSpPr>
          <p:spPr>
            <a:xfrm>
              <a:off x="8654257" y="4126848"/>
              <a:ext cx="2174280" cy="2175151"/>
            </a:xfrm>
            <a:prstGeom prst="blockArc">
              <a:avLst>
                <a:gd name="adj1" fmla="val 13500000"/>
                <a:gd name="adj2" fmla="val 10800000"/>
                <a:gd name="adj3" fmla="val 1274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7C6A0CCB-92C1-EBC7-EF60-1559666AB7FD}"/>
                </a:ext>
              </a:extLst>
            </p:cNvPr>
            <p:cNvSpPr/>
            <p:nvPr/>
          </p:nvSpPr>
          <p:spPr>
            <a:xfrm>
              <a:off x="9036835" y="4885548"/>
              <a:ext cx="1406272" cy="702967"/>
            </a:xfrm>
            <a:custGeom>
              <a:avLst/>
              <a:gdLst>
                <a:gd name="connsiteX0" fmla="*/ 0 w 1406272"/>
                <a:gd name="connsiteY0" fmla="*/ 0 h 702967"/>
                <a:gd name="connsiteX1" fmla="*/ 1406272 w 1406272"/>
                <a:gd name="connsiteY1" fmla="*/ 0 h 702967"/>
                <a:gd name="connsiteX2" fmla="*/ 1406272 w 1406272"/>
                <a:gd name="connsiteY2" fmla="*/ 702967 h 702967"/>
                <a:gd name="connsiteX3" fmla="*/ 0 w 1406272"/>
                <a:gd name="connsiteY3" fmla="*/ 702967 h 702967"/>
                <a:gd name="connsiteX4" fmla="*/ 0 w 1406272"/>
                <a:gd name="connsiteY4" fmla="*/ 0 h 702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6272" h="702967">
                  <a:moveTo>
                    <a:pt x="0" y="0"/>
                  </a:moveTo>
                  <a:lnTo>
                    <a:pt x="1406272" y="0"/>
                  </a:lnTo>
                  <a:lnTo>
                    <a:pt x="1406272" y="702967"/>
                  </a:lnTo>
                  <a:lnTo>
                    <a:pt x="0" y="70296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890" tIns="8890" rIns="8890" bIns="889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altLang="en-US" sz="1600" b="1" kern="1200"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模拟盘复盘</a:t>
              </a:r>
              <a:endParaRPr lang="zh-CN" altLang="en-US" sz="1600" kern="1200" dirty="0">
                <a:latin typeface="微软雅黑" panose="020B0503020204020204" pitchFamily="34" charset="-122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2EA949A-D83C-9A6F-E1FF-F1B213033B5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27114" y="1215992"/>
            <a:ext cx="1414346" cy="51460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sng" algn="ctr">
            <a:noFill/>
            <a:prstDash val="solid"/>
          </a:ln>
          <a:effectLst/>
        </p:spPr>
        <p:txBody>
          <a:bodyPr lIns="68580" tIns="34290" rIns="68580" bIns="3429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24AD3C2-0292-7EF5-D8B1-215DE4BDB292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24574" y="2000848"/>
          <a:ext cx="1414346" cy="306000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414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客户服务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294666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投资行为管理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产品业务布局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投资研究交易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2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工业化投研</a:t>
                      </a:r>
                      <a:endParaRPr lang="en-US" altLang="zh-CN" sz="1600" b="1" kern="1200" dirty="0">
                        <a:solidFill>
                          <a:srgbClr val="BCBBC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kern="1200" dirty="0">
                          <a:solidFill>
                            <a:srgbClr val="BCBBC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平台建设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EF82A8C9-8839-816B-DC95-7E6D3D4C154C}"/>
              </a:ext>
            </a:extLst>
          </p:cNvPr>
          <p:cNvSpPr txBox="1">
            <a:spLocks/>
          </p:cNvSpPr>
          <p:nvPr/>
        </p:nvSpPr>
        <p:spPr>
          <a:xfrm>
            <a:off x="0" y="649287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prstClr val="black"/>
                </a:solidFill>
                <a:latin typeface="Times New Roman"/>
                <a:ea typeface="微软雅黑"/>
              </a:rPr>
              <a:t>2</a:t>
            </a:r>
            <a:endParaRPr lang="zh-CN" altLang="en-US" dirty="0">
              <a:solidFill>
                <a:prstClr val="black"/>
              </a:solidFill>
              <a:latin typeface="Times New Roman"/>
              <a:ea typeface="微软雅黑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6BD552-204D-B356-442E-D53F1D074E88}"/>
              </a:ext>
            </a:extLst>
          </p:cNvPr>
          <p:cNvSpPr txBox="1"/>
          <p:nvPr/>
        </p:nvSpPr>
        <p:spPr>
          <a:xfrm>
            <a:off x="2280770" y="1234781"/>
            <a:ext cx="8436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 algn="just">
              <a:buFont typeface="Wingdings" panose="05000000000000000000" pitchFamily="2" charset="2"/>
              <a:buChar char="n"/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600"/>
              <a:t>业务目标：完成多因子选股与风险控制的策略验证。</a:t>
            </a:r>
            <a:endParaRPr lang="zh-CN" altLang="en-US" sz="16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4D8081-8C70-7394-32BB-F9C3C0667556}"/>
              </a:ext>
            </a:extLst>
          </p:cNvPr>
          <p:cNvSpPr>
            <a:spLocks noGrp="1"/>
          </p:cNvSpPr>
          <p:nvPr/>
        </p:nvSpPr>
        <p:spPr>
          <a:xfrm>
            <a:off x="2600325" y="17430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多因子选股：形成可比较的策略原型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3C7E8C1-2981-A577-4C47-A9CEEE8950E5}"/>
              </a:ext>
            </a:extLst>
          </p:cNvPr>
          <p:cNvSpPr>
            <a:spLocks noGrp="1"/>
          </p:cNvSpPr>
          <p:nvPr/>
        </p:nvSpPr>
        <p:spPr>
          <a:xfrm>
            <a:off x="2838450" y="20288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按经济含义对因子去重，比较等权、ICIR和机器学习合成，形成对照组合。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6D9266-A510-2E6B-2163-E08D2D09C73F}"/>
              </a:ext>
            </a:extLst>
          </p:cNvPr>
          <p:cNvSpPr>
            <a:spLocks noGrp="1"/>
          </p:cNvSpPr>
          <p:nvPr/>
        </p:nvSpPr>
        <p:spPr>
          <a:xfrm>
            <a:off x="2838450" y="25431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Q1固定股票池和基准，Q2完成滚动样本外回测，统一比较成本后超额与回撤。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DAD333B-9AD2-3F86-A4AE-016FE1D2FD18}"/>
              </a:ext>
            </a:extLst>
          </p:cNvPr>
          <p:cNvSpPr>
            <a:spLocks noGrp="1"/>
          </p:cNvSpPr>
          <p:nvPr/>
        </p:nvSpPr>
        <p:spPr>
          <a:xfrm>
            <a:off x="2600325" y="305752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风险控制：检验市场状态能否改善组合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50F09D-74EF-70F4-A27E-7A2AC22F89DC}"/>
              </a:ext>
            </a:extLst>
          </p:cNvPr>
          <p:cNvSpPr>
            <a:spLocks noGrp="1"/>
          </p:cNvSpPr>
          <p:nvPr/>
        </p:nvSpPr>
        <p:spPr>
          <a:xfrm>
            <a:off x="2838450" y="33432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利用现有波动、相关性、拥挤度及流动性指标，研究风险升高时的仓位与因子权重调整。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8D47736-D18B-86A1-693C-82AD210A9117}"/>
              </a:ext>
            </a:extLst>
          </p:cNvPr>
          <p:cNvSpPr>
            <a:spLocks noGrp="1"/>
          </p:cNvSpPr>
          <p:nvPr/>
        </p:nvSpPr>
        <p:spPr>
          <a:xfrm>
            <a:off x="2838450" y="38576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加入行业、个股及换手约束，对比固定权重，检验回撤改善是否抵得过收益损失。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CF41064-096E-A802-C29E-5FEF865A08CA}"/>
              </a:ext>
            </a:extLst>
          </p:cNvPr>
          <p:cNvSpPr>
            <a:spLocks noGrp="1"/>
          </p:cNvSpPr>
          <p:nvPr/>
        </p:nvSpPr>
        <p:spPr>
          <a:xfrm>
            <a:off x="2600325" y="437197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1">
                <a:solidFill>
                  <a:srgbClr val="000000"/>
                </a:solidFill>
              </a:defRPr>
            </a:defPPr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 b="1">
                <a:solidFill>
                  <a:srgbClr val="000000"/>
                </a:solidFill>
              </a:defRPr>
            </a:lvl2pPr>
            <a:lvl3pPr>
              <a:defRPr sz="1400" b="1">
                <a:solidFill>
                  <a:srgbClr val="000000"/>
                </a:solidFill>
              </a:defRPr>
            </a:lvl3pPr>
            <a:lvl4pPr>
              <a:defRPr sz="1400" b="1">
                <a:solidFill>
                  <a:srgbClr val="000000"/>
                </a:solidFill>
              </a:defRPr>
            </a:lvl4pPr>
            <a:lvl5pPr>
              <a:defRPr sz="1400" b="1">
                <a:solidFill>
                  <a:srgbClr val="000000"/>
                </a:solidFill>
              </a:defRPr>
            </a:lvl5pPr>
            <a:lvl6pPr>
              <a:defRPr sz="1400" b="1">
                <a:solidFill>
                  <a:srgbClr val="000000"/>
                </a:solidFill>
              </a:defRPr>
            </a:lvl6pPr>
            <a:lvl7pPr>
              <a:defRPr sz="1400" b="1">
                <a:solidFill>
                  <a:srgbClr val="000000"/>
                </a:solidFill>
              </a:defRPr>
            </a:lvl7pPr>
            <a:lvl8pPr>
              <a:defRPr sz="1400" b="1">
                <a:solidFill>
                  <a:srgbClr val="000000"/>
                </a:solidFill>
              </a:defRPr>
            </a:lvl8pPr>
            <a:lvl9pPr>
              <a:defRPr sz="1400" b="1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▪"/>
              <a:defRPr sz="1400" b="1">
                <a:solidFill>
                  <a:srgbClr val="000000"/>
                </a:solidFill>
              </a:defRPr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</a:rPr>
              <a:t>模拟跟踪：按月决定保留或调整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116881C-609C-B89F-7C18-DC87193BB636}"/>
              </a:ext>
            </a:extLst>
          </p:cNvPr>
          <p:cNvSpPr>
            <a:spLocks noGrp="1"/>
          </p:cNvSpPr>
          <p:nvPr/>
        </p:nvSpPr>
        <p:spPr>
          <a:xfrm>
            <a:off x="2838450" y="465772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Q3将通过检验的原型纳入模拟盘，逐日跟踪偏离，按月拆解选股、风格与成本贡献。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9B5DAFB-CFBE-FD6C-421B-988B3EE739BE}"/>
              </a:ext>
            </a:extLst>
          </p:cNvPr>
          <p:cNvSpPr>
            <a:spLocks noGrp="1"/>
          </p:cNvSpPr>
          <p:nvPr/>
        </p:nvSpPr>
        <p:spPr>
          <a:xfrm>
            <a:off x="2838450" y="5172075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127000" tIns="0" rIns="0" bIns="0" anchor="t">
            <a:noAutofit/>
          </a:bodyPr>
          <a:lstStyle>
            <a:defPPr>
              <a:defRPr sz="1400" b="0">
                <a:solidFill>
                  <a:srgbClr val="000000"/>
                </a:solidFill>
              </a:defRPr>
            </a:defPPr>
            <a:lvl1pPr>
              <a:defRPr sz="1400" b="0">
                <a:solidFill>
                  <a:srgbClr val="000000"/>
                </a:solidFill>
              </a:defRPr>
            </a:lvl1pPr>
            <a:lvl2pPr>
              <a:defRPr sz="1400" b="0">
                <a:solidFill>
                  <a:srgbClr val="000000"/>
                </a:solidFill>
              </a:defRPr>
            </a:lvl2pPr>
            <a:lvl3pPr>
              <a:defRPr sz="1400" b="0">
                <a:solidFill>
                  <a:srgbClr val="000000"/>
                </a:solidFill>
              </a:defRPr>
            </a:lvl3pPr>
            <a:lvl4pPr>
              <a:defRPr sz="1400" b="0">
                <a:solidFill>
                  <a:srgbClr val="000000"/>
                </a:solidFill>
              </a:defRPr>
            </a:lvl4pPr>
            <a:lvl5pPr>
              <a:defRPr sz="1400" b="0">
                <a:solidFill>
                  <a:srgbClr val="000000"/>
                </a:solidFill>
              </a:defRPr>
            </a:lvl5pPr>
            <a:lvl6pPr>
              <a:defRPr sz="1400" b="0">
                <a:solidFill>
                  <a:srgbClr val="000000"/>
                </a:solidFill>
              </a:defRPr>
            </a:lvl6pPr>
            <a:lvl7pPr>
              <a:defRPr sz="1400" b="0">
                <a:solidFill>
                  <a:srgbClr val="000000"/>
                </a:solidFill>
              </a:defRPr>
            </a:lvl7pPr>
            <a:lvl8pPr>
              <a:defRPr sz="1400" b="0">
                <a:solidFill>
                  <a:srgbClr val="000000"/>
                </a:solidFill>
              </a:defRPr>
            </a:lvl8pPr>
            <a:lvl9pPr>
              <a:defRPr sz="1400" b="0">
                <a:solidFill>
                  <a:srgbClr val="000000"/>
                </a:solidFill>
              </a:defRPr>
            </a:lvl9pPr>
          </a:lstStyle>
          <a:p>
            <a:pPr marL="342900" indent="-342900">
              <a:lnSpc>
                <a:spcPct val="130000"/>
              </a:lnSpc>
              <a:buFont typeface="Segoe UI Symbol" panose="020B0502040204020203" pitchFamily="34" charset="0"/>
              <a:buChar char="➢"/>
              <a:defRPr sz="1400" b="0">
                <a:solidFill>
                  <a:srgbClr val="000000"/>
                </a:solidFill>
              </a:defRPr>
            </a:pPr>
            <a:r>
              <a:rPr b="0">
                <a:solidFill>
                  <a:srgbClr val="000000"/>
                </a:solidFill>
                <a:latin typeface="微软雅黑" panose="020B0503020204020204" pitchFamily="34" charset="-122"/>
              </a:rPr>
              <a:t>Q4交付策略说明书及复盘报告，依据样本外和模拟盘结果提出储备或改造建议。</a:t>
            </a:r>
          </a:p>
        </p:txBody>
      </p:sp>
    </p:spTree>
    <p:extLst>
      <p:ext uri="{BB962C8B-B14F-4D97-AF65-F5344CB8AC3E}">
        <p14:creationId xmlns:p14="http://schemas.microsoft.com/office/powerpoint/2010/main" val="25284550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d2bc9c3-220c-4331-8f1a-c5a9fa4b9c63"/>
  <p:tag name="COMMONDATA" val="eyJoZGlkIjoiYTJjMGQ2MDZmYmFkNjQ3NmEyYzI1YTMxNDI2Njk2Y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3298</TotalTime>
  <Words>331</Words>
  <Application>Microsoft Office PowerPoint</Application>
  <PresentationFormat>宽屏</PresentationFormat>
  <Paragraphs>46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微软雅黑</vt:lpstr>
      <vt:lpstr>Arial</vt:lpstr>
      <vt:lpstr>Calibri</vt:lpstr>
      <vt:lpstr>Calibri Light</vt:lpstr>
      <vt:lpstr>Segoe UI Symbol</vt:lpstr>
      <vt:lpstr>Times New Roman</vt:lpstr>
      <vt:lpstr>3_Office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洪梅</dc:creator>
  <cp:lastModifiedBy>许佳宜</cp:lastModifiedBy>
  <cp:revision>3588</cp:revision>
  <cp:lastPrinted>2025-11-18T11:22:18Z</cp:lastPrinted>
  <dcterms:created xsi:type="dcterms:W3CDTF">2022-03-16T10:45:00Z</dcterms:created>
  <dcterms:modified xsi:type="dcterms:W3CDTF">2026-10-26T06:04:30Z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8FD771090EF148E8A0D654D6642B5319_13</vt:lpwstr>
  </property>
  <property fmtid="{D5CDD505-2E9C-101B-9397-08002B2CF9AE}" pid="3" name="KSOProductBuildVer">
    <vt:lpwstr>2052-12.1.0.18912</vt:lpwstr>
  </property>
</Properties>
</file>