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62" r:id="rId2"/>
    <p:sldMasterId id="2147483676" r:id="rId3"/>
  </p:sldMasterIdLst>
  <p:notesMasterIdLst>
    <p:notesMasterId r:id="rId6"/>
  </p:notesMasterIdLst>
  <p:handoutMasterIdLst>
    <p:handoutMasterId r:id="rId7"/>
  </p:handoutMasterIdLst>
  <p:sldIdLst>
    <p:sldId id="16671321" r:id="rId4"/>
    <p:sldId id="2147377771" r:id="rId5"/>
  </p:sldIdLst>
  <p:sldSz cx="12192000" cy="6858000"/>
  <p:notesSz cx="6807200" cy="9939338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7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4" clrIdx="0"/>
  <p:cmAuthor id="2" name="kongkaijia" initials="K" lastIdx="1" clrIdx="1"/>
  <p:cmAuthor id="3" name="8613967107247" initials="8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392A96"/>
    <a:srgbClr val="4A589B"/>
    <a:srgbClr val="4469BE"/>
    <a:srgbClr val="547CC7"/>
    <a:srgbClr val="698CD2"/>
    <a:srgbClr val="FFFFFF"/>
    <a:srgbClr val="5677BB"/>
    <a:srgbClr val="4168B0"/>
    <a:srgbClr val="3256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613" autoAdjust="0"/>
    <p:restoredTop sz="93775" autoAdjust="0"/>
  </p:normalViewPr>
  <p:slideViewPr>
    <p:cSldViewPr snapToGrid="0" showGuides="1">
      <p:cViewPr varScale="1">
        <p:scale>
          <a:sx n="84" d="100"/>
          <a:sy n="84" d="100"/>
        </p:scale>
        <p:origin x="394" y="82"/>
      </p:cViewPr>
      <p:guideLst>
        <p:guide orient="horz" pos="2161"/>
        <p:guide pos="37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52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pitchFamily="34" charset="-122"/>
              </a:rPr>
              <a:t>2026/10/26</a:t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pitchFamily="34" charset="-122"/>
              </a:rPr>
              <a:t>‹#›</a:t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9" tIns="45779" rIns="91559" bIns="45779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721" y="4783306"/>
            <a:ext cx="5445760" cy="3913615"/>
          </a:xfrm>
          <a:prstGeom prst="rect">
            <a:avLst/>
          </a:prstGeom>
        </p:spPr>
        <p:txBody>
          <a:bodyPr vert="horz" lIns="91559" tIns="45779" rIns="91559" bIns="45779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855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66BF-3C72-4B50-8DB7-29696EFB0127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ACCA9-BCC6-4908-AFF6-EA66B8C7A18F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7963-F18C-4CDD-B820-821345A69123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B634-1CFC-43CA-B631-A7A7F052112B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7C0B-CB2B-463B-9D13-D36DAD99FAA9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4DD89-404D-4C66-967F-BB1B8CE26F7B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08BF-9A8F-4862-B37F-CA3945FD367A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533775" y="6492875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D5C17-F805-4FD6-8111-BF3E3713C722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2645-C365-4A11-A819-23B9662CB08B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95461-23CB-43C2-A7E1-3E52947F68B0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B62A-BDDF-4564-BD82-344698DC2536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9123-E726-4774-8A91-980D74AC9E53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1A287-17B4-40D1-A0C8-1CCC15625D65}" type="datetime1">
              <a:rPr lang="zh-CN" altLang="en-US" smtClean="0"/>
              <a:t>2026/10/26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DAA2EF9-2AFE-43D0-BC3E-73A78812869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09CF5-116C-4BCD-847A-AECE88C31DDD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70322-7507-45AB-B146-2ADEB5E5C724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800CF-EFCB-4FE1-9D94-F08D094C50A0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F9BF-B070-4016-8B98-8AD75DBCEBF7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5FEF0-3D51-49F3-9230-D09BFCE66748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647E-AF21-4BC6-9085-9B2A80650086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370EE-688F-4DD6-964A-506A37311987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48FA-3A25-427F-B5C1-05FE651C4EBC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443A-F0C5-444F-B401-77BAEFADDAB1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54E1-EE94-4FA9-9F0B-E66AC9E9D49C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5F72-5D5C-449E-A518-38358EAF45E2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4B3C-580F-4FB7-A2AC-067F76B98959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93759C-9C06-4EBB-AD2A-39C071E1AB49}" type="datetime1">
              <a:rPr lang="zh-CN" altLang="en-US" smtClean="0"/>
              <a:t>2026/10/26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AA2EF9-2AFE-43D0-BC3E-73A78812869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014126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549" tIns="46280" rIns="92549" bIns="46280"/>
          <a:lstStyle/>
          <a:p>
            <a:endParaRPr lang="zh-CN" altLang="en-US"/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2705AB54-EC74-4C70-15C1-FBC89352F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95675" y="6356350"/>
            <a:ext cx="2743200" cy="365125"/>
          </a:xfrm>
        </p:spPr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69049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240004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641412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003949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746799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391801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023475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519121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63377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271705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2336B7F-7E7E-09D5-F96D-5E857F31F8E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549" tIns="46280" rIns="92549" bIns="46280"/>
          <a:lstStyle/>
          <a:p>
            <a:endParaRPr lang="zh-CN" altLang="en-US"/>
          </a:p>
        </p:txBody>
      </p:sp>
      <p:sp>
        <p:nvSpPr>
          <p:cNvPr id="11" name="灯片编号占位符 2">
            <a:extLst>
              <a:ext uri="{FF2B5EF4-FFF2-40B4-BE49-F238E27FC236}">
                <a16:creationId xmlns:a16="http://schemas.microsoft.com/office/drawing/2014/main" id="{329AC8E9-CB47-01F0-A4DE-6ED523887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95675" y="6356350"/>
            <a:ext cx="2743200" cy="365125"/>
          </a:xfrm>
        </p:spPr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50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D873B-AC10-4A7C-B614-611931C8F81F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34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2B960-645A-40D2-898D-B4C821FD2B3D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EB07-5F45-4EBD-ADF2-7DD39B87F6F5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53377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BE471B78-B2EE-428B-942C-19BA7801A97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5655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三、业务计划-研究部-新技术</a:t>
            </a: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8B146104-A741-7C47-D7B5-21CCA360D8FB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986E5A-FF30-9577-A950-009410FDD742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9C952F3-A699-7D7E-D19E-9084419B9083}"/>
              </a:ext>
            </a:extLst>
          </p:cNvPr>
          <p:cNvSpPr/>
          <p:nvPr/>
        </p:nvSpPr>
        <p:spPr>
          <a:xfrm>
            <a:off x="-662892" y="1682890"/>
            <a:ext cx="1259218" cy="9413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研究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95728" y="1188720"/>
            <a:ext cx="9253728" cy="429768"/>
          </a:xfrm>
          <a:prstGeom prst="rect">
            <a:avLst/>
          </a:prstGeom>
          <a:solidFill>
            <a:srgbClr val="EC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23744" y="1243584"/>
            <a:ext cx="8961120" cy="283464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50" b="1">
                <a:solidFill>
                  <a:srgbClr val="143966"/>
                </a:solidFill>
                <a:latin typeface="微软雅黑"/>
              </a:defRPr>
            </a:pPr>
            <a:r>
              <a:t>目标：以风格感知与多期限监督升级2项已有模型，形成可复现、可跟踪的AI研究组件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709928"/>
            <a:ext cx="9052560" cy="274320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300" b="1">
                <a:solidFill>
                  <a:srgbClr val="143966"/>
                </a:solidFill>
                <a:latin typeface="微软雅黑"/>
              </a:defRPr>
            </a:pPr>
            <a:r>
              <a:t>技术路线｜因子数据 → 市场状态 → 多任务训练 → 增量验证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2" y="2093976"/>
            <a:ext cx="2185416" cy="1499616"/>
          </a:xfrm>
          <a:prstGeom prst="roundRect">
            <a:avLst/>
          </a:prstGeom>
          <a:solidFill>
            <a:srgbClr val="ECF4FC"/>
          </a:solidFill>
          <a:ln>
            <a:solidFill>
              <a:srgbClr val="D3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50592" y="2093976"/>
            <a:ext cx="2185416" cy="338328"/>
          </a:xfrm>
          <a:prstGeom prst="rect">
            <a:avLst/>
          </a:prstGeom>
          <a:solidFill>
            <a:srgbClr val="165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32888" y="2139696"/>
            <a:ext cx="2011680" cy="246888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01 因子与数据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542032"/>
            <a:ext cx="1993392" cy="1014984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00" b="0">
                <a:solidFill>
                  <a:srgbClr val="354658"/>
                </a:solidFill>
                <a:latin typeface="微软雅黑"/>
              </a:defRPr>
            </a:pPr>
            <a:r>
              <a:t>L2逐笔/日频量价、分析师预期、成长因子；统一生效时点、异常值和缺失口径。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82312" y="2093976"/>
            <a:ext cx="2185416" cy="1499616"/>
          </a:xfrm>
          <a:prstGeom prst="roundRect">
            <a:avLst/>
          </a:prstGeom>
          <a:solidFill>
            <a:srgbClr val="F7FAFE"/>
          </a:solidFill>
          <a:ln>
            <a:solidFill>
              <a:srgbClr val="D3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82312" y="2093976"/>
            <a:ext cx="2185416" cy="338328"/>
          </a:xfrm>
          <a:prstGeom prst="rect">
            <a:avLst/>
          </a:prstGeom>
          <a:solidFill>
            <a:srgbClr val="143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4608" y="2139696"/>
            <a:ext cx="2011680" cy="246888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02 状态特征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2542032"/>
            <a:ext cx="1993392" cy="1014984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00" b="0">
                <a:solidFill>
                  <a:srgbClr val="354658"/>
                </a:solidFill>
                <a:latin typeface="微软雅黑"/>
              </a:defRPr>
            </a:pPr>
            <a:r>
              <a:t>提取大小盘、成长价值、趋势反转、行业轮动及风险分位；区分模型输入与监控指标。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14031" y="2093976"/>
            <a:ext cx="2185416" cy="1499616"/>
          </a:xfrm>
          <a:prstGeom prst="roundRect">
            <a:avLst/>
          </a:prstGeom>
          <a:solidFill>
            <a:srgbClr val="ECF4FC"/>
          </a:solidFill>
          <a:ln>
            <a:solidFill>
              <a:srgbClr val="D3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14031" y="2093976"/>
            <a:ext cx="2185416" cy="338328"/>
          </a:xfrm>
          <a:prstGeom prst="rect">
            <a:avLst/>
          </a:prstGeom>
          <a:solidFill>
            <a:srgbClr val="165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96327" y="2139696"/>
            <a:ext cx="2011680" cy="246888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03 模型结构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1" y="2542032"/>
            <a:ext cx="1993392" cy="1014984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00" b="0">
                <a:solidFill>
                  <a:srgbClr val="354658"/>
                </a:solidFill>
                <a:latin typeface="微软雅黑"/>
              </a:defRPr>
            </a:pPr>
            <a:r>
              <a:t>以GRU作共享主干，融合风格状态特征；设置1/3/5日预测头及真实收益标签。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45752" y="2093976"/>
            <a:ext cx="2185416" cy="1499616"/>
          </a:xfrm>
          <a:prstGeom prst="roundRect">
            <a:avLst/>
          </a:prstGeom>
          <a:solidFill>
            <a:srgbClr val="F7FAFE"/>
          </a:solidFill>
          <a:ln>
            <a:solidFill>
              <a:srgbClr val="D3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445752" y="2093976"/>
            <a:ext cx="2185416" cy="338328"/>
          </a:xfrm>
          <a:prstGeom prst="rect">
            <a:avLst/>
          </a:prstGeom>
          <a:solidFill>
            <a:srgbClr val="143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28048" y="2139696"/>
            <a:ext cx="2011680" cy="246888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04 对照检验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37192" y="2542032"/>
            <a:ext cx="1993392" cy="878803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00" b="0">
                <a:solidFill>
                  <a:srgbClr val="354658"/>
                </a:solidFill>
                <a:latin typeface="微软雅黑"/>
              </a:defRPr>
            </a:pPr>
            <a:r>
              <a:rPr dirty="0" err="1"/>
              <a:t>静态基线</a:t>
            </a:r>
            <a:r>
              <a:rPr dirty="0"/>
              <a:t> vs </a:t>
            </a:r>
            <a:r>
              <a:rPr dirty="0" err="1"/>
              <a:t>状态门控</a:t>
            </a:r>
            <a:r>
              <a:rPr dirty="0"/>
              <a:t>；</a:t>
            </a:r>
            <a:endParaRPr lang="en-US" dirty="0"/>
          </a:p>
          <a:p>
            <a:pPr>
              <a:lnSpc>
                <a:spcPct val="111000"/>
              </a:lnSpc>
              <a:spcAft>
                <a:spcPts val="200"/>
              </a:spcAft>
              <a:defRPr sz="1200" b="0">
                <a:solidFill>
                  <a:srgbClr val="354658"/>
                </a:solidFill>
                <a:latin typeface="微软雅黑"/>
              </a:defRPr>
            </a:pPr>
            <a:r>
              <a:rPr dirty="0" err="1"/>
              <a:t>单期限</a:t>
            </a:r>
            <a:r>
              <a:rPr dirty="0"/>
              <a:t> vs </a:t>
            </a:r>
            <a:r>
              <a:rPr dirty="0" err="1"/>
              <a:t>多任务</a:t>
            </a:r>
            <a:r>
              <a:rPr dirty="0"/>
              <a:t>；</a:t>
            </a:r>
            <a:endParaRPr lang="en-US" dirty="0"/>
          </a:p>
          <a:p>
            <a:pPr>
              <a:lnSpc>
                <a:spcPct val="111000"/>
              </a:lnSpc>
              <a:spcAft>
                <a:spcPts val="200"/>
              </a:spcAft>
              <a:defRPr sz="1200" b="0">
                <a:solidFill>
                  <a:srgbClr val="354658"/>
                </a:solidFill>
                <a:latin typeface="微软雅黑"/>
              </a:defRPr>
            </a:pPr>
            <a:r>
              <a:rPr dirty="0"/>
              <a:t>比较5日RankIC、换手和成本后收益。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50592" y="3730752"/>
            <a:ext cx="4553712" cy="2340864"/>
          </a:xfrm>
          <a:prstGeom prst="roundRect">
            <a:avLst/>
          </a:prstGeom>
          <a:solidFill>
            <a:srgbClr val="F7FAFE"/>
          </a:solidFill>
          <a:ln>
            <a:solidFill>
              <a:srgbClr val="D3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141464" y="3730752"/>
            <a:ext cx="4553712" cy="2340864"/>
          </a:xfrm>
          <a:prstGeom prst="roundRect">
            <a:avLst/>
          </a:prstGeom>
          <a:solidFill>
            <a:srgbClr val="F7FAFE"/>
          </a:solidFill>
          <a:ln>
            <a:solidFill>
              <a:srgbClr val="D3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15184" y="3813048"/>
            <a:ext cx="4160520" cy="329184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300" b="1">
                <a:solidFill>
                  <a:srgbClr val="165499"/>
                </a:solidFill>
                <a:latin typeface="微软雅黑"/>
              </a:defRPr>
            </a:pPr>
            <a:r>
              <a:t>改造一｜PRIME式风格感知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4187952"/>
            <a:ext cx="4352544" cy="1083796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00" b="0">
                <a:solidFill>
                  <a:srgbClr val="354658"/>
                </a:solidFill>
                <a:latin typeface="微软雅黑"/>
              </a:defRPr>
            </a:pPr>
            <a:r>
              <a:rPr dirty="0"/>
              <a:t>■ </a:t>
            </a:r>
            <a:r>
              <a:rPr dirty="0" err="1"/>
              <a:t>先构建市场状态与各类因子收益的历史样本，测试风格指标对因子强弱的解释力</a:t>
            </a:r>
            <a:r>
              <a:rPr dirty="0"/>
              <a:t>。</a:t>
            </a:r>
          </a:p>
          <a:p>
            <a:pPr>
              <a:lnSpc>
                <a:spcPct val="111000"/>
              </a:lnSpc>
              <a:spcAft>
                <a:spcPts val="200"/>
              </a:spcAft>
              <a:defRPr sz="1200" b="0">
                <a:solidFill>
                  <a:srgbClr val="354658"/>
                </a:solidFill>
                <a:latin typeface="微软雅黑"/>
              </a:defRPr>
            </a:pPr>
            <a:r>
              <a:rPr dirty="0"/>
              <a:t>■ </a:t>
            </a:r>
            <a:r>
              <a:rPr dirty="0" err="1"/>
              <a:t>再将风格状态作为条件输入</a:t>
            </a:r>
            <a:r>
              <a:rPr dirty="0"/>
              <a:t>/</a:t>
            </a:r>
            <a:r>
              <a:rPr dirty="0" err="1"/>
              <a:t>门控变量，与不加状态的GRU基线比较；保留简单规则模型作对照</a:t>
            </a:r>
            <a:r>
              <a:rPr dirty="0"/>
              <a:t>。</a:t>
            </a:r>
          </a:p>
          <a:p>
            <a:pPr>
              <a:lnSpc>
                <a:spcPct val="111000"/>
              </a:lnSpc>
              <a:spcAft>
                <a:spcPts val="200"/>
              </a:spcAft>
              <a:defRPr sz="1200" b="0">
                <a:solidFill>
                  <a:srgbClr val="354658"/>
                </a:solidFill>
                <a:latin typeface="微软雅黑"/>
              </a:defRPr>
            </a:pPr>
            <a:r>
              <a:rPr dirty="0"/>
              <a:t>■ </a:t>
            </a:r>
            <a:r>
              <a:rPr dirty="0" err="1"/>
              <a:t>区分状态预测能力与事后解释，采用滚动训练与时序外评估</a:t>
            </a:r>
            <a:r>
              <a:rPr dirty="0"/>
              <a:t>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13048"/>
            <a:ext cx="4160520" cy="329184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300" b="1">
                <a:solidFill>
                  <a:srgbClr val="165499"/>
                </a:solidFill>
                <a:latin typeface="微软雅黑"/>
              </a:defRPr>
            </a:pPr>
            <a:r>
              <a:t>改造二｜多期限标签联合学习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6912" y="4187952"/>
            <a:ext cx="4206240" cy="1746504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00" b="0">
                <a:solidFill>
                  <a:srgbClr val="354658"/>
                </a:solidFill>
                <a:latin typeface="微软雅黑"/>
              </a:defRPr>
            </a:pPr>
            <a:r>
              <a:t>■ 共享GRU主干、1/3/5日独立预测头，各头分别拟合对应期限真实收益；初始损失等权。</a:t>
            </a:r>
          </a:p>
          <a:p>
            <a:pPr>
              <a:lnSpc>
                <a:spcPct val="111000"/>
              </a:lnSpc>
              <a:spcAft>
                <a:spcPts val="200"/>
              </a:spcAft>
              <a:defRPr sz="1200" b="0">
                <a:solidFill>
                  <a:srgbClr val="354658"/>
                </a:solidFill>
                <a:latin typeface="微软雅黑"/>
              </a:defRPr>
            </a:pPr>
            <a:r>
              <a:t>■ 检验分域RankIC、收益单调性与成本后5日指增表现；优于单任务后再试自适应任务权重。</a:t>
            </a:r>
          </a:p>
          <a:p>
            <a:pPr>
              <a:lnSpc>
                <a:spcPct val="111000"/>
              </a:lnSpc>
              <a:spcAft>
                <a:spcPts val="200"/>
              </a:spcAft>
              <a:defRPr sz="1200" b="0">
                <a:solidFill>
                  <a:srgbClr val="354658"/>
                </a:solidFill>
                <a:latin typeface="微软雅黑"/>
              </a:defRPr>
            </a:pPr>
            <a:r>
              <a:t>■ 避免用样本外指标反复调参导致过拟合。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32888" y="6126480"/>
            <a:ext cx="9189720" cy="347472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00" b="1">
                <a:solidFill>
                  <a:srgbClr val="143966"/>
                </a:solidFill>
                <a:latin typeface="微软雅黑"/>
              </a:defRPr>
            </a:pPr>
            <a:r>
              <a:t>年度交付：Q1基线/数据口径 → Q2两项模型原型 → Q3消融与成本后验证 → Q4模拟盘跟踪、组件入库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三、业务计划-研究部-新策略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EA949A-D83C-9A6F-E1FF-F1B213033B5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24AD3C2-0292-7EF5-D8B1-215DE4BDB29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29466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F82A8C9-8839-816B-DC95-7E6D3D4C154C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6BD552-204D-B356-442E-D53F1D074E88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01F6959-9FD2-2D7C-5451-04790CF165DF}"/>
              </a:ext>
            </a:extLst>
          </p:cNvPr>
          <p:cNvSpPr/>
          <p:nvPr/>
        </p:nvSpPr>
        <p:spPr>
          <a:xfrm>
            <a:off x="-662892" y="1682890"/>
            <a:ext cx="1259218" cy="9413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研究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395728" y="1188720"/>
            <a:ext cx="9253728" cy="429768"/>
          </a:xfrm>
          <a:prstGeom prst="rect">
            <a:avLst/>
          </a:prstGeom>
          <a:solidFill>
            <a:srgbClr val="EC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23744" y="1243584"/>
            <a:ext cx="8961120" cy="283464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50" b="1">
                <a:solidFill>
                  <a:srgbClr val="143966"/>
                </a:solidFill>
                <a:latin typeface="微软雅黑"/>
              </a:defRPr>
            </a:pPr>
            <a:r>
              <a:t>目标：储备2项权益量化策略；以因子增量、组合约束和模拟盘为验收抓手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1700784"/>
            <a:ext cx="9034272" cy="228369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300" b="1">
                <a:solidFill>
                  <a:srgbClr val="143966"/>
                </a:solidFill>
                <a:latin typeface="微软雅黑"/>
              </a:defRPr>
            </a:pPr>
            <a:r>
              <a:t>策略建设｜微观结构因子、市场监控面板与风格约束模型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2450592" y="2103120"/>
            <a:ext cx="4553712" cy="3538728"/>
          </a:xfrm>
          <a:prstGeom prst="roundRect">
            <a:avLst/>
          </a:prstGeom>
          <a:solidFill>
            <a:srgbClr val="F7FAFE"/>
          </a:solidFill>
          <a:ln>
            <a:solidFill>
              <a:srgbClr val="D3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50592" y="2103120"/>
            <a:ext cx="4553712" cy="438912"/>
          </a:xfrm>
          <a:prstGeom prst="rect">
            <a:avLst/>
          </a:prstGeom>
          <a:solidFill>
            <a:srgbClr val="165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69464" y="2157984"/>
            <a:ext cx="4306824" cy="310896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70" b="1">
                <a:solidFill>
                  <a:srgbClr val="FFFFFF"/>
                </a:solidFill>
                <a:latin typeface="微软雅黑"/>
              </a:defRPr>
            </a:pPr>
            <a:r>
              <a:t>策略一｜L2微观结构增强指增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660904"/>
            <a:ext cx="4279392" cy="283464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50" b="1">
                <a:solidFill>
                  <a:srgbClr val="165499"/>
                </a:solidFill>
                <a:latin typeface="微软雅黑"/>
              </a:defRPr>
            </a:pPr>
            <a:r>
              <a:t>研究基础与原料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3017520"/>
            <a:ext cx="4270248" cy="1014984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00" b="0">
                <a:solidFill>
                  <a:srgbClr val="354658"/>
                </a:solidFill>
                <a:latin typeface="微软雅黑"/>
              </a:defRPr>
            </a:pPr>
            <a:r>
              <a:t>已推进市场微观结构因子、成长因子及多数据源固定参数测试。使用逐笔委托/成交与日频量价，按时段、订单规模、主动方向划分样本。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87752" y="4151376"/>
            <a:ext cx="4242816" cy="16459"/>
          </a:xfrm>
          <a:prstGeom prst="rect">
            <a:avLst/>
          </a:prstGeom>
          <a:solidFill>
            <a:srgbClr val="D3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78608" y="4288536"/>
            <a:ext cx="4270248" cy="274320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50" b="1">
                <a:solidFill>
                  <a:srgbClr val="165499"/>
                </a:solidFill>
                <a:latin typeface="微软雅黑"/>
              </a:defRPr>
            </a:pPr>
            <a:r>
              <a:t>构造—筛选—组合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4626864"/>
            <a:ext cx="4279392" cy="978408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00" b="0">
                <a:solidFill>
                  <a:srgbClr val="354658"/>
                </a:solidFill>
                <a:latin typeface="微软雅黑"/>
              </a:defRPr>
            </a:pPr>
            <a:r>
              <a:t>提取订单流不平衡、交易聚集、冲击后流动性恢复；对动量/反转/行业市值做残差化，按ICIR、相关性及分组表现筛选；接入风险模型及换手、容量约束。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50608" y="2103120"/>
            <a:ext cx="4553712" cy="3538728"/>
          </a:xfrm>
          <a:prstGeom prst="roundRect">
            <a:avLst/>
          </a:prstGeom>
          <a:solidFill>
            <a:srgbClr val="F7FAFE"/>
          </a:solidFill>
          <a:ln>
            <a:solidFill>
              <a:srgbClr val="D3E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50608" y="2103120"/>
            <a:ext cx="4553712" cy="438912"/>
          </a:xfrm>
          <a:prstGeom prst="rect">
            <a:avLst/>
          </a:prstGeom>
          <a:solidFill>
            <a:srgbClr val="143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9480" y="2157984"/>
            <a:ext cx="4306824" cy="310896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70" b="1">
                <a:solidFill>
                  <a:srgbClr val="FFFFFF"/>
                </a:solidFill>
                <a:latin typeface="微软雅黑"/>
              </a:defRPr>
            </a:pPr>
            <a:r>
              <a:t>策略二｜状态感知的动态因子配置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8624" y="2660904"/>
            <a:ext cx="4279392" cy="283464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50" b="1">
                <a:solidFill>
                  <a:srgbClr val="165499"/>
                </a:solidFill>
                <a:latin typeface="微软雅黑"/>
              </a:defRPr>
            </a:pPr>
            <a:r>
              <a:t>状态识别与前瞻验证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8624" y="3017520"/>
            <a:ext cx="4270248" cy="1014984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00" b="0">
                <a:solidFill>
                  <a:srgbClr val="354658"/>
                </a:solidFill>
                <a:latin typeface="微软雅黑"/>
              </a:defRPr>
            </a:pPr>
            <a:r>
              <a:t>完善市场广度/大小盘、行业轮动、ETF申赎、流动性和压力指标；输出1/3/6/12/36个月历史分位与状态面板，检验对未来因子收益的预测作用。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87768" y="4151376"/>
            <a:ext cx="4242816" cy="16459"/>
          </a:xfrm>
          <a:prstGeom prst="rect">
            <a:avLst/>
          </a:prstGeom>
          <a:solidFill>
            <a:srgbClr val="D3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78624" y="4288536"/>
            <a:ext cx="4270248" cy="274320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50" b="1">
                <a:solidFill>
                  <a:srgbClr val="165499"/>
                </a:solidFill>
                <a:latin typeface="微软雅黑"/>
              </a:defRPr>
            </a:pPr>
            <a:r>
              <a:t>配置方法与回测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8624" y="4626864"/>
            <a:ext cx="4279392" cy="978408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00" b="0">
                <a:solidFill>
                  <a:srgbClr val="354658"/>
                </a:solidFill>
                <a:latin typeface="微软雅黑"/>
              </a:defRPr>
            </a:pPr>
            <a:r>
              <a:t>以动量、反转、价值、成长、低波等因子为候选，比较等权/固定ICIR、分位规则和PRIME式状态门控权重；加入行业风格偏离、换手与交易成本约束。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50592" y="5760720"/>
            <a:ext cx="9253728" cy="475488"/>
          </a:xfrm>
          <a:prstGeom prst="rect">
            <a:avLst/>
          </a:prstGeom>
          <a:solidFill>
            <a:srgbClr val="EC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78608" y="5815584"/>
            <a:ext cx="9043416" cy="384048"/>
          </a:xfrm>
          <a:prstGeom prst="rect">
            <a:avLst/>
          </a:prstGeom>
          <a:noFill/>
        </p:spPr>
        <p:txBody>
          <a:bodyPr wrap="square" lIns="27432" tIns="10972" rIns="27432" bIns="10972">
            <a:spAutoFit/>
          </a:bodyPr>
          <a:lstStyle/>
          <a:p>
            <a:pPr>
              <a:lnSpc>
                <a:spcPct val="111000"/>
              </a:lnSpc>
              <a:spcAft>
                <a:spcPts val="200"/>
              </a:spcAft>
              <a:defRPr sz="1200" b="1">
                <a:solidFill>
                  <a:srgbClr val="143966"/>
                </a:solidFill>
                <a:latin typeface="微软雅黑"/>
              </a:defRPr>
            </a:pPr>
            <a:r>
              <a:t>验收：Q1形成基线与指标库 → Q2原型及分组检验 → Q3滚动样本外/成本压力测试 → Q4模拟盘；报告超额、回撤、换手、容量</a:t>
            </a:r>
          </a:p>
        </p:txBody>
      </p:sp>
    </p:spTree>
    <p:extLst>
      <p:ext uri="{BB962C8B-B14F-4D97-AF65-F5344CB8AC3E}">
        <p14:creationId xmlns:p14="http://schemas.microsoft.com/office/powerpoint/2010/main" val="3724784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d2bc9c3-220c-4331-8f1a-c5a9fa4b9c63"/>
  <p:tag name="COMMONDATA" val="eyJoZGlkIjoiYTJjMGQ2MDZmYmFkNjQ3NmEyYzI1YTMxNDI2Njk2Y2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3299</TotalTime>
  <Words>325</Words>
  <Application>Microsoft Office PowerPoint</Application>
  <PresentationFormat>宽屏</PresentationFormat>
  <Paragraphs>54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微软雅黑</vt:lpstr>
      <vt:lpstr>Arial</vt:lpstr>
      <vt:lpstr>Calibri</vt:lpstr>
      <vt:lpstr>Calibri Light</vt:lpstr>
      <vt:lpstr>Times New Roman</vt:lpstr>
      <vt:lpstr>Office 主题​​</vt:lpstr>
      <vt:lpstr>3_Office 主题​​</vt:lpstr>
      <vt:lpstr>1_Office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洪梅</dc:creator>
  <cp:lastModifiedBy>许佳宜</cp:lastModifiedBy>
  <cp:revision>3590</cp:revision>
  <cp:lastPrinted>2025-11-18T11:22:18Z</cp:lastPrinted>
  <dcterms:created xsi:type="dcterms:W3CDTF">2022-03-16T10:45:00Z</dcterms:created>
  <dcterms:modified xsi:type="dcterms:W3CDTF">2026-10-26T06:11:43Z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8FD771090EF148E8A0D654D6642B5319_13</vt:lpwstr>
  </property>
  <property fmtid="{D5CDD505-2E9C-101B-9397-08002B2CF9AE}" pid="3" name="KSOProductBuildVer">
    <vt:lpwstr>2052-12.1.0.18912</vt:lpwstr>
  </property>
</Properties>
</file>