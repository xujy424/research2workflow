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a0617fcac024b63" /><Relationship Type="http://schemas.openxmlformats.org/officeDocument/2006/relationships/extended-properties" Target="/docProps/app.xml" Id="R40829512acca4b9d" /><Relationship Type="http://schemas.openxmlformats.org/officeDocument/2006/relationships/officeDocument" Target="/ppt/presentation.xml" Id="R33e3ab0dcc9d446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bf1118fcb4a405f"/>
  </p:sldMasterIdLst>
  <p:notesMasterIdLst>
    <p:notesMasterId xmlns:r="http://schemas.openxmlformats.org/officeDocument/2006/relationships" r:id="Rcf080566a09d44cc"/>
  </p:notesMasterIdLst>
  <p:sldIdLst>
    <p:sldId xmlns:r="http://schemas.openxmlformats.org/officeDocument/2006/relationships" id="256" r:id="Reb24c98d35da4263"/>
    <p:sldId xmlns:r="http://schemas.openxmlformats.org/officeDocument/2006/relationships" id="257" r:id="Rf9439066365145f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b9d830ac7d0405b" /><Relationship Type="http://schemas.openxmlformats.org/officeDocument/2006/relationships/slideMaster" Target="/ppt/slideMasters/slideMaster1.xml" Id="Rbbf1118fcb4a405f" /><Relationship Type="http://schemas.openxmlformats.org/officeDocument/2006/relationships/notesMaster" Target="/ppt/notesMasters/notesMaster1.xml" Id="Rcf080566a09d44cc" /><Relationship Type="http://schemas.openxmlformats.org/officeDocument/2006/relationships/presProps" Target="/ppt/presProps.xml" Id="R9587989af6aa4d8a" /><Relationship Type="http://schemas.openxmlformats.org/officeDocument/2006/relationships/tableStyles" Target="/ppt/tableStyles.xml" Id="Rdb3e7149f17d416e" /><Relationship Type="http://schemas.openxmlformats.org/officeDocument/2006/relationships/slide" Target="/ppt/slides/slide1.xml" Id="Reb24c98d35da4263" /><Relationship Type="http://schemas.openxmlformats.org/officeDocument/2006/relationships/slide" Target="/ppt/slides/slide2.xml" Id="Rf9439066365145f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df8e5765e5844f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b56ca9275c144bd" /><Relationship Type="http://schemas.openxmlformats.org/officeDocument/2006/relationships/notesMaster" Target="/ppt/notesMasters/notesMaster1.xml" Id="R07084431c97f4d5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5dcc3b2e760414d" /><Relationship Type="http://schemas.openxmlformats.org/officeDocument/2006/relationships/notesMaster" Target="/ppt/notesMasters/notesMaster1.xml" Id="Rac3795248cfe42f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44225811b214e8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9a40738a9cc457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a847ede4be0499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e11798f6b85447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c8ec50f0d8a422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081401567834a3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F529D31-E1A9-4A86-817F-865A1683CE6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D5F21C75-9887-4075-BF36-3017F2CEA8B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92647879-5619-435B-B32F-A227781F5F5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5B21256-A75B-420C-B092-BD6E5806112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5F09EB9C-C78E-40E8-A062-A4995A22527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5828FA3-CBA0-4B4C-9D52-E6EC9C0E943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319B69A-968E-48F6-B1FD-39872AC8C94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006F6EBB-9D46-4476-914E-956EE042CC5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7DA14AE-8E3A-4D16-B55A-F101755D7C2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53F575C-A346-474F-AC51-5227AC8090D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516923892984e47" /><Relationship Type="http://schemas.openxmlformats.org/officeDocument/2006/relationships/slideLayout" Target="/ppt/slideLayouts/slideLayout1.xml" Id="Re308f39bb32e4019" /><Relationship Type="http://schemas.openxmlformats.org/officeDocument/2006/relationships/slideLayout" Target="/ppt/slideLayouts/slideLayout2.xml" Id="R347cbcb4d4994462" /><Relationship Type="http://schemas.openxmlformats.org/officeDocument/2006/relationships/slideLayout" Target="/ppt/slideLayouts/slideLayout3.xml" Id="R5d015c89050d4cd0" /><Relationship Type="http://schemas.openxmlformats.org/officeDocument/2006/relationships/slideLayout" Target="/ppt/slideLayouts/slideLayout4.xml" Id="Refce3f5f6eb84666" /><Relationship Type="http://schemas.openxmlformats.org/officeDocument/2006/relationships/slideLayout" Target="/ppt/slideLayouts/slideLayout5.xml" Id="R7f858b52ed704b74" /><Relationship Type="http://schemas.openxmlformats.org/officeDocument/2006/relationships/slideLayout" Target="/ppt/slideLayouts/slideLayout6.xml" Id="Rcea1f587111f439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308f39bb32e4019"/>
    <p:sldLayoutId xmlns:r="http://schemas.openxmlformats.org/officeDocument/2006/relationships" id="2147483650" r:id="R347cbcb4d4994462"/>
    <p:sldLayoutId xmlns:r="http://schemas.openxmlformats.org/officeDocument/2006/relationships" id="2147483651" r:id="R5d015c89050d4cd0"/>
    <p:sldLayoutId xmlns:r="http://schemas.openxmlformats.org/officeDocument/2006/relationships" id="2147483652" r:id="Refce3f5f6eb84666"/>
    <p:sldLayoutId xmlns:r="http://schemas.openxmlformats.org/officeDocument/2006/relationships" id="2147483653" r:id="R7f858b52ed704b74"/>
    <p:sldLayoutId xmlns:r="http://schemas.openxmlformats.org/officeDocument/2006/relationships" id="2147483654" r:id="Rcea1f587111f439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84b0a19bffe4068" /><Relationship Type="http://schemas.openxmlformats.org/officeDocument/2006/relationships/notesSlide" Target="/ppt/notesSlides/notesSlide1.xml" Id="Rcb91bd03bb304c0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75a7983349348dc" /><Relationship Type="http://schemas.openxmlformats.org/officeDocument/2006/relationships/notesSlide" Target="/ppt/notesSlides/notesSlide2.xml" Id="R8a03d2d58b2e4bfd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intro">
            <a:extLst xmlns:a="http://schemas.openxmlformats.org/drawingml/2006/main">
              <a:ext uri="{FF2B5EF4-FFF2-40B4-BE49-F238E27FC236}">
                <a16:creationId xmlns:a16="http://schemas.microsoft.com/office/drawing/2014/main" id="{0DAF8D43-237C-4909-8C36-05B5DB510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1304925"/>
            <a:ext cx="904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00" b="1">
                <a:solidFill>
                  <a:srgbClr val="16243B"/>
                </a:solidFill>
              </a:defRPr>
            </a:defPPr>
            <a:lvl1pPr>
              <a:defRPr sz="1600" b="1">
                <a:solidFill>
                  <a:srgbClr val="16243B"/>
                </a:solidFill>
              </a:defRPr>
            </a:lvl1pPr>
            <a:lvl2pPr>
              <a:defRPr sz="1600" b="1">
                <a:solidFill>
                  <a:srgbClr val="16243B"/>
                </a:solidFill>
              </a:defRPr>
            </a:lvl2pPr>
            <a:lvl3pPr>
              <a:defRPr sz="1600" b="1">
                <a:solidFill>
                  <a:srgbClr val="16243B"/>
                </a:solidFill>
              </a:defRPr>
            </a:lvl3pPr>
            <a:lvl4pPr>
              <a:defRPr sz="1600" b="1">
                <a:solidFill>
                  <a:srgbClr val="16243B"/>
                </a:solidFill>
              </a:defRPr>
            </a:lvl4pPr>
            <a:lvl5pPr>
              <a:defRPr sz="1600" b="1">
                <a:solidFill>
                  <a:srgbClr val="16243B"/>
                </a:solidFill>
              </a:defRPr>
            </a:lvl5pPr>
            <a:lvl6pPr>
              <a:defRPr sz="1600" b="1">
                <a:solidFill>
                  <a:srgbClr val="16243B"/>
                </a:solidFill>
              </a:defRPr>
            </a:lvl6pPr>
            <a:lvl7pPr>
              <a:defRPr sz="1600" b="1">
                <a:solidFill>
                  <a:srgbClr val="16243B"/>
                </a:solidFill>
              </a:defRPr>
            </a:lvl7pPr>
            <a:lvl8pPr>
              <a:defRPr sz="1600" b="1">
                <a:solidFill>
                  <a:srgbClr val="16243B"/>
                </a:solidFill>
              </a:defRPr>
            </a:lvl8pPr>
            <a:lvl9pPr>
              <a:defRPr sz="1600" b="1">
                <a:solidFill>
                  <a:srgbClr val="16243B"/>
                </a:solidFill>
              </a:defRPr>
            </a:lvl9pPr>
          </a:lstStyle>
          <a:p xmlns:a="http://schemas.openxmlformats.org/drawingml/2006/main">
            <a:pPr>
              <a:defRPr sz="1600" b="1">
                <a:solidFill>
                  <a:srgbClr val="16243B"/>
                </a:solidFill>
              </a:defRPr>
            </a:pPr>
            <a:r>
              <a:rPr sz="1600" b="1">
                <a:solidFill>
                  <a:srgbClr val="16243B"/>
                </a:solidFill>
              </a:rPr>
              <a:t>以风格感知和多期限监督改造现有时序模型，形成2项可复用的AI研究组件。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556639-0512-47BC-8525-F1F665DBF841}"/>
              </a:ext>
            </a:extLst>
          </p:cNvPr>
          <p:cNvGraphicFramePr/>
          <p:nvPr/>
        </p:nvGraphicFramePr>
        <p:xfrm>
          <a:off xmlns:a="http://schemas.openxmlformats.org/drawingml/2006/main" x="2590800" y="1800225"/>
          <a:ext xmlns:a="http://schemas.openxmlformats.org/drawingml/2006/main" cx="9124950" cy="1095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76475"/>
                <a:gridCol w="2276475"/>
                <a:gridCol w="2286000"/>
                <a:gridCol w="2286000"/>
              </a:tblGrid>
              <a:tr h="54768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数据与因子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D7DDEA"/>
                      </a:solidFill>
                      <a:prstDash val="solid"/>
                    </a:lnL>
                    <a:lnR w="6668">
                      <a:solidFill>
                        <a:srgbClr val="D7DDEA"/>
                      </a:solidFill>
                      <a:prstDash val="solid"/>
                    </a:lnR>
                    <a:lnT w="6668">
                      <a:solidFill>
                        <a:srgbClr val="D7DDEA"/>
                      </a:solidFill>
                      <a:prstDash val="solid"/>
                    </a:lnT>
                    <a:lnB w="6668">
                      <a:solidFill>
                        <a:srgbClr val="D7DDEA"/>
                      </a:solidFill>
                      <a:prstDash val="solid"/>
                    </a:lnB>
                    <a:solidFill>
                      <a:srgbClr val="392B9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市场状态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7DDEA"/>
                      </a:solidFill>
                      <a:prstDash val="solid"/>
                    </a:lnR>
                    <a:lnT w="6668">
                      <a:solidFill>
                        <a:srgbClr val="D7DDEA"/>
                      </a:solidFill>
                      <a:prstDash val="solid"/>
                    </a:lnT>
                    <a:lnB w="6668">
                      <a:solidFill>
                        <a:srgbClr val="D7DDEA"/>
                      </a:solidFill>
                      <a:prstDash val="solid"/>
                    </a:lnB>
                    <a:solidFill>
                      <a:srgbClr val="392B9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AI模型结构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7DDEA"/>
                      </a:solidFill>
                      <a:prstDash val="solid"/>
                    </a:lnR>
                    <a:lnT w="6668">
                      <a:solidFill>
                        <a:srgbClr val="D7DDEA"/>
                      </a:solidFill>
                      <a:prstDash val="solid"/>
                    </a:lnT>
                    <a:lnB w="6668">
                      <a:solidFill>
                        <a:srgbClr val="D7DDEA"/>
                      </a:solidFill>
                      <a:prstDash val="solid"/>
                    </a:lnB>
                    <a:solidFill>
                      <a:srgbClr val="392B9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增量验证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7DDEA"/>
                      </a:solidFill>
                      <a:prstDash val="solid"/>
                    </a:lnR>
                    <a:lnT w="6668">
                      <a:solidFill>
                        <a:srgbClr val="D7DDEA"/>
                      </a:solidFill>
                      <a:prstDash val="solid"/>
                    </a:lnT>
                    <a:lnB w="6668">
                      <a:solidFill>
                        <a:srgbClr val="D7DDEA"/>
                      </a:solidFill>
                      <a:prstDash val="solid"/>
                    </a:lnB>
                    <a:solidFill>
                      <a:srgbClr val="392B91"/>
                    </a:solidFill>
                  </a:tcPr>
                </a:tc>
              </a:tr>
              <a:tr h="547688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6243B"/>
                          </a:solidFill>
                        </a:rPr>
                        <a:t>L2量价、成长与预期</a:t>
                      </a:r>
                    </a:p>
                    <a:p>
                      <a:r>
                        <a:rPr sz="1400" b="0">
                          <a:solidFill>
                            <a:srgbClr val="16243B"/>
                          </a:solidFill>
                        </a:rPr>
                        <a:t>统一时点、缺失及异常值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D7DDEA"/>
                      </a:solidFill>
                      <a:prstDash val="solid"/>
                    </a:lnL>
                    <a:lnR w="6668">
                      <a:solidFill>
                        <a:srgbClr val="D7DDEA"/>
                      </a:solidFill>
                      <a:prstDash val="solid"/>
                    </a:lnR>
                    <a:lnB w="6668">
                      <a:solidFill>
                        <a:srgbClr val="D7DDEA"/>
                      </a:solidFill>
                      <a:prstDash val="soli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6243B"/>
                          </a:solidFill>
                        </a:rPr>
                        <a:t>大小盘、成长价值</a:t>
                      </a:r>
                    </a:p>
                    <a:p>
                      <a:r>
                        <a:rPr sz="1400" b="0">
                          <a:solidFill>
                            <a:srgbClr val="16243B"/>
                          </a:solidFill>
                        </a:rPr>
                        <a:t>趋势反转、行业轮动</a:t>
                      </a:r>
                    </a:p>
                    <a:p>
                      <a:r>
                        <a:rPr sz="1400" b="0">
                          <a:solidFill>
                            <a:srgbClr val="16243B"/>
                          </a:solidFill>
                        </a:rPr>
                        <a:t>历史风险分位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7DDEA"/>
                      </a:solidFill>
                      <a:prstDash val="solid"/>
                    </a:lnR>
                    <a:lnB w="6668">
                      <a:solidFill>
                        <a:srgbClr val="D7DDEA"/>
                      </a:solidFill>
                      <a:prstDash val="soli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6243B"/>
                          </a:solidFill>
                        </a:rPr>
                        <a:t>共享GRU主干</a:t>
                      </a:r>
                    </a:p>
                    <a:p>
                      <a:r>
                        <a:rPr sz="1400" b="0">
                          <a:solidFill>
                            <a:srgbClr val="16243B"/>
                          </a:solidFill>
                        </a:rPr>
                        <a:t>状态门控与1/3/5日预测头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7DDEA"/>
                      </a:solidFill>
                      <a:prstDash val="solid"/>
                    </a:lnR>
                    <a:lnB w="6668">
                      <a:solidFill>
                        <a:srgbClr val="D7DDEA"/>
                      </a:solidFill>
                      <a:prstDash val="soli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6243B"/>
                          </a:solidFill>
                        </a:rPr>
                        <a:t>无状态与单期限基线</a:t>
                      </a:r>
                    </a:p>
                    <a:p>
                      <a:r>
                        <a:rPr sz="1400" b="0">
                          <a:solidFill>
                            <a:srgbClr val="16243B"/>
                          </a:solidFill>
                        </a:rPr>
                        <a:t>滚动检验及成本后评价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7DDEA"/>
                      </a:solidFill>
                      <a:prstDash val="solid"/>
                    </a:lnR>
                    <a:lnB w="6668">
                      <a:solidFill>
                        <a:srgbClr val="D7DDEA"/>
                      </a:solidFill>
                      <a:prstDash val="solid"/>
                    </a:lnB>
                    <a:solidFill>
                      <a:srgbClr val="F1F4F9"/>
                    </a:solidFill>
                  </a:tcPr>
                </a:tc>
              </a:tr>
            </a:tbl>
          </a:graphicData>
        </a:graphic>
      </p:graphicFrame>
      <p:sp>
        <p:nvSpPr>
          <p:cNvPr id="3" name="heading-a">
            <a:extLst xmlns:a="http://schemas.openxmlformats.org/drawingml/2006/main">
              <a:ext uri="{FF2B5EF4-FFF2-40B4-BE49-F238E27FC236}">
                <a16:creationId xmlns:a16="http://schemas.microsoft.com/office/drawing/2014/main" id="{4FC3E9DD-458B-4FC9-AADB-CA81BD200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114675"/>
            <a:ext cx="43434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00" b="1">
                <a:solidFill>
                  <a:srgbClr val="392B91"/>
                </a:solidFill>
              </a:defRPr>
            </a:defPPr>
            <a:lvl1pPr>
              <a:defRPr sz="1600" b="1">
                <a:solidFill>
                  <a:srgbClr val="392B91"/>
                </a:solidFill>
              </a:defRPr>
            </a:lvl1pPr>
            <a:lvl2pPr>
              <a:defRPr sz="1600" b="1">
                <a:solidFill>
                  <a:srgbClr val="392B91"/>
                </a:solidFill>
              </a:defRPr>
            </a:lvl2pPr>
            <a:lvl3pPr>
              <a:defRPr sz="1600" b="1">
                <a:solidFill>
                  <a:srgbClr val="392B91"/>
                </a:solidFill>
              </a:defRPr>
            </a:lvl3pPr>
            <a:lvl4pPr>
              <a:defRPr sz="1600" b="1">
                <a:solidFill>
                  <a:srgbClr val="392B91"/>
                </a:solidFill>
              </a:defRPr>
            </a:lvl4pPr>
            <a:lvl5pPr>
              <a:defRPr sz="1600" b="1">
                <a:solidFill>
                  <a:srgbClr val="392B91"/>
                </a:solidFill>
              </a:defRPr>
            </a:lvl5pPr>
            <a:lvl6pPr>
              <a:defRPr sz="1600" b="1">
                <a:solidFill>
                  <a:srgbClr val="392B91"/>
                </a:solidFill>
              </a:defRPr>
            </a:lvl6pPr>
            <a:lvl7pPr>
              <a:defRPr sz="1600" b="1">
                <a:solidFill>
                  <a:srgbClr val="392B91"/>
                </a:solidFill>
              </a:defRPr>
            </a:lvl7pPr>
            <a:lvl8pPr>
              <a:defRPr sz="1600" b="1">
                <a:solidFill>
                  <a:srgbClr val="392B91"/>
                </a:solidFill>
              </a:defRPr>
            </a:lvl8pPr>
            <a:lvl9pPr>
              <a:defRPr sz="1600" b="1">
                <a:solidFill>
                  <a:srgbClr val="392B91"/>
                </a:solidFill>
              </a:defRPr>
            </a:lvl9pPr>
          </a:lstStyle>
          <a:p xmlns:a="http://schemas.openxmlformats.org/drawingml/2006/main">
            <a:pPr>
              <a:defRPr sz="1600" b="1">
                <a:solidFill>
                  <a:srgbClr val="392B91"/>
                </a:solidFill>
              </a:defRPr>
            </a:pPr>
            <a:r>
              <a:rPr sz="1600" b="1">
                <a:solidFill>
                  <a:srgbClr val="392B91"/>
                </a:solidFill>
              </a:rPr>
              <a:t>改造一  PRIME式风格感知</a:t>
            </a:r>
          </a:p>
        </p:txBody>
      </p:sp>
      <p:sp>
        <p:nvSpPr>
          <p:cNvPr id="4" name="heading-b">
            <a:extLst xmlns:a="http://schemas.openxmlformats.org/drawingml/2006/main">
              <a:ext uri="{FF2B5EF4-FFF2-40B4-BE49-F238E27FC236}">
                <a16:creationId xmlns:a16="http://schemas.microsoft.com/office/drawing/2014/main" id="{2C732C07-DB02-4CD0-A62F-7121813E3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114675"/>
            <a:ext cx="44386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00" b="1">
                <a:solidFill>
                  <a:srgbClr val="392B91"/>
                </a:solidFill>
              </a:defRPr>
            </a:defPPr>
            <a:lvl1pPr>
              <a:defRPr sz="1600" b="1">
                <a:solidFill>
                  <a:srgbClr val="392B91"/>
                </a:solidFill>
              </a:defRPr>
            </a:lvl1pPr>
            <a:lvl2pPr>
              <a:defRPr sz="1600" b="1">
                <a:solidFill>
                  <a:srgbClr val="392B91"/>
                </a:solidFill>
              </a:defRPr>
            </a:lvl2pPr>
            <a:lvl3pPr>
              <a:defRPr sz="1600" b="1">
                <a:solidFill>
                  <a:srgbClr val="392B91"/>
                </a:solidFill>
              </a:defRPr>
            </a:lvl3pPr>
            <a:lvl4pPr>
              <a:defRPr sz="1600" b="1">
                <a:solidFill>
                  <a:srgbClr val="392B91"/>
                </a:solidFill>
              </a:defRPr>
            </a:lvl4pPr>
            <a:lvl5pPr>
              <a:defRPr sz="1600" b="1">
                <a:solidFill>
                  <a:srgbClr val="392B91"/>
                </a:solidFill>
              </a:defRPr>
            </a:lvl5pPr>
            <a:lvl6pPr>
              <a:defRPr sz="1600" b="1">
                <a:solidFill>
                  <a:srgbClr val="392B91"/>
                </a:solidFill>
              </a:defRPr>
            </a:lvl6pPr>
            <a:lvl7pPr>
              <a:defRPr sz="1600" b="1">
                <a:solidFill>
                  <a:srgbClr val="392B91"/>
                </a:solidFill>
              </a:defRPr>
            </a:lvl7pPr>
            <a:lvl8pPr>
              <a:defRPr sz="1600" b="1">
                <a:solidFill>
                  <a:srgbClr val="392B91"/>
                </a:solidFill>
              </a:defRPr>
            </a:lvl8pPr>
            <a:lvl9pPr>
              <a:defRPr sz="1600" b="1">
                <a:solidFill>
                  <a:srgbClr val="392B91"/>
                </a:solidFill>
              </a:defRPr>
            </a:lvl9pPr>
          </a:lstStyle>
          <a:p xmlns:a="http://schemas.openxmlformats.org/drawingml/2006/main">
            <a:pPr>
              <a:defRPr sz="1600" b="1">
                <a:solidFill>
                  <a:srgbClr val="392B91"/>
                </a:solidFill>
              </a:defRPr>
            </a:pPr>
            <a:r>
              <a:rPr sz="1600" b="1">
                <a:solidFill>
                  <a:srgbClr val="392B91"/>
                </a:solidFill>
              </a:rPr>
              <a:t>改造二  多期限标签联合学习</a:t>
            </a:r>
          </a:p>
        </p:txBody>
      </p:sp>
      <p:sp>
        <p:nvSpPr>
          <p:cNvPr id="5" name="bullet-a0">
            <a:extLst xmlns:a="http://schemas.openxmlformats.org/drawingml/2006/main">
              <a:ext uri="{FF2B5EF4-FFF2-40B4-BE49-F238E27FC236}">
                <a16:creationId xmlns:a16="http://schemas.microsoft.com/office/drawing/2014/main" id="{9A618A9D-3F37-4ADC-BC51-D627C9755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3476625"/>
            <a:ext cx="42576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00" b="0">
                <a:solidFill>
                  <a:srgbClr val="16243B"/>
                </a:solidFill>
              </a:defRPr>
            </a:defPPr>
            <a:lvl1pPr>
              <a:defRPr sz="1400" b="0">
                <a:solidFill>
                  <a:srgbClr val="16243B"/>
                </a:solidFill>
              </a:defRPr>
            </a:lvl1pPr>
            <a:lvl2pPr>
              <a:defRPr sz="1400" b="0">
                <a:solidFill>
                  <a:srgbClr val="16243B"/>
                </a:solidFill>
              </a:defRPr>
            </a:lvl2pPr>
            <a:lvl3pPr>
              <a:defRPr sz="1400" b="0">
                <a:solidFill>
                  <a:srgbClr val="16243B"/>
                </a:solidFill>
              </a:defRPr>
            </a:lvl3pPr>
            <a:lvl4pPr>
              <a:defRPr sz="1400" b="0">
                <a:solidFill>
                  <a:srgbClr val="16243B"/>
                </a:solidFill>
              </a:defRPr>
            </a:lvl4pPr>
            <a:lvl5pPr>
              <a:defRPr sz="1400" b="0">
                <a:solidFill>
                  <a:srgbClr val="16243B"/>
                </a:solidFill>
              </a:defRPr>
            </a:lvl5pPr>
            <a:lvl6pPr>
              <a:defRPr sz="1400" b="0">
                <a:solidFill>
                  <a:srgbClr val="16243B"/>
                </a:solidFill>
              </a:defRPr>
            </a:lvl6pPr>
            <a:lvl7pPr>
              <a:defRPr sz="1400" b="0">
                <a:solidFill>
                  <a:srgbClr val="16243B"/>
                </a:solidFill>
              </a:defRPr>
            </a:lvl7pPr>
            <a:lvl8pPr>
              <a:defRPr sz="1400" b="0">
                <a:solidFill>
                  <a:srgbClr val="16243B"/>
                </a:solidFill>
              </a:defRPr>
            </a:lvl8pPr>
            <a:lvl9pPr>
              <a:defRPr sz="1400" b="0">
                <a:solidFill>
                  <a:srgbClr val="16243B"/>
                </a:solidFill>
              </a:defRPr>
            </a:lvl9pPr>
          </a:lstStyle>
          <a:p xmlns:a="http://schemas.openxmlformats.org/drawingml/2006/main">
            <a:pPr>
              <a:defRPr sz="1400" b="0">
                <a:solidFill>
                  <a:srgbClr val="16243B"/>
                </a:solidFill>
              </a:defRPr>
            </a:pPr>
            <a:r>
              <a:rPr sz="1400" b="0">
                <a:solidFill>
                  <a:srgbClr val="16243B"/>
                </a:solidFill>
              </a:rPr>
              <a:t>建立状态指标与各类因子收益的历史样本，先用分位规则检验风格对因子强弱的解释力。</a:t>
            </a:r>
          </a:p>
        </p:txBody>
      </p:sp>
      <p:sp>
        <p:nvSpPr>
          <p:cNvPr id="6" name="bullet-b0">
            <a:extLst xmlns:a="http://schemas.openxmlformats.org/drawingml/2006/main">
              <a:ext uri="{FF2B5EF4-FFF2-40B4-BE49-F238E27FC236}">
                <a16:creationId xmlns:a16="http://schemas.microsoft.com/office/drawing/2014/main" id="{4BA30144-5470-4E4D-A1F5-0DF6559FC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3476625"/>
            <a:ext cx="43529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00" b="0">
                <a:solidFill>
                  <a:srgbClr val="16243B"/>
                </a:solidFill>
              </a:defRPr>
            </a:defPPr>
            <a:lvl1pPr>
              <a:defRPr sz="1400" b="0">
                <a:solidFill>
                  <a:srgbClr val="16243B"/>
                </a:solidFill>
              </a:defRPr>
            </a:lvl1pPr>
            <a:lvl2pPr>
              <a:defRPr sz="1400" b="0">
                <a:solidFill>
                  <a:srgbClr val="16243B"/>
                </a:solidFill>
              </a:defRPr>
            </a:lvl2pPr>
            <a:lvl3pPr>
              <a:defRPr sz="1400" b="0">
                <a:solidFill>
                  <a:srgbClr val="16243B"/>
                </a:solidFill>
              </a:defRPr>
            </a:lvl3pPr>
            <a:lvl4pPr>
              <a:defRPr sz="1400" b="0">
                <a:solidFill>
                  <a:srgbClr val="16243B"/>
                </a:solidFill>
              </a:defRPr>
            </a:lvl4pPr>
            <a:lvl5pPr>
              <a:defRPr sz="1400" b="0">
                <a:solidFill>
                  <a:srgbClr val="16243B"/>
                </a:solidFill>
              </a:defRPr>
            </a:lvl5pPr>
            <a:lvl6pPr>
              <a:defRPr sz="1400" b="0">
                <a:solidFill>
                  <a:srgbClr val="16243B"/>
                </a:solidFill>
              </a:defRPr>
            </a:lvl6pPr>
            <a:lvl7pPr>
              <a:defRPr sz="1400" b="0">
                <a:solidFill>
                  <a:srgbClr val="16243B"/>
                </a:solidFill>
              </a:defRPr>
            </a:lvl7pPr>
            <a:lvl8pPr>
              <a:defRPr sz="1400" b="0">
                <a:solidFill>
                  <a:srgbClr val="16243B"/>
                </a:solidFill>
              </a:defRPr>
            </a:lvl8pPr>
            <a:lvl9pPr>
              <a:defRPr sz="1400" b="0">
                <a:solidFill>
                  <a:srgbClr val="16243B"/>
                </a:solidFill>
              </a:defRPr>
            </a:lvl9pPr>
          </a:lstStyle>
          <a:p xmlns:a="http://schemas.openxmlformats.org/drawingml/2006/main">
            <a:pPr>
              <a:defRPr sz="1400" b="0">
                <a:solidFill>
                  <a:srgbClr val="16243B"/>
                </a:solidFill>
              </a:defRPr>
            </a:pPr>
            <a:r>
              <a:rPr sz="1400" b="0">
                <a:solidFill>
                  <a:srgbClr val="16243B"/>
                </a:solidFill>
              </a:rPr>
              <a:t>共享GRU主干，三个预测头分别拟合未来1、3、5日真实收益，初始任务损失等权求和。</a:t>
            </a:r>
          </a:p>
        </p:txBody>
      </p:sp>
      <p:sp>
        <p:nvSpPr>
          <p:cNvPr id="7" name="bullet-a1">
            <a:extLst xmlns:a="http://schemas.openxmlformats.org/drawingml/2006/main">
              <a:ext uri="{FF2B5EF4-FFF2-40B4-BE49-F238E27FC236}">
                <a16:creationId xmlns:a16="http://schemas.microsoft.com/office/drawing/2014/main" id="{4D5D06C6-2704-43C0-9E4D-050CF5C1A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4191000"/>
            <a:ext cx="42576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00" b="0">
                <a:solidFill>
                  <a:srgbClr val="16243B"/>
                </a:solidFill>
              </a:defRPr>
            </a:defPPr>
            <a:lvl1pPr>
              <a:defRPr sz="1400" b="0">
                <a:solidFill>
                  <a:srgbClr val="16243B"/>
                </a:solidFill>
              </a:defRPr>
            </a:lvl1pPr>
            <a:lvl2pPr>
              <a:defRPr sz="1400" b="0">
                <a:solidFill>
                  <a:srgbClr val="16243B"/>
                </a:solidFill>
              </a:defRPr>
            </a:lvl2pPr>
            <a:lvl3pPr>
              <a:defRPr sz="1400" b="0">
                <a:solidFill>
                  <a:srgbClr val="16243B"/>
                </a:solidFill>
              </a:defRPr>
            </a:lvl3pPr>
            <a:lvl4pPr>
              <a:defRPr sz="1400" b="0">
                <a:solidFill>
                  <a:srgbClr val="16243B"/>
                </a:solidFill>
              </a:defRPr>
            </a:lvl4pPr>
            <a:lvl5pPr>
              <a:defRPr sz="1400" b="0">
                <a:solidFill>
                  <a:srgbClr val="16243B"/>
                </a:solidFill>
              </a:defRPr>
            </a:lvl5pPr>
            <a:lvl6pPr>
              <a:defRPr sz="1400" b="0">
                <a:solidFill>
                  <a:srgbClr val="16243B"/>
                </a:solidFill>
              </a:defRPr>
            </a:lvl6pPr>
            <a:lvl7pPr>
              <a:defRPr sz="1400" b="0">
                <a:solidFill>
                  <a:srgbClr val="16243B"/>
                </a:solidFill>
              </a:defRPr>
            </a:lvl7pPr>
            <a:lvl8pPr>
              <a:defRPr sz="1400" b="0">
                <a:solidFill>
                  <a:srgbClr val="16243B"/>
                </a:solidFill>
              </a:defRPr>
            </a:lvl8pPr>
            <a:lvl9pPr>
              <a:defRPr sz="1400" b="0">
                <a:solidFill>
                  <a:srgbClr val="16243B"/>
                </a:solidFill>
              </a:defRPr>
            </a:lvl9pPr>
          </a:lstStyle>
          <a:p xmlns:a="http://schemas.openxmlformats.org/drawingml/2006/main">
            <a:pPr>
              <a:defRPr sz="1400" b="0">
                <a:solidFill>
                  <a:srgbClr val="16243B"/>
                </a:solidFill>
              </a:defRPr>
            </a:pPr>
            <a:r>
              <a:rPr sz="1400" b="0">
                <a:solidFill>
                  <a:srgbClr val="16243B"/>
                </a:solidFill>
              </a:rPr>
              <a:t>将市场状态作为GRU的条件输入或门控变量，与无状态模型比较，观察不同阶段的权重变化。</a:t>
            </a:r>
          </a:p>
        </p:txBody>
      </p:sp>
      <p:sp>
        <p:nvSpPr>
          <p:cNvPr id="8" name="bullet-b1">
            <a:extLst xmlns:a="http://schemas.openxmlformats.org/drawingml/2006/main">
              <a:ext uri="{FF2B5EF4-FFF2-40B4-BE49-F238E27FC236}">
                <a16:creationId xmlns:a16="http://schemas.microsoft.com/office/drawing/2014/main" id="{81E233F9-26AF-4614-A581-1B32F6204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4191000"/>
            <a:ext cx="43529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00" b="0">
                <a:solidFill>
                  <a:srgbClr val="16243B"/>
                </a:solidFill>
              </a:defRPr>
            </a:defPPr>
            <a:lvl1pPr>
              <a:defRPr sz="1400" b="0">
                <a:solidFill>
                  <a:srgbClr val="16243B"/>
                </a:solidFill>
              </a:defRPr>
            </a:lvl1pPr>
            <a:lvl2pPr>
              <a:defRPr sz="1400" b="0">
                <a:solidFill>
                  <a:srgbClr val="16243B"/>
                </a:solidFill>
              </a:defRPr>
            </a:lvl2pPr>
            <a:lvl3pPr>
              <a:defRPr sz="1400" b="0">
                <a:solidFill>
                  <a:srgbClr val="16243B"/>
                </a:solidFill>
              </a:defRPr>
            </a:lvl3pPr>
            <a:lvl4pPr>
              <a:defRPr sz="1400" b="0">
                <a:solidFill>
                  <a:srgbClr val="16243B"/>
                </a:solidFill>
              </a:defRPr>
            </a:lvl4pPr>
            <a:lvl5pPr>
              <a:defRPr sz="1400" b="0">
                <a:solidFill>
                  <a:srgbClr val="16243B"/>
                </a:solidFill>
              </a:defRPr>
            </a:lvl5pPr>
            <a:lvl6pPr>
              <a:defRPr sz="1400" b="0">
                <a:solidFill>
                  <a:srgbClr val="16243B"/>
                </a:solidFill>
              </a:defRPr>
            </a:lvl6pPr>
            <a:lvl7pPr>
              <a:defRPr sz="1400" b="0">
                <a:solidFill>
                  <a:srgbClr val="16243B"/>
                </a:solidFill>
              </a:defRPr>
            </a:lvl7pPr>
            <a:lvl8pPr>
              <a:defRPr sz="1400" b="0">
                <a:solidFill>
                  <a:srgbClr val="16243B"/>
                </a:solidFill>
              </a:defRPr>
            </a:lvl8pPr>
            <a:lvl9pPr>
              <a:defRPr sz="1400" b="0">
                <a:solidFill>
                  <a:srgbClr val="16243B"/>
                </a:solidFill>
              </a:defRPr>
            </a:lvl9pPr>
          </a:lstStyle>
          <a:p xmlns:a="http://schemas.openxmlformats.org/drawingml/2006/main">
            <a:pPr>
              <a:defRPr sz="1400" b="0">
                <a:solidFill>
                  <a:srgbClr val="16243B"/>
                </a:solidFill>
              </a:defRPr>
            </a:pPr>
            <a:r>
              <a:rPr sz="1400" b="0">
                <a:solidFill>
                  <a:srgbClr val="16243B"/>
                </a:solidFill>
              </a:rPr>
              <a:t>先与单一5日标签比较RankIC、收益单调性和成本后收益，确认增益后再试自适应任务权重。</a:t>
            </a:r>
          </a:p>
        </p:txBody>
      </p:sp>
      <p:sp>
        <p:nvSpPr>
          <p:cNvPr id="9" name="bullet-a2">
            <a:extLst xmlns:a="http://schemas.openxmlformats.org/drawingml/2006/main">
              <a:ext uri="{FF2B5EF4-FFF2-40B4-BE49-F238E27FC236}">
                <a16:creationId xmlns:a16="http://schemas.microsoft.com/office/drawing/2014/main" id="{8525F1EB-77A7-4DB9-85BD-668B31BD1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4905375"/>
            <a:ext cx="42576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00" b="0">
                <a:solidFill>
                  <a:srgbClr val="16243B"/>
                </a:solidFill>
              </a:defRPr>
            </a:defPPr>
            <a:lvl1pPr>
              <a:defRPr sz="1400" b="0">
                <a:solidFill>
                  <a:srgbClr val="16243B"/>
                </a:solidFill>
              </a:defRPr>
            </a:lvl1pPr>
            <a:lvl2pPr>
              <a:defRPr sz="1400" b="0">
                <a:solidFill>
                  <a:srgbClr val="16243B"/>
                </a:solidFill>
              </a:defRPr>
            </a:lvl2pPr>
            <a:lvl3pPr>
              <a:defRPr sz="1400" b="0">
                <a:solidFill>
                  <a:srgbClr val="16243B"/>
                </a:solidFill>
              </a:defRPr>
            </a:lvl3pPr>
            <a:lvl4pPr>
              <a:defRPr sz="1400" b="0">
                <a:solidFill>
                  <a:srgbClr val="16243B"/>
                </a:solidFill>
              </a:defRPr>
            </a:lvl4pPr>
            <a:lvl5pPr>
              <a:defRPr sz="1400" b="0">
                <a:solidFill>
                  <a:srgbClr val="16243B"/>
                </a:solidFill>
              </a:defRPr>
            </a:lvl5pPr>
            <a:lvl6pPr>
              <a:defRPr sz="1400" b="0">
                <a:solidFill>
                  <a:srgbClr val="16243B"/>
                </a:solidFill>
              </a:defRPr>
            </a:lvl6pPr>
            <a:lvl7pPr>
              <a:defRPr sz="1400" b="0">
                <a:solidFill>
                  <a:srgbClr val="16243B"/>
                </a:solidFill>
              </a:defRPr>
            </a:lvl7pPr>
            <a:lvl8pPr>
              <a:defRPr sz="1400" b="0">
                <a:solidFill>
                  <a:srgbClr val="16243B"/>
                </a:solidFill>
              </a:defRPr>
            </a:lvl8pPr>
            <a:lvl9pPr>
              <a:defRPr sz="1400" b="0">
                <a:solidFill>
                  <a:srgbClr val="16243B"/>
                </a:solidFill>
              </a:defRPr>
            </a:lvl9pPr>
          </a:lstStyle>
          <a:p xmlns:a="http://schemas.openxmlformats.org/drawingml/2006/main">
            <a:pPr>
              <a:defRPr sz="1400" b="0">
                <a:solidFill>
                  <a:srgbClr val="16243B"/>
                </a:solidFill>
              </a:defRPr>
            </a:pPr>
            <a:r>
              <a:rPr sz="1400" b="0">
                <a:solidFill>
                  <a:srgbClr val="16243B"/>
                </a:solidFill>
              </a:rPr>
              <a:t>滚动训练并逐项移除状态特征，检验前瞻预测增量，区分事后解释与可交易信号。</a:t>
            </a:r>
          </a:p>
        </p:txBody>
      </p:sp>
      <p:sp>
        <p:nvSpPr>
          <p:cNvPr id="10" name="bullet-b2">
            <a:extLst xmlns:a="http://schemas.openxmlformats.org/drawingml/2006/main">
              <a:ext uri="{FF2B5EF4-FFF2-40B4-BE49-F238E27FC236}">
                <a16:creationId xmlns:a16="http://schemas.microsoft.com/office/drawing/2014/main" id="{D9E61DB5-8495-42D8-AB5F-BEA1600B7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4905375"/>
            <a:ext cx="43529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00" b="0">
                <a:solidFill>
                  <a:srgbClr val="16243B"/>
                </a:solidFill>
              </a:defRPr>
            </a:defPPr>
            <a:lvl1pPr>
              <a:defRPr sz="1400" b="0">
                <a:solidFill>
                  <a:srgbClr val="16243B"/>
                </a:solidFill>
              </a:defRPr>
            </a:lvl1pPr>
            <a:lvl2pPr>
              <a:defRPr sz="1400" b="0">
                <a:solidFill>
                  <a:srgbClr val="16243B"/>
                </a:solidFill>
              </a:defRPr>
            </a:lvl2pPr>
            <a:lvl3pPr>
              <a:defRPr sz="1400" b="0">
                <a:solidFill>
                  <a:srgbClr val="16243B"/>
                </a:solidFill>
              </a:defRPr>
            </a:lvl3pPr>
            <a:lvl4pPr>
              <a:defRPr sz="1400" b="0">
                <a:solidFill>
                  <a:srgbClr val="16243B"/>
                </a:solidFill>
              </a:defRPr>
            </a:lvl4pPr>
            <a:lvl5pPr>
              <a:defRPr sz="1400" b="0">
                <a:solidFill>
                  <a:srgbClr val="16243B"/>
                </a:solidFill>
              </a:defRPr>
            </a:lvl5pPr>
            <a:lvl6pPr>
              <a:defRPr sz="1400" b="0">
                <a:solidFill>
                  <a:srgbClr val="16243B"/>
                </a:solidFill>
              </a:defRPr>
            </a:lvl6pPr>
            <a:lvl7pPr>
              <a:defRPr sz="1400" b="0">
                <a:solidFill>
                  <a:srgbClr val="16243B"/>
                </a:solidFill>
              </a:defRPr>
            </a:lvl7pPr>
            <a:lvl8pPr>
              <a:defRPr sz="1400" b="0">
                <a:solidFill>
                  <a:srgbClr val="16243B"/>
                </a:solidFill>
              </a:defRPr>
            </a:lvl8pPr>
            <a:lvl9pPr>
              <a:defRPr sz="1400" b="0">
                <a:solidFill>
                  <a:srgbClr val="16243B"/>
                </a:solidFill>
              </a:defRPr>
            </a:lvl9pPr>
          </a:lstStyle>
          <a:p xmlns:a="http://schemas.openxmlformats.org/drawingml/2006/main">
            <a:pPr>
              <a:defRPr sz="1400" b="0">
                <a:solidFill>
                  <a:srgbClr val="16243B"/>
                </a:solidFill>
              </a:defRPr>
            </a:pPr>
            <a:r>
              <a:rPr sz="1400" b="0">
                <a:solidFill>
                  <a:srgbClr val="16243B"/>
                </a:solidFill>
              </a:rPr>
              <a:t>训练与验证按标签期隔离，在验证集选择参数，独立测试集终检，避免反复调参透支样本。</a:t>
            </a:r>
          </a:p>
        </p:txBody>
      </p:sp>
      <p:graphicFrame>
        <p:nvGraphicFrame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BDC938-DDC3-497B-9B6B-28638BF0B04B}"/>
              </a:ext>
            </a:extLst>
          </p:cNvPr>
          <p:cNvGraphicFramePr/>
          <p:nvPr/>
        </p:nvGraphicFramePr>
        <p:xfrm>
          <a:off xmlns:a="http://schemas.openxmlformats.org/drawingml/2006/main" x="2590800" y="5781675"/>
          <a:ext xmlns:a="http://schemas.openxmlformats.org/drawingml/2006/main" cx="9124950" cy="666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76475"/>
                <a:gridCol w="2276475"/>
                <a:gridCol w="2286000"/>
                <a:gridCol w="2286000"/>
              </a:tblGrid>
              <a:tr h="333375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Q1  数据与基线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D7DDEA"/>
                      </a:solidFill>
                      <a:prstDash val="solid"/>
                    </a:lnL>
                    <a:lnR w="6668">
                      <a:solidFill>
                        <a:srgbClr val="D7DDEA"/>
                      </a:solidFill>
                      <a:prstDash val="solid"/>
                    </a:lnR>
                    <a:lnT w="6668">
                      <a:solidFill>
                        <a:srgbClr val="D7DDEA"/>
                      </a:solidFill>
                      <a:prstDash val="solid"/>
                    </a:lnT>
                    <a:lnB w="6668">
                      <a:solidFill>
                        <a:srgbClr val="D7DDEA"/>
                      </a:solidFill>
                      <a:prstDash val="solid"/>
                    </a:lnB>
                    <a:solidFill>
                      <a:srgbClr val="392B9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Q2  模型原型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7DDEA"/>
                      </a:solidFill>
                      <a:prstDash val="solid"/>
                    </a:lnR>
                    <a:lnT w="6668">
                      <a:solidFill>
                        <a:srgbClr val="D7DDEA"/>
                      </a:solidFill>
                      <a:prstDash val="solid"/>
                    </a:lnT>
                    <a:lnB w="6668">
                      <a:solidFill>
                        <a:srgbClr val="D7DDEA"/>
                      </a:solidFill>
                      <a:prstDash val="solid"/>
                    </a:lnB>
                    <a:solidFill>
                      <a:srgbClr val="392B9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Q3  增量验收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7DDEA"/>
                      </a:solidFill>
                      <a:prstDash val="solid"/>
                    </a:lnR>
                    <a:lnT w="6668">
                      <a:solidFill>
                        <a:srgbClr val="D7DDEA"/>
                      </a:solidFill>
                      <a:prstDash val="solid"/>
                    </a:lnT>
                    <a:lnB w="6668">
                      <a:solidFill>
                        <a:srgbClr val="D7DDEA"/>
                      </a:solidFill>
                      <a:prstDash val="solid"/>
                    </a:lnB>
                    <a:solidFill>
                      <a:srgbClr val="392B9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Q4  组件交付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7DDEA"/>
                      </a:solidFill>
                      <a:prstDash val="solid"/>
                    </a:lnR>
                    <a:lnT w="6668">
                      <a:solidFill>
                        <a:srgbClr val="D7DDEA"/>
                      </a:solidFill>
                      <a:prstDash val="solid"/>
                    </a:lnT>
                    <a:lnB w="6668">
                      <a:solidFill>
                        <a:srgbClr val="D7DDEA"/>
                      </a:solidFill>
                      <a:prstDash val="solid"/>
                    </a:lnB>
                    <a:solidFill>
                      <a:srgbClr val="392B91"/>
                    </a:solidFill>
                  </a:tcPr>
                </a:tc>
              </a:tr>
              <a:tr h="333375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6243B"/>
                          </a:solidFill>
                        </a:rPr>
                        <a:t>统一数据口径</a:t>
                      </a:r>
                    </a:p>
                    <a:p>
                      <a:r>
                        <a:rPr sz="1400" b="0">
                          <a:solidFill>
                            <a:srgbClr val="16243B"/>
                          </a:solidFill>
                        </a:rPr>
                        <a:t>状态库与单任务基线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D7DDEA"/>
                      </a:solidFill>
                      <a:prstDash val="solid"/>
                    </a:lnL>
                    <a:lnR w="6668">
                      <a:solidFill>
                        <a:srgbClr val="D7DDEA"/>
                      </a:solidFill>
                      <a:prstDash val="solid"/>
                    </a:lnR>
                    <a:lnB w="6668">
                      <a:solidFill>
                        <a:srgbClr val="D7DDEA"/>
                      </a:solidFill>
                      <a:prstDash val="soli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6243B"/>
                          </a:solidFill>
                        </a:rPr>
                        <a:t>状态门控与多任务</a:t>
                      </a:r>
                    </a:p>
                    <a:p>
                      <a:r>
                        <a:rPr sz="1400" b="0">
                          <a:solidFill>
                            <a:srgbClr val="16243B"/>
                          </a:solidFill>
                        </a:rPr>
                        <a:t>固定实验对照组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7DDEA"/>
                      </a:solidFill>
                      <a:prstDash val="solid"/>
                    </a:lnR>
                    <a:lnB w="6668">
                      <a:solidFill>
                        <a:srgbClr val="D7DDEA"/>
                      </a:solidFill>
                      <a:prstDash val="soli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6243B"/>
                          </a:solidFill>
                        </a:rPr>
                        <a:t>消融、分域与成本检验</a:t>
                      </a:r>
                    </a:p>
                    <a:p>
                      <a:r>
                        <a:rPr sz="1400" b="0">
                          <a:solidFill>
                            <a:srgbClr val="16243B"/>
                          </a:solidFill>
                        </a:rPr>
                        <a:t>记录有效及失效场景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7DDEA"/>
                      </a:solidFill>
                      <a:prstDash val="solid"/>
                    </a:lnR>
                    <a:lnB w="6668">
                      <a:solidFill>
                        <a:srgbClr val="D7DDEA"/>
                      </a:solidFill>
                      <a:prstDash val="soli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6243B"/>
                          </a:solidFill>
                        </a:rPr>
                        <a:t>通过检验后模拟跟踪</a:t>
                      </a:r>
                    </a:p>
                    <a:p>
                      <a:r>
                        <a:rPr sz="1400" b="0">
                          <a:solidFill>
                            <a:srgbClr val="16243B"/>
                          </a:solidFill>
                        </a:rPr>
                        <a:t>模型配置与报告入库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7DDEA"/>
                      </a:solidFill>
                      <a:prstDash val="solid"/>
                    </a:lnR>
                    <a:lnB w="6668">
                      <a:solidFill>
                        <a:srgbClr val="D7DDEA"/>
                      </a:solidFill>
                      <a:prstDash val="solid"/>
                    </a:lnB>
                    <a:solidFill>
                      <a:srgbClr val="F1F4F9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88322248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intro">
            <a:extLst xmlns:a="http://schemas.openxmlformats.org/drawingml/2006/main">
              <a:ext uri="{FF2B5EF4-FFF2-40B4-BE49-F238E27FC236}">
                <a16:creationId xmlns:a16="http://schemas.microsoft.com/office/drawing/2014/main" id="{5DAA3BD4-609A-41BC-A7AB-14793395A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1304925"/>
            <a:ext cx="9124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00" b="1">
                <a:solidFill>
                  <a:srgbClr val="16243B"/>
                </a:solidFill>
              </a:defRPr>
            </a:defPPr>
            <a:lvl1pPr>
              <a:defRPr sz="1600" b="1">
                <a:solidFill>
                  <a:srgbClr val="16243B"/>
                </a:solidFill>
              </a:defRPr>
            </a:lvl1pPr>
            <a:lvl2pPr>
              <a:defRPr sz="1600" b="1">
                <a:solidFill>
                  <a:srgbClr val="16243B"/>
                </a:solidFill>
              </a:defRPr>
            </a:lvl2pPr>
            <a:lvl3pPr>
              <a:defRPr sz="1600" b="1">
                <a:solidFill>
                  <a:srgbClr val="16243B"/>
                </a:solidFill>
              </a:defRPr>
            </a:lvl3pPr>
            <a:lvl4pPr>
              <a:defRPr sz="1600" b="1">
                <a:solidFill>
                  <a:srgbClr val="16243B"/>
                </a:solidFill>
              </a:defRPr>
            </a:lvl4pPr>
            <a:lvl5pPr>
              <a:defRPr sz="1600" b="1">
                <a:solidFill>
                  <a:srgbClr val="16243B"/>
                </a:solidFill>
              </a:defRPr>
            </a:lvl5pPr>
            <a:lvl6pPr>
              <a:defRPr sz="1600" b="1">
                <a:solidFill>
                  <a:srgbClr val="16243B"/>
                </a:solidFill>
              </a:defRPr>
            </a:lvl6pPr>
            <a:lvl7pPr>
              <a:defRPr sz="1600" b="1">
                <a:solidFill>
                  <a:srgbClr val="16243B"/>
                </a:solidFill>
              </a:defRPr>
            </a:lvl7pPr>
            <a:lvl8pPr>
              <a:defRPr sz="1600" b="1">
                <a:solidFill>
                  <a:srgbClr val="16243B"/>
                </a:solidFill>
              </a:defRPr>
            </a:lvl8pPr>
            <a:lvl9pPr>
              <a:defRPr sz="1600" b="1">
                <a:solidFill>
                  <a:srgbClr val="16243B"/>
                </a:solidFill>
              </a:defRPr>
            </a:lvl9pPr>
          </a:lstStyle>
          <a:p xmlns:a="http://schemas.openxmlformats.org/drawingml/2006/main">
            <a:pPr>
              <a:defRPr sz="1600" b="1">
                <a:solidFill>
                  <a:srgbClr val="16243B"/>
                </a:solidFill>
              </a:defRPr>
            </a:pPr>
            <a:r>
              <a:rPr sz="1600" b="1">
                <a:solidFill>
                  <a:srgbClr val="16243B"/>
                </a:solidFill>
              </a:rPr>
              <a:t>储备L2微观结构增强指增与AI状态感知配置两项策略，以成本后表现和模拟盘验收。</a:t>
            </a:r>
          </a:p>
        </p:txBody>
      </p:sp>
      <p:sp>
        <p:nvSpPr>
          <p:cNvPr id="2" name="strategy1">
            <a:extLst xmlns:a="http://schemas.openxmlformats.org/drawingml/2006/main">
              <a:ext uri="{FF2B5EF4-FFF2-40B4-BE49-F238E27FC236}">
                <a16:creationId xmlns:a16="http://schemas.microsoft.com/office/drawing/2014/main" id="{D4B0BC40-9148-4C98-9149-397CB3E06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1952625"/>
            <a:ext cx="16383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00" b="1">
                <a:solidFill>
                  <a:srgbClr val="392B91"/>
                </a:solidFill>
              </a:defRPr>
            </a:defPPr>
            <a:lvl1pPr>
              <a:defRPr sz="1600" b="1">
                <a:solidFill>
                  <a:srgbClr val="392B91"/>
                </a:solidFill>
              </a:defRPr>
            </a:lvl1pPr>
            <a:lvl2pPr>
              <a:defRPr sz="1600" b="1">
                <a:solidFill>
                  <a:srgbClr val="392B91"/>
                </a:solidFill>
              </a:defRPr>
            </a:lvl2pPr>
            <a:lvl3pPr>
              <a:defRPr sz="1600" b="1">
                <a:solidFill>
                  <a:srgbClr val="392B91"/>
                </a:solidFill>
              </a:defRPr>
            </a:lvl3pPr>
            <a:lvl4pPr>
              <a:defRPr sz="1600" b="1">
                <a:solidFill>
                  <a:srgbClr val="392B91"/>
                </a:solidFill>
              </a:defRPr>
            </a:lvl4pPr>
            <a:lvl5pPr>
              <a:defRPr sz="1600" b="1">
                <a:solidFill>
                  <a:srgbClr val="392B91"/>
                </a:solidFill>
              </a:defRPr>
            </a:lvl5pPr>
            <a:lvl6pPr>
              <a:defRPr sz="1600" b="1">
                <a:solidFill>
                  <a:srgbClr val="392B91"/>
                </a:solidFill>
              </a:defRPr>
            </a:lvl6pPr>
            <a:lvl7pPr>
              <a:defRPr sz="1600" b="1">
                <a:solidFill>
                  <a:srgbClr val="392B91"/>
                </a:solidFill>
              </a:defRPr>
            </a:lvl7pPr>
            <a:lvl8pPr>
              <a:defRPr sz="1600" b="1">
                <a:solidFill>
                  <a:srgbClr val="392B91"/>
                </a:solidFill>
              </a:defRPr>
            </a:lvl8pPr>
            <a:lvl9pPr>
              <a:defRPr sz="1600" b="1">
                <a:solidFill>
                  <a:srgbClr val="392B91"/>
                </a:solidFill>
              </a:defRPr>
            </a:lvl9pPr>
          </a:lstStyle>
          <a:p xmlns:a="http://schemas.openxmlformats.org/drawingml/2006/main">
            <a:pPr>
              <a:defRPr sz="1600" b="1">
                <a:solidFill>
                  <a:srgbClr val="392B91"/>
                </a:solidFill>
              </a:defRPr>
            </a:pPr>
            <a:r>
              <a:rPr sz="1600" b="1">
                <a:solidFill>
                  <a:srgbClr val="392B91"/>
                </a:solidFill>
              </a:rPr>
              <a:t>策略一</a:t>
            </a:r>
          </a:p>
          <a:p xmlns:a="http://schemas.openxmlformats.org/drawingml/2006/main">
            <a:pPr>
              <a:defRPr sz="1600" b="1">
                <a:solidFill>
                  <a:srgbClr val="392B91"/>
                </a:solidFill>
              </a:defRPr>
            </a:pPr>
            <a:r>
              <a:rPr sz="1600" b="1">
                <a:solidFill>
                  <a:srgbClr val="392B91"/>
                </a:solidFill>
              </a:rPr>
              <a:t>L2微观结构</a:t>
            </a:r>
          </a:p>
          <a:p xmlns:a="http://schemas.openxmlformats.org/drawingml/2006/main">
            <a:pPr>
              <a:defRPr sz="1600" b="1">
                <a:solidFill>
                  <a:srgbClr val="392B91"/>
                </a:solidFill>
              </a:defRPr>
            </a:pPr>
            <a:r>
              <a:rPr sz="1600" b="1">
                <a:solidFill>
                  <a:srgbClr val="392B91"/>
                </a:solidFill>
              </a:rPr>
              <a:t>增强指增</a:t>
            </a:r>
          </a:p>
        </p:txBody>
      </p:sp>
      <p:sp>
        <p:nvSpPr>
          <p:cNvPr id="3" name="strategy1-purpose">
            <a:extLst xmlns:a="http://schemas.openxmlformats.org/drawingml/2006/main">
              <a:ext uri="{FF2B5EF4-FFF2-40B4-BE49-F238E27FC236}">
                <a16:creationId xmlns:a16="http://schemas.microsoft.com/office/drawing/2014/main" id="{FF920AAA-F330-4CF0-AF60-C842FE3E2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905125"/>
            <a:ext cx="16954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00" b="0">
                <a:solidFill>
                  <a:srgbClr val="16243B"/>
                </a:solidFill>
              </a:defRPr>
            </a:defPPr>
            <a:lvl1pPr>
              <a:defRPr sz="1400" b="0">
                <a:solidFill>
                  <a:srgbClr val="16243B"/>
                </a:solidFill>
              </a:defRPr>
            </a:lvl1pPr>
            <a:lvl2pPr>
              <a:defRPr sz="1400" b="0">
                <a:solidFill>
                  <a:srgbClr val="16243B"/>
                </a:solidFill>
              </a:defRPr>
            </a:lvl2pPr>
            <a:lvl3pPr>
              <a:defRPr sz="1400" b="0">
                <a:solidFill>
                  <a:srgbClr val="16243B"/>
                </a:solidFill>
              </a:defRPr>
            </a:lvl3pPr>
            <a:lvl4pPr>
              <a:defRPr sz="1400" b="0">
                <a:solidFill>
                  <a:srgbClr val="16243B"/>
                </a:solidFill>
              </a:defRPr>
            </a:lvl4pPr>
            <a:lvl5pPr>
              <a:defRPr sz="1400" b="0">
                <a:solidFill>
                  <a:srgbClr val="16243B"/>
                </a:solidFill>
              </a:defRPr>
            </a:lvl5pPr>
            <a:lvl6pPr>
              <a:defRPr sz="1400" b="0">
                <a:solidFill>
                  <a:srgbClr val="16243B"/>
                </a:solidFill>
              </a:defRPr>
            </a:lvl6pPr>
            <a:lvl7pPr>
              <a:defRPr sz="1400" b="0">
                <a:solidFill>
                  <a:srgbClr val="16243B"/>
                </a:solidFill>
              </a:defRPr>
            </a:lvl7pPr>
            <a:lvl8pPr>
              <a:defRPr sz="1400" b="0">
                <a:solidFill>
                  <a:srgbClr val="16243B"/>
                </a:solidFill>
              </a:defRPr>
            </a:lvl8pPr>
            <a:lvl9pPr>
              <a:defRPr sz="1400" b="0">
                <a:solidFill>
                  <a:srgbClr val="16243B"/>
                </a:solidFill>
              </a:defRPr>
            </a:lvl9pPr>
          </a:lstStyle>
          <a:p xmlns:a="http://schemas.openxmlformats.org/drawingml/2006/main">
            <a:pPr>
              <a:defRPr sz="1400" b="0">
                <a:solidFill>
                  <a:srgbClr val="16243B"/>
                </a:solidFill>
              </a:defRPr>
            </a:pPr>
            <a:r>
              <a:rPr sz="1400" b="0">
                <a:solidFill>
                  <a:srgbClr val="16243B"/>
                </a:solidFill>
              </a:rPr>
              <a:t>订单行为形成</a:t>
            </a:r>
          </a:p>
          <a:p xmlns:a="http://schemas.openxmlformats.org/drawingml/2006/main">
            <a:pPr>
              <a:defRPr sz="1400" b="0">
                <a:solidFill>
                  <a:srgbClr val="16243B"/>
                </a:solidFill>
              </a:defRPr>
            </a:pPr>
            <a:r>
              <a:rPr sz="1400" b="0">
                <a:solidFill>
                  <a:srgbClr val="16243B"/>
                </a:solidFill>
              </a:rPr>
              <a:t>日频信号，补充</a:t>
            </a:r>
          </a:p>
          <a:p xmlns:a="http://schemas.openxmlformats.org/drawingml/2006/main">
            <a:pPr>
              <a:defRPr sz="1400" b="0">
                <a:solidFill>
                  <a:srgbClr val="16243B"/>
                </a:solidFill>
              </a:defRPr>
            </a:pPr>
            <a:r>
              <a:rPr sz="1400" b="0">
                <a:solidFill>
                  <a:srgbClr val="16243B"/>
                </a:solidFill>
              </a:rPr>
              <a:t>成长与预期因子。</a:t>
            </a:r>
          </a:p>
        </p:txBody>
      </p:sp>
      <p:sp>
        <p:nvSpPr>
          <p:cNvPr id="4" name="s1-head">
            <a:extLst xmlns:a="http://schemas.openxmlformats.org/drawingml/2006/main">
              <a:ext uri="{FF2B5EF4-FFF2-40B4-BE49-F238E27FC236}">
                <a16:creationId xmlns:a16="http://schemas.microsoft.com/office/drawing/2014/main" id="{4104E56A-308F-4F8E-8938-226668E04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895475"/>
            <a:ext cx="414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00" b="1">
                <a:solidFill>
                  <a:srgbClr val="392B91"/>
                </a:solidFill>
              </a:defRPr>
            </a:defPPr>
            <a:lvl1pPr>
              <a:defRPr sz="1600" b="1">
                <a:solidFill>
                  <a:srgbClr val="392B91"/>
                </a:solidFill>
              </a:defRPr>
            </a:lvl1pPr>
            <a:lvl2pPr>
              <a:defRPr sz="1600" b="1">
                <a:solidFill>
                  <a:srgbClr val="392B91"/>
                </a:solidFill>
              </a:defRPr>
            </a:lvl2pPr>
            <a:lvl3pPr>
              <a:defRPr sz="1600" b="1">
                <a:solidFill>
                  <a:srgbClr val="392B91"/>
                </a:solidFill>
              </a:defRPr>
            </a:lvl3pPr>
            <a:lvl4pPr>
              <a:defRPr sz="1600" b="1">
                <a:solidFill>
                  <a:srgbClr val="392B91"/>
                </a:solidFill>
              </a:defRPr>
            </a:lvl4pPr>
            <a:lvl5pPr>
              <a:defRPr sz="1600" b="1">
                <a:solidFill>
                  <a:srgbClr val="392B91"/>
                </a:solidFill>
              </a:defRPr>
            </a:lvl5pPr>
            <a:lvl6pPr>
              <a:defRPr sz="1600" b="1">
                <a:solidFill>
                  <a:srgbClr val="392B91"/>
                </a:solidFill>
              </a:defRPr>
            </a:lvl6pPr>
            <a:lvl7pPr>
              <a:defRPr sz="1600" b="1">
                <a:solidFill>
                  <a:srgbClr val="392B91"/>
                </a:solidFill>
              </a:defRPr>
            </a:lvl7pPr>
            <a:lvl8pPr>
              <a:defRPr sz="1600" b="1">
                <a:solidFill>
                  <a:srgbClr val="392B91"/>
                </a:solidFill>
              </a:defRPr>
            </a:lvl8pPr>
            <a:lvl9pPr>
              <a:defRPr sz="1600" b="1">
                <a:solidFill>
                  <a:srgbClr val="392B91"/>
                </a:solidFill>
              </a:defRPr>
            </a:lvl9pPr>
          </a:lstStyle>
          <a:p xmlns:a="http://schemas.openxmlformats.org/drawingml/2006/main">
            <a:pPr>
              <a:defRPr sz="1600" b="1">
                <a:solidFill>
                  <a:srgbClr val="392B91"/>
                </a:solidFill>
              </a:defRPr>
            </a:pPr>
            <a:r>
              <a:rPr sz="1600" b="1">
                <a:solidFill>
                  <a:srgbClr val="392B91"/>
                </a:solidFill>
              </a:rPr>
              <a:t>信号构造与AI筛选</a:t>
            </a:r>
          </a:p>
        </p:txBody>
      </p:sp>
      <p:sp>
        <p:nvSpPr>
          <p:cNvPr id="5" name="bullet-s1a">
            <a:extLst xmlns:a="http://schemas.openxmlformats.org/drawingml/2006/main">
              <a:ext uri="{FF2B5EF4-FFF2-40B4-BE49-F238E27FC236}">
                <a16:creationId xmlns:a16="http://schemas.microsoft.com/office/drawing/2014/main" id="{BC78972A-C441-4FD8-9594-6E0F0E586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276475"/>
            <a:ext cx="40576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00" b="0">
                <a:solidFill>
                  <a:srgbClr val="16243B"/>
                </a:solidFill>
              </a:defRPr>
            </a:defPPr>
            <a:lvl1pPr>
              <a:defRPr sz="1400" b="0">
                <a:solidFill>
                  <a:srgbClr val="16243B"/>
                </a:solidFill>
              </a:defRPr>
            </a:lvl1pPr>
            <a:lvl2pPr>
              <a:defRPr sz="1400" b="0">
                <a:solidFill>
                  <a:srgbClr val="16243B"/>
                </a:solidFill>
              </a:defRPr>
            </a:lvl2pPr>
            <a:lvl3pPr>
              <a:defRPr sz="1400" b="0">
                <a:solidFill>
                  <a:srgbClr val="16243B"/>
                </a:solidFill>
              </a:defRPr>
            </a:lvl3pPr>
            <a:lvl4pPr>
              <a:defRPr sz="1400" b="0">
                <a:solidFill>
                  <a:srgbClr val="16243B"/>
                </a:solidFill>
              </a:defRPr>
            </a:lvl4pPr>
            <a:lvl5pPr>
              <a:defRPr sz="1400" b="0">
                <a:solidFill>
                  <a:srgbClr val="16243B"/>
                </a:solidFill>
              </a:defRPr>
            </a:lvl5pPr>
            <a:lvl6pPr>
              <a:defRPr sz="1400" b="0">
                <a:solidFill>
                  <a:srgbClr val="16243B"/>
                </a:solidFill>
              </a:defRPr>
            </a:lvl6pPr>
            <a:lvl7pPr>
              <a:defRPr sz="1400" b="0">
                <a:solidFill>
                  <a:srgbClr val="16243B"/>
                </a:solidFill>
              </a:defRPr>
            </a:lvl7pPr>
            <a:lvl8pPr>
              <a:defRPr sz="1400" b="0">
                <a:solidFill>
                  <a:srgbClr val="16243B"/>
                </a:solidFill>
              </a:defRPr>
            </a:lvl8pPr>
            <a:lvl9pPr>
              <a:defRPr sz="1400" b="0">
                <a:solidFill>
                  <a:srgbClr val="16243B"/>
                </a:solidFill>
              </a:defRPr>
            </a:lvl9pPr>
          </a:lstStyle>
          <a:p xmlns:a="http://schemas.openxmlformats.org/drawingml/2006/main">
            <a:pPr>
              <a:defRPr sz="1400" b="0">
                <a:solidFill>
                  <a:srgbClr val="16243B"/>
                </a:solidFill>
              </a:defRPr>
            </a:pPr>
            <a:r>
              <a:rPr sz="1400" b="0">
                <a:solidFill>
                  <a:srgbClr val="16243B"/>
                </a:solidFill>
              </a:rPr>
              <a:t>按时段、订单规模及主动方向拆分样本，构造订单流不平衡、交易聚集和冲击后流动性恢复因子。</a:t>
            </a:r>
          </a:p>
        </p:txBody>
      </p:sp>
      <p:sp>
        <p:nvSpPr>
          <p:cNvPr id="6" name="bullet-s1b">
            <a:extLst xmlns:a="http://schemas.openxmlformats.org/drawingml/2006/main">
              <a:ext uri="{FF2B5EF4-FFF2-40B4-BE49-F238E27FC236}">
                <a16:creationId xmlns:a16="http://schemas.microsoft.com/office/drawing/2014/main" id="{B3598488-79C4-49B6-B9C5-67D788DF0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3028950"/>
            <a:ext cx="40576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00" b="0">
                <a:solidFill>
                  <a:srgbClr val="16243B"/>
                </a:solidFill>
              </a:defRPr>
            </a:defPPr>
            <a:lvl1pPr>
              <a:defRPr sz="1400" b="0">
                <a:solidFill>
                  <a:srgbClr val="16243B"/>
                </a:solidFill>
              </a:defRPr>
            </a:lvl1pPr>
            <a:lvl2pPr>
              <a:defRPr sz="1400" b="0">
                <a:solidFill>
                  <a:srgbClr val="16243B"/>
                </a:solidFill>
              </a:defRPr>
            </a:lvl2pPr>
            <a:lvl3pPr>
              <a:defRPr sz="1400" b="0">
                <a:solidFill>
                  <a:srgbClr val="16243B"/>
                </a:solidFill>
              </a:defRPr>
            </a:lvl3pPr>
            <a:lvl4pPr>
              <a:defRPr sz="1400" b="0">
                <a:solidFill>
                  <a:srgbClr val="16243B"/>
                </a:solidFill>
              </a:defRPr>
            </a:lvl4pPr>
            <a:lvl5pPr>
              <a:defRPr sz="1400" b="0">
                <a:solidFill>
                  <a:srgbClr val="16243B"/>
                </a:solidFill>
              </a:defRPr>
            </a:lvl5pPr>
            <a:lvl6pPr>
              <a:defRPr sz="1400" b="0">
                <a:solidFill>
                  <a:srgbClr val="16243B"/>
                </a:solidFill>
              </a:defRPr>
            </a:lvl6pPr>
            <a:lvl7pPr>
              <a:defRPr sz="1400" b="0">
                <a:solidFill>
                  <a:srgbClr val="16243B"/>
                </a:solidFill>
              </a:defRPr>
            </a:lvl7pPr>
            <a:lvl8pPr>
              <a:defRPr sz="1400" b="0">
                <a:solidFill>
                  <a:srgbClr val="16243B"/>
                </a:solidFill>
              </a:defRPr>
            </a:lvl8pPr>
            <a:lvl9pPr>
              <a:defRPr sz="1400" b="0">
                <a:solidFill>
                  <a:srgbClr val="16243B"/>
                </a:solidFill>
              </a:defRPr>
            </a:lvl9pPr>
          </a:lstStyle>
          <a:p xmlns:a="http://schemas.openxmlformats.org/drawingml/2006/main">
            <a:pPr>
              <a:defRPr sz="1400" b="0">
                <a:solidFill>
                  <a:srgbClr val="16243B"/>
                </a:solidFill>
              </a:defRPr>
            </a:pPr>
            <a:r>
              <a:rPr sz="1400" b="0">
                <a:solidFill>
                  <a:srgbClr val="16243B"/>
                </a:solidFill>
              </a:rPr>
              <a:t>控制行业市值和动量反转，以机器学习检验新增信息，结合ICIR、相关性及分组收益筛选。</a:t>
            </a:r>
          </a:p>
        </p:txBody>
      </p:sp>
      <p:sp>
        <p:nvSpPr>
          <p:cNvPr id="7" name="s1-eval">
            <a:extLst xmlns:a="http://schemas.openxmlformats.org/drawingml/2006/main">
              <a:ext uri="{FF2B5EF4-FFF2-40B4-BE49-F238E27FC236}">
                <a16:creationId xmlns:a16="http://schemas.microsoft.com/office/drawing/2014/main" id="{704D20AC-9101-4CA6-AD47-496641352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1895475"/>
            <a:ext cx="2609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00" b="1">
                <a:solidFill>
                  <a:srgbClr val="392B91"/>
                </a:solidFill>
              </a:defRPr>
            </a:defPPr>
            <a:lvl1pPr>
              <a:defRPr sz="1600" b="1">
                <a:solidFill>
                  <a:srgbClr val="392B91"/>
                </a:solidFill>
              </a:defRPr>
            </a:lvl1pPr>
            <a:lvl2pPr>
              <a:defRPr sz="1600" b="1">
                <a:solidFill>
                  <a:srgbClr val="392B91"/>
                </a:solidFill>
              </a:defRPr>
            </a:lvl2pPr>
            <a:lvl3pPr>
              <a:defRPr sz="1600" b="1">
                <a:solidFill>
                  <a:srgbClr val="392B91"/>
                </a:solidFill>
              </a:defRPr>
            </a:lvl3pPr>
            <a:lvl4pPr>
              <a:defRPr sz="1600" b="1">
                <a:solidFill>
                  <a:srgbClr val="392B91"/>
                </a:solidFill>
              </a:defRPr>
            </a:lvl4pPr>
            <a:lvl5pPr>
              <a:defRPr sz="1600" b="1">
                <a:solidFill>
                  <a:srgbClr val="392B91"/>
                </a:solidFill>
              </a:defRPr>
            </a:lvl5pPr>
            <a:lvl6pPr>
              <a:defRPr sz="1600" b="1">
                <a:solidFill>
                  <a:srgbClr val="392B91"/>
                </a:solidFill>
              </a:defRPr>
            </a:lvl6pPr>
            <a:lvl7pPr>
              <a:defRPr sz="1600" b="1">
                <a:solidFill>
                  <a:srgbClr val="392B91"/>
                </a:solidFill>
              </a:defRPr>
            </a:lvl7pPr>
            <a:lvl8pPr>
              <a:defRPr sz="1600" b="1">
                <a:solidFill>
                  <a:srgbClr val="392B91"/>
                </a:solidFill>
              </a:defRPr>
            </a:lvl8pPr>
            <a:lvl9pPr>
              <a:defRPr sz="1600" b="1">
                <a:solidFill>
                  <a:srgbClr val="392B91"/>
                </a:solidFill>
              </a:defRPr>
            </a:lvl9pPr>
          </a:lstStyle>
          <a:p xmlns:a="http://schemas.openxmlformats.org/drawingml/2006/main">
            <a:pPr>
              <a:defRPr sz="1600" b="1">
                <a:solidFill>
                  <a:srgbClr val="392B91"/>
                </a:solidFill>
              </a:defRPr>
            </a:pPr>
            <a:r>
              <a:rPr sz="1600" b="1">
                <a:solidFill>
                  <a:srgbClr val="392B91"/>
                </a:solidFill>
              </a:rPr>
              <a:t>组合约束与验收</a:t>
            </a:r>
          </a:p>
        </p:txBody>
      </p:sp>
      <p:sp>
        <p:nvSpPr>
          <p:cNvPr id="8" name="bullet-s1c">
            <a:extLst xmlns:a="http://schemas.openxmlformats.org/drawingml/2006/main">
              <a:ext uri="{FF2B5EF4-FFF2-40B4-BE49-F238E27FC236}">
                <a16:creationId xmlns:a16="http://schemas.microsoft.com/office/drawing/2014/main" id="{94608D44-978F-4598-B764-B00B7762B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276475"/>
            <a:ext cx="2524125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00" b="0">
                <a:solidFill>
                  <a:srgbClr val="16243B"/>
                </a:solidFill>
              </a:defRPr>
            </a:defPPr>
            <a:lvl1pPr>
              <a:defRPr sz="1400" b="0">
                <a:solidFill>
                  <a:srgbClr val="16243B"/>
                </a:solidFill>
              </a:defRPr>
            </a:lvl1pPr>
            <a:lvl2pPr>
              <a:defRPr sz="1400" b="0">
                <a:solidFill>
                  <a:srgbClr val="16243B"/>
                </a:solidFill>
              </a:defRPr>
            </a:lvl2pPr>
            <a:lvl3pPr>
              <a:defRPr sz="1400" b="0">
                <a:solidFill>
                  <a:srgbClr val="16243B"/>
                </a:solidFill>
              </a:defRPr>
            </a:lvl3pPr>
            <a:lvl4pPr>
              <a:defRPr sz="1400" b="0">
                <a:solidFill>
                  <a:srgbClr val="16243B"/>
                </a:solidFill>
              </a:defRPr>
            </a:lvl4pPr>
            <a:lvl5pPr>
              <a:defRPr sz="1400" b="0">
                <a:solidFill>
                  <a:srgbClr val="16243B"/>
                </a:solidFill>
              </a:defRPr>
            </a:lvl5pPr>
            <a:lvl6pPr>
              <a:defRPr sz="1400" b="0">
                <a:solidFill>
                  <a:srgbClr val="16243B"/>
                </a:solidFill>
              </a:defRPr>
            </a:lvl6pPr>
            <a:lvl7pPr>
              <a:defRPr sz="1400" b="0">
                <a:solidFill>
                  <a:srgbClr val="16243B"/>
                </a:solidFill>
              </a:defRPr>
            </a:lvl7pPr>
            <a:lvl8pPr>
              <a:defRPr sz="1400" b="0">
                <a:solidFill>
                  <a:srgbClr val="16243B"/>
                </a:solidFill>
              </a:defRPr>
            </a:lvl8pPr>
            <a:lvl9pPr>
              <a:defRPr sz="1400" b="0">
                <a:solidFill>
                  <a:srgbClr val="16243B"/>
                </a:solidFill>
              </a:defRPr>
            </a:lvl9pPr>
          </a:lstStyle>
          <a:p xmlns:a="http://schemas.openxmlformats.org/drawingml/2006/main">
            <a:pPr>
              <a:defRPr sz="1400" b="0">
                <a:solidFill>
                  <a:srgbClr val="16243B"/>
                </a:solidFill>
              </a:defRPr>
            </a:pPr>
            <a:r>
              <a:rPr sz="1400" b="0">
                <a:solidFill>
                  <a:srgbClr val="16243B"/>
                </a:solidFill>
              </a:rPr>
              <a:t>接入风险模型，限制行业偏离、个股权重及换手，按成交额检验容量。</a:t>
            </a:r>
          </a:p>
        </p:txBody>
      </p:sp>
      <p:sp>
        <p:nvSpPr>
          <p:cNvPr id="9" name="bullet-s1d">
            <a:extLst xmlns:a="http://schemas.openxmlformats.org/drawingml/2006/main">
              <a:ext uri="{FF2B5EF4-FFF2-40B4-BE49-F238E27FC236}">
                <a16:creationId xmlns:a16="http://schemas.microsoft.com/office/drawing/2014/main" id="{4D965D19-6E32-4947-BAE1-F63A30BB9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028950"/>
            <a:ext cx="2524125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00" b="0">
                <a:solidFill>
                  <a:srgbClr val="16243B"/>
                </a:solidFill>
              </a:defRPr>
            </a:defPPr>
            <a:lvl1pPr>
              <a:defRPr sz="1400" b="0">
                <a:solidFill>
                  <a:srgbClr val="16243B"/>
                </a:solidFill>
              </a:defRPr>
            </a:lvl1pPr>
            <a:lvl2pPr>
              <a:defRPr sz="1400" b="0">
                <a:solidFill>
                  <a:srgbClr val="16243B"/>
                </a:solidFill>
              </a:defRPr>
            </a:lvl2pPr>
            <a:lvl3pPr>
              <a:defRPr sz="1400" b="0">
                <a:solidFill>
                  <a:srgbClr val="16243B"/>
                </a:solidFill>
              </a:defRPr>
            </a:lvl3pPr>
            <a:lvl4pPr>
              <a:defRPr sz="1400" b="0">
                <a:solidFill>
                  <a:srgbClr val="16243B"/>
                </a:solidFill>
              </a:defRPr>
            </a:lvl4pPr>
            <a:lvl5pPr>
              <a:defRPr sz="1400" b="0">
                <a:solidFill>
                  <a:srgbClr val="16243B"/>
                </a:solidFill>
              </a:defRPr>
            </a:lvl5pPr>
            <a:lvl6pPr>
              <a:defRPr sz="1400" b="0">
                <a:solidFill>
                  <a:srgbClr val="16243B"/>
                </a:solidFill>
              </a:defRPr>
            </a:lvl6pPr>
            <a:lvl7pPr>
              <a:defRPr sz="1400" b="0">
                <a:solidFill>
                  <a:srgbClr val="16243B"/>
                </a:solidFill>
              </a:defRPr>
            </a:lvl7pPr>
            <a:lvl8pPr>
              <a:defRPr sz="1400" b="0">
                <a:solidFill>
                  <a:srgbClr val="16243B"/>
                </a:solidFill>
              </a:defRPr>
            </a:lvl8pPr>
            <a:lvl9pPr>
              <a:defRPr sz="1400" b="0">
                <a:solidFill>
                  <a:srgbClr val="16243B"/>
                </a:solidFill>
              </a:defRPr>
            </a:lvl9pPr>
          </a:lstStyle>
          <a:p xmlns:a="http://schemas.openxmlformats.org/drawingml/2006/main">
            <a:pPr>
              <a:defRPr sz="1400" b="0">
                <a:solidFill>
                  <a:srgbClr val="16243B"/>
                </a:solidFill>
              </a:defRPr>
            </a:pPr>
            <a:r>
              <a:rPr sz="1400" b="0">
                <a:solidFill>
                  <a:srgbClr val="16243B"/>
                </a:solidFill>
              </a:rPr>
              <a:t>比较基础组合与新增因子组合，报告成本后超额、回撤和换手。</a:t>
            </a:r>
          </a:p>
        </p:txBody>
      </p:sp>
      <p:sp>
        <p:nvSpPr>
          <p:cNvPr id="10" name="strategy2">
            <a:extLst xmlns:a="http://schemas.openxmlformats.org/drawingml/2006/main">
              <a:ext uri="{FF2B5EF4-FFF2-40B4-BE49-F238E27FC236}">
                <a16:creationId xmlns:a16="http://schemas.microsoft.com/office/drawing/2014/main" id="{1222B227-8BAA-4968-AA02-C07570A06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4010025"/>
            <a:ext cx="17145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00" b="1">
                <a:solidFill>
                  <a:srgbClr val="392B91"/>
                </a:solidFill>
              </a:defRPr>
            </a:defPPr>
            <a:lvl1pPr>
              <a:defRPr sz="1600" b="1">
                <a:solidFill>
                  <a:srgbClr val="392B91"/>
                </a:solidFill>
              </a:defRPr>
            </a:lvl1pPr>
            <a:lvl2pPr>
              <a:defRPr sz="1600" b="1">
                <a:solidFill>
                  <a:srgbClr val="392B91"/>
                </a:solidFill>
              </a:defRPr>
            </a:lvl2pPr>
            <a:lvl3pPr>
              <a:defRPr sz="1600" b="1">
                <a:solidFill>
                  <a:srgbClr val="392B91"/>
                </a:solidFill>
              </a:defRPr>
            </a:lvl3pPr>
            <a:lvl4pPr>
              <a:defRPr sz="1600" b="1">
                <a:solidFill>
                  <a:srgbClr val="392B91"/>
                </a:solidFill>
              </a:defRPr>
            </a:lvl4pPr>
            <a:lvl5pPr>
              <a:defRPr sz="1600" b="1">
                <a:solidFill>
                  <a:srgbClr val="392B91"/>
                </a:solidFill>
              </a:defRPr>
            </a:lvl5pPr>
            <a:lvl6pPr>
              <a:defRPr sz="1600" b="1">
                <a:solidFill>
                  <a:srgbClr val="392B91"/>
                </a:solidFill>
              </a:defRPr>
            </a:lvl6pPr>
            <a:lvl7pPr>
              <a:defRPr sz="1600" b="1">
                <a:solidFill>
                  <a:srgbClr val="392B91"/>
                </a:solidFill>
              </a:defRPr>
            </a:lvl7pPr>
            <a:lvl8pPr>
              <a:defRPr sz="1600" b="1">
                <a:solidFill>
                  <a:srgbClr val="392B91"/>
                </a:solidFill>
              </a:defRPr>
            </a:lvl8pPr>
            <a:lvl9pPr>
              <a:defRPr sz="1600" b="1">
                <a:solidFill>
                  <a:srgbClr val="392B91"/>
                </a:solidFill>
              </a:defRPr>
            </a:lvl9pPr>
          </a:lstStyle>
          <a:p xmlns:a="http://schemas.openxmlformats.org/drawingml/2006/main">
            <a:pPr>
              <a:defRPr sz="1600" b="1">
                <a:solidFill>
                  <a:srgbClr val="392B91"/>
                </a:solidFill>
              </a:defRPr>
            </a:pPr>
            <a:r>
              <a:rPr sz="1600" b="1">
                <a:solidFill>
                  <a:srgbClr val="392B91"/>
                </a:solidFill>
              </a:rPr>
              <a:t>策略二</a:t>
            </a:r>
          </a:p>
          <a:p xmlns:a="http://schemas.openxmlformats.org/drawingml/2006/main">
            <a:pPr>
              <a:defRPr sz="1600" b="1">
                <a:solidFill>
                  <a:srgbClr val="392B91"/>
                </a:solidFill>
              </a:defRPr>
            </a:pPr>
            <a:r>
              <a:rPr sz="1600" b="1">
                <a:solidFill>
                  <a:srgbClr val="392B91"/>
                </a:solidFill>
              </a:rPr>
              <a:t>AI状态感知</a:t>
            </a:r>
          </a:p>
          <a:p xmlns:a="http://schemas.openxmlformats.org/drawingml/2006/main">
            <a:pPr>
              <a:defRPr sz="1600" b="1">
                <a:solidFill>
                  <a:srgbClr val="392B91"/>
                </a:solidFill>
              </a:defRPr>
            </a:pPr>
            <a:r>
              <a:rPr sz="1600" b="1">
                <a:solidFill>
                  <a:srgbClr val="392B91"/>
                </a:solidFill>
              </a:rPr>
              <a:t>动态因子配置</a:t>
            </a:r>
          </a:p>
        </p:txBody>
      </p:sp>
      <p:sp>
        <p:nvSpPr>
          <p:cNvPr id="11" name="strategy2-purpose">
            <a:extLst xmlns:a="http://schemas.openxmlformats.org/drawingml/2006/main">
              <a:ext uri="{FF2B5EF4-FFF2-40B4-BE49-F238E27FC236}">
                <a16:creationId xmlns:a16="http://schemas.microsoft.com/office/drawing/2014/main" id="{20D1FF4A-C320-4017-98CB-790FDFCC2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4962525"/>
            <a:ext cx="1714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00" b="0">
                <a:solidFill>
                  <a:srgbClr val="16243B"/>
                </a:solidFill>
              </a:defRPr>
            </a:defPPr>
            <a:lvl1pPr>
              <a:defRPr sz="1400" b="0">
                <a:solidFill>
                  <a:srgbClr val="16243B"/>
                </a:solidFill>
              </a:defRPr>
            </a:lvl1pPr>
            <a:lvl2pPr>
              <a:defRPr sz="1400" b="0">
                <a:solidFill>
                  <a:srgbClr val="16243B"/>
                </a:solidFill>
              </a:defRPr>
            </a:lvl2pPr>
            <a:lvl3pPr>
              <a:defRPr sz="1400" b="0">
                <a:solidFill>
                  <a:srgbClr val="16243B"/>
                </a:solidFill>
              </a:defRPr>
            </a:lvl3pPr>
            <a:lvl4pPr>
              <a:defRPr sz="1400" b="0">
                <a:solidFill>
                  <a:srgbClr val="16243B"/>
                </a:solidFill>
              </a:defRPr>
            </a:lvl4pPr>
            <a:lvl5pPr>
              <a:defRPr sz="1400" b="0">
                <a:solidFill>
                  <a:srgbClr val="16243B"/>
                </a:solidFill>
              </a:defRPr>
            </a:lvl5pPr>
            <a:lvl6pPr>
              <a:defRPr sz="1400" b="0">
                <a:solidFill>
                  <a:srgbClr val="16243B"/>
                </a:solidFill>
              </a:defRPr>
            </a:lvl6pPr>
            <a:lvl7pPr>
              <a:defRPr sz="1400" b="0">
                <a:solidFill>
                  <a:srgbClr val="16243B"/>
                </a:solidFill>
              </a:defRPr>
            </a:lvl7pPr>
            <a:lvl8pPr>
              <a:defRPr sz="1400" b="0">
                <a:solidFill>
                  <a:srgbClr val="16243B"/>
                </a:solidFill>
              </a:defRPr>
            </a:lvl8pPr>
            <a:lvl9pPr>
              <a:defRPr sz="1400" b="0">
                <a:solidFill>
                  <a:srgbClr val="16243B"/>
                </a:solidFill>
              </a:defRPr>
            </a:lvl9pPr>
          </a:lstStyle>
          <a:p xmlns:a="http://schemas.openxmlformats.org/drawingml/2006/main">
            <a:pPr>
              <a:defRPr sz="1400" b="0">
                <a:solidFill>
                  <a:srgbClr val="16243B"/>
                </a:solidFill>
              </a:defRPr>
            </a:pPr>
            <a:r>
              <a:rPr sz="1400" b="0">
                <a:solidFill>
                  <a:srgbClr val="16243B"/>
                </a:solidFill>
              </a:rPr>
              <a:t>提前识别因子强弱，</a:t>
            </a:r>
          </a:p>
          <a:p xmlns:a="http://schemas.openxmlformats.org/drawingml/2006/main">
            <a:pPr>
              <a:defRPr sz="1400" b="0">
                <a:solidFill>
                  <a:srgbClr val="16243B"/>
                </a:solidFill>
              </a:defRPr>
            </a:pPr>
            <a:r>
              <a:rPr sz="1400" b="0">
                <a:solidFill>
                  <a:srgbClr val="16243B"/>
                </a:solidFill>
              </a:rPr>
              <a:t>检验动态配权对</a:t>
            </a:r>
          </a:p>
          <a:p xmlns:a="http://schemas.openxmlformats.org/drawingml/2006/main">
            <a:pPr>
              <a:defRPr sz="1400" b="0">
                <a:solidFill>
                  <a:srgbClr val="16243B"/>
                </a:solidFill>
              </a:defRPr>
            </a:pPr>
            <a:r>
              <a:rPr sz="1400" b="0">
                <a:solidFill>
                  <a:srgbClr val="16243B"/>
                </a:solidFill>
              </a:rPr>
              <a:t>固定配置的增益。</a:t>
            </a:r>
          </a:p>
        </p:txBody>
      </p:sp>
      <p:sp>
        <p:nvSpPr>
          <p:cNvPr id="12" name="s2-head">
            <a:extLst xmlns:a="http://schemas.openxmlformats.org/drawingml/2006/main">
              <a:ext uri="{FF2B5EF4-FFF2-40B4-BE49-F238E27FC236}">
                <a16:creationId xmlns:a16="http://schemas.microsoft.com/office/drawing/2014/main" id="{B59AFC7E-0385-4837-B7BD-434583F42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952875"/>
            <a:ext cx="414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00" b="1">
                <a:solidFill>
                  <a:srgbClr val="392B91"/>
                </a:solidFill>
              </a:defRPr>
            </a:defPPr>
            <a:lvl1pPr>
              <a:defRPr sz="1600" b="1">
                <a:solidFill>
                  <a:srgbClr val="392B91"/>
                </a:solidFill>
              </a:defRPr>
            </a:lvl1pPr>
            <a:lvl2pPr>
              <a:defRPr sz="1600" b="1">
                <a:solidFill>
                  <a:srgbClr val="392B91"/>
                </a:solidFill>
              </a:defRPr>
            </a:lvl2pPr>
            <a:lvl3pPr>
              <a:defRPr sz="1600" b="1">
                <a:solidFill>
                  <a:srgbClr val="392B91"/>
                </a:solidFill>
              </a:defRPr>
            </a:lvl3pPr>
            <a:lvl4pPr>
              <a:defRPr sz="1600" b="1">
                <a:solidFill>
                  <a:srgbClr val="392B91"/>
                </a:solidFill>
              </a:defRPr>
            </a:lvl4pPr>
            <a:lvl5pPr>
              <a:defRPr sz="1600" b="1">
                <a:solidFill>
                  <a:srgbClr val="392B91"/>
                </a:solidFill>
              </a:defRPr>
            </a:lvl5pPr>
            <a:lvl6pPr>
              <a:defRPr sz="1600" b="1">
                <a:solidFill>
                  <a:srgbClr val="392B91"/>
                </a:solidFill>
              </a:defRPr>
            </a:lvl6pPr>
            <a:lvl7pPr>
              <a:defRPr sz="1600" b="1">
                <a:solidFill>
                  <a:srgbClr val="392B91"/>
                </a:solidFill>
              </a:defRPr>
            </a:lvl7pPr>
            <a:lvl8pPr>
              <a:defRPr sz="1600" b="1">
                <a:solidFill>
                  <a:srgbClr val="392B91"/>
                </a:solidFill>
              </a:defRPr>
            </a:lvl8pPr>
            <a:lvl9pPr>
              <a:defRPr sz="1600" b="1">
                <a:solidFill>
                  <a:srgbClr val="392B91"/>
                </a:solidFill>
              </a:defRPr>
            </a:lvl9pPr>
          </a:lstStyle>
          <a:p xmlns:a="http://schemas.openxmlformats.org/drawingml/2006/main">
            <a:pPr>
              <a:defRPr sz="1600" b="1">
                <a:solidFill>
                  <a:srgbClr val="392B91"/>
                </a:solidFill>
              </a:defRPr>
            </a:pPr>
            <a:r>
              <a:rPr sz="1600" b="1">
                <a:solidFill>
                  <a:srgbClr val="392B91"/>
                </a:solidFill>
              </a:rPr>
              <a:t>状态指标与动态配权</a:t>
            </a:r>
          </a:p>
        </p:txBody>
      </p:sp>
      <p:sp>
        <p:nvSpPr>
          <p:cNvPr id="13" name="bullet-s2a">
            <a:extLst xmlns:a="http://schemas.openxmlformats.org/drawingml/2006/main">
              <a:ext uri="{FF2B5EF4-FFF2-40B4-BE49-F238E27FC236}">
                <a16:creationId xmlns:a16="http://schemas.microsoft.com/office/drawing/2014/main" id="{A0BF7409-1906-4769-8380-B7A081C5D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4333875"/>
            <a:ext cx="40576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00" b="0">
                <a:solidFill>
                  <a:srgbClr val="16243B"/>
                </a:solidFill>
              </a:defRPr>
            </a:defPPr>
            <a:lvl1pPr>
              <a:defRPr sz="1400" b="0">
                <a:solidFill>
                  <a:srgbClr val="16243B"/>
                </a:solidFill>
              </a:defRPr>
            </a:lvl1pPr>
            <a:lvl2pPr>
              <a:defRPr sz="1400" b="0">
                <a:solidFill>
                  <a:srgbClr val="16243B"/>
                </a:solidFill>
              </a:defRPr>
            </a:lvl2pPr>
            <a:lvl3pPr>
              <a:defRPr sz="1400" b="0">
                <a:solidFill>
                  <a:srgbClr val="16243B"/>
                </a:solidFill>
              </a:defRPr>
            </a:lvl3pPr>
            <a:lvl4pPr>
              <a:defRPr sz="1400" b="0">
                <a:solidFill>
                  <a:srgbClr val="16243B"/>
                </a:solidFill>
              </a:defRPr>
            </a:lvl4pPr>
            <a:lvl5pPr>
              <a:defRPr sz="1400" b="0">
                <a:solidFill>
                  <a:srgbClr val="16243B"/>
                </a:solidFill>
              </a:defRPr>
            </a:lvl5pPr>
            <a:lvl6pPr>
              <a:defRPr sz="1400" b="0">
                <a:solidFill>
                  <a:srgbClr val="16243B"/>
                </a:solidFill>
              </a:defRPr>
            </a:lvl6pPr>
            <a:lvl7pPr>
              <a:defRPr sz="1400" b="0">
                <a:solidFill>
                  <a:srgbClr val="16243B"/>
                </a:solidFill>
              </a:defRPr>
            </a:lvl7pPr>
            <a:lvl8pPr>
              <a:defRPr sz="1400" b="0">
                <a:solidFill>
                  <a:srgbClr val="16243B"/>
                </a:solidFill>
              </a:defRPr>
            </a:lvl8pPr>
            <a:lvl9pPr>
              <a:defRPr sz="1400" b="0">
                <a:solidFill>
                  <a:srgbClr val="16243B"/>
                </a:solidFill>
              </a:defRPr>
            </a:lvl9pPr>
          </a:lstStyle>
          <a:p xmlns:a="http://schemas.openxmlformats.org/drawingml/2006/main">
            <a:pPr>
              <a:defRPr sz="1400" b="0">
                <a:solidFill>
                  <a:srgbClr val="16243B"/>
                </a:solidFill>
              </a:defRPr>
            </a:pPr>
            <a:r>
              <a:rPr sz="1400" b="0">
                <a:solidFill>
                  <a:srgbClr val="16243B"/>
                </a:solidFill>
              </a:rPr>
              <a:t>建设大小盘、行业轮动、ETF申赎与流动性压力指标，输出多窗口历史分位，区分模型输入与监控。</a:t>
            </a:r>
          </a:p>
        </p:txBody>
      </p:sp>
      <p:sp>
        <p:nvSpPr>
          <p:cNvPr id="14" name="bullet-s2b">
            <a:extLst xmlns:a="http://schemas.openxmlformats.org/drawingml/2006/main">
              <a:ext uri="{FF2B5EF4-FFF2-40B4-BE49-F238E27FC236}">
                <a16:creationId xmlns:a16="http://schemas.microsoft.com/office/drawing/2014/main" id="{05AD18DF-D4BE-447E-86F7-6C5B72E84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5086350"/>
            <a:ext cx="40576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00" b="0">
                <a:solidFill>
                  <a:srgbClr val="16243B"/>
                </a:solidFill>
              </a:defRPr>
            </a:defPPr>
            <a:lvl1pPr>
              <a:defRPr sz="1400" b="0">
                <a:solidFill>
                  <a:srgbClr val="16243B"/>
                </a:solidFill>
              </a:defRPr>
            </a:lvl1pPr>
            <a:lvl2pPr>
              <a:defRPr sz="1400" b="0">
                <a:solidFill>
                  <a:srgbClr val="16243B"/>
                </a:solidFill>
              </a:defRPr>
            </a:lvl2pPr>
            <a:lvl3pPr>
              <a:defRPr sz="1400" b="0">
                <a:solidFill>
                  <a:srgbClr val="16243B"/>
                </a:solidFill>
              </a:defRPr>
            </a:lvl3pPr>
            <a:lvl4pPr>
              <a:defRPr sz="1400" b="0">
                <a:solidFill>
                  <a:srgbClr val="16243B"/>
                </a:solidFill>
              </a:defRPr>
            </a:lvl4pPr>
            <a:lvl5pPr>
              <a:defRPr sz="1400" b="0">
                <a:solidFill>
                  <a:srgbClr val="16243B"/>
                </a:solidFill>
              </a:defRPr>
            </a:lvl5pPr>
            <a:lvl6pPr>
              <a:defRPr sz="1400" b="0">
                <a:solidFill>
                  <a:srgbClr val="16243B"/>
                </a:solidFill>
              </a:defRPr>
            </a:lvl6pPr>
            <a:lvl7pPr>
              <a:defRPr sz="1400" b="0">
                <a:solidFill>
                  <a:srgbClr val="16243B"/>
                </a:solidFill>
              </a:defRPr>
            </a:lvl7pPr>
            <a:lvl8pPr>
              <a:defRPr sz="1400" b="0">
                <a:solidFill>
                  <a:srgbClr val="16243B"/>
                </a:solidFill>
              </a:defRPr>
            </a:lvl8pPr>
            <a:lvl9pPr>
              <a:defRPr sz="1400" b="0">
                <a:solidFill>
                  <a:srgbClr val="16243B"/>
                </a:solidFill>
              </a:defRPr>
            </a:lvl9pPr>
          </a:lstStyle>
          <a:p xmlns:a="http://schemas.openxmlformats.org/drawingml/2006/main">
            <a:pPr>
              <a:defRPr sz="1400" b="0">
                <a:solidFill>
                  <a:srgbClr val="16243B"/>
                </a:solidFill>
              </a:defRPr>
            </a:pPr>
            <a:r>
              <a:rPr sz="1400" b="0">
                <a:solidFill>
                  <a:srgbClr val="16243B"/>
                </a:solidFill>
              </a:rPr>
              <a:t>以动量、反转、价值、成长和低波为候选，比较等权、固定ICIR、分位规则与AI状态门控配置。</a:t>
            </a:r>
          </a:p>
        </p:txBody>
      </p:sp>
      <p:sp>
        <p:nvSpPr>
          <p:cNvPr id="15" name="s2-eval">
            <a:extLst xmlns:a="http://schemas.openxmlformats.org/drawingml/2006/main">
              <a:ext uri="{FF2B5EF4-FFF2-40B4-BE49-F238E27FC236}">
                <a16:creationId xmlns:a16="http://schemas.microsoft.com/office/drawing/2014/main" id="{8F538999-7997-453E-8938-695DA378E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952875"/>
            <a:ext cx="2609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00" b="1">
                <a:solidFill>
                  <a:srgbClr val="392B91"/>
                </a:solidFill>
              </a:defRPr>
            </a:defPPr>
            <a:lvl1pPr>
              <a:defRPr sz="1600" b="1">
                <a:solidFill>
                  <a:srgbClr val="392B91"/>
                </a:solidFill>
              </a:defRPr>
            </a:lvl1pPr>
            <a:lvl2pPr>
              <a:defRPr sz="1600" b="1">
                <a:solidFill>
                  <a:srgbClr val="392B91"/>
                </a:solidFill>
              </a:defRPr>
            </a:lvl2pPr>
            <a:lvl3pPr>
              <a:defRPr sz="1600" b="1">
                <a:solidFill>
                  <a:srgbClr val="392B91"/>
                </a:solidFill>
              </a:defRPr>
            </a:lvl3pPr>
            <a:lvl4pPr>
              <a:defRPr sz="1600" b="1">
                <a:solidFill>
                  <a:srgbClr val="392B91"/>
                </a:solidFill>
              </a:defRPr>
            </a:lvl4pPr>
            <a:lvl5pPr>
              <a:defRPr sz="1600" b="1">
                <a:solidFill>
                  <a:srgbClr val="392B91"/>
                </a:solidFill>
              </a:defRPr>
            </a:lvl5pPr>
            <a:lvl6pPr>
              <a:defRPr sz="1600" b="1">
                <a:solidFill>
                  <a:srgbClr val="392B91"/>
                </a:solidFill>
              </a:defRPr>
            </a:lvl6pPr>
            <a:lvl7pPr>
              <a:defRPr sz="1600" b="1">
                <a:solidFill>
                  <a:srgbClr val="392B91"/>
                </a:solidFill>
              </a:defRPr>
            </a:lvl7pPr>
            <a:lvl8pPr>
              <a:defRPr sz="1600" b="1">
                <a:solidFill>
                  <a:srgbClr val="392B91"/>
                </a:solidFill>
              </a:defRPr>
            </a:lvl8pPr>
            <a:lvl9pPr>
              <a:defRPr sz="1600" b="1">
                <a:solidFill>
                  <a:srgbClr val="392B91"/>
                </a:solidFill>
              </a:defRPr>
            </a:lvl9pPr>
          </a:lstStyle>
          <a:p xmlns:a="http://schemas.openxmlformats.org/drawingml/2006/main">
            <a:pPr>
              <a:defRPr sz="1600" b="1">
                <a:solidFill>
                  <a:srgbClr val="392B91"/>
                </a:solidFill>
              </a:defRPr>
            </a:pPr>
            <a:r>
              <a:rPr sz="1600" b="1">
                <a:solidFill>
                  <a:srgbClr val="392B91"/>
                </a:solidFill>
              </a:rPr>
              <a:t>前瞻检验与模拟跟踪</a:t>
            </a:r>
          </a:p>
        </p:txBody>
      </p:sp>
      <p:sp>
        <p:nvSpPr>
          <p:cNvPr id="16" name="bullet-s2c">
            <a:extLst xmlns:a="http://schemas.openxmlformats.org/drawingml/2006/main">
              <a:ext uri="{FF2B5EF4-FFF2-40B4-BE49-F238E27FC236}">
                <a16:creationId xmlns:a16="http://schemas.microsoft.com/office/drawing/2014/main" id="{8238A0AC-B07D-4732-9F83-522CF726A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4333875"/>
            <a:ext cx="2524125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00" b="0">
                <a:solidFill>
                  <a:srgbClr val="16243B"/>
                </a:solidFill>
              </a:defRPr>
            </a:defPPr>
            <a:lvl1pPr>
              <a:defRPr sz="1400" b="0">
                <a:solidFill>
                  <a:srgbClr val="16243B"/>
                </a:solidFill>
              </a:defRPr>
            </a:lvl1pPr>
            <a:lvl2pPr>
              <a:defRPr sz="1400" b="0">
                <a:solidFill>
                  <a:srgbClr val="16243B"/>
                </a:solidFill>
              </a:defRPr>
            </a:lvl2pPr>
            <a:lvl3pPr>
              <a:defRPr sz="1400" b="0">
                <a:solidFill>
                  <a:srgbClr val="16243B"/>
                </a:solidFill>
              </a:defRPr>
            </a:lvl3pPr>
            <a:lvl4pPr>
              <a:defRPr sz="1400" b="0">
                <a:solidFill>
                  <a:srgbClr val="16243B"/>
                </a:solidFill>
              </a:defRPr>
            </a:lvl4pPr>
            <a:lvl5pPr>
              <a:defRPr sz="1400" b="0">
                <a:solidFill>
                  <a:srgbClr val="16243B"/>
                </a:solidFill>
              </a:defRPr>
            </a:lvl5pPr>
            <a:lvl6pPr>
              <a:defRPr sz="1400" b="0">
                <a:solidFill>
                  <a:srgbClr val="16243B"/>
                </a:solidFill>
              </a:defRPr>
            </a:lvl6pPr>
            <a:lvl7pPr>
              <a:defRPr sz="1400" b="0">
                <a:solidFill>
                  <a:srgbClr val="16243B"/>
                </a:solidFill>
              </a:defRPr>
            </a:lvl7pPr>
            <a:lvl8pPr>
              <a:defRPr sz="1400" b="0">
                <a:solidFill>
                  <a:srgbClr val="16243B"/>
                </a:solidFill>
              </a:defRPr>
            </a:lvl8pPr>
            <a:lvl9pPr>
              <a:defRPr sz="1400" b="0">
                <a:solidFill>
                  <a:srgbClr val="16243B"/>
                </a:solidFill>
              </a:defRPr>
            </a:lvl9pPr>
          </a:lstStyle>
          <a:p xmlns:a="http://schemas.openxmlformats.org/drawingml/2006/main">
            <a:pPr>
              <a:defRPr sz="1400" b="0">
                <a:solidFill>
                  <a:srgbClr val="16243B"/>
                </a:solidFill>
              </a:defRPr>
            </a:pPr>
            <a:r>
              <a:rPr sz="1400" b="0">
                <a:solidFill>
                  <a:srgbClr val="16243B"/>
                </a:solidFill>
              </a:rPr>
              <a:t>固定风险和交易约束，检验未来因子收益，拆解风格暴露与配权贡献。</a:t>
            </a:r>
          </a:p>
        </p:txBody>
      </p:sp>
      <p:sp>
        <p:nvSpPr>
          <p:cNvPr id="17" name="bullet-s2d">
            <a:extLst xmlns:a="http://schemas.openxmlformats.org/drawingml/2006/main">
              <a:ext uri="{FF2B5EF4-FFF2-40B4-BE49-F238E27FC236}">
                <a16:creationId xmlns:a16="http://schemas.microsoft.com/office/drawing/2014/main" id="{BC8159A0-9E51-455E-8CAF-868CB089A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5086350"/>
            <a:ext cx="2524125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00" b="0">
                <a:solidFill>
                  <a:srgbClr val="16243B"/>
                </a:solidFill>
              </a:defRPr>
            </a:defPPr>
            <a:lvl1pPr>
              <a:defRPr sz="1400" b="0">
                <a:solidFill>
                  <a:srgbClr val="16243B"/>
                </a:solidFill>
              </a:defRPr>
            </a:lvl1pPr>
            <a:lvl2pPr>
              <a:defRPr sz="1400" b="0">
                <a:solidFill>
                  <a:srgbClr val="16243B"/>
                </a:solidFill>
              </a:defRPr>
            </a:lvl2pPr>
            <a:lvl3pPr>
              <a:defRPr sz="1400" b="0">
                <a:solidFill>
                  <a:srgbClr val="16243B"/>
                </a:solidFill>
              </a:defRPr>
            </a:lvl3pPr>
            <a:lvl4pPr>
              <a:defRPr sz="1400" b="0">
                <a:solidFill>
                  <a:srgbClr val="16243B"/>
                </a:solidFill>
              </a:defRPr>
            </a:lvl4pPr>
            <a:lvl5pPr>
              <a:defRPr sz="1400" b="0">
                <a:solidFill>
                  <a:srgbClr val="16243B"/>
                </a:solidFill>
              </a:defRPr>
            </a:lvl5pPr>
            <a:lvl6pPr>
              <a:defRPr sz="1400" b="0">
                <a:solidFill>
                  <a:srgbClr val="16243B"/>
                </a:solidFill>
              </a:defRPr>
            </a:lvl6pPr>
            <a:lvl7pPr>
              <a:defRPr sz="1400" b="0">
                <a:solidFill>
                  <a:srgbClr val="16243B"/>
                </a:solidFill>
              </a:defRPr>
            </a:lvl7pPr>
            <a:lvl8pPr>
              <a:defRPr sz="1400" b="0">
                <a:solidFill>
                  <a:srgbClr val="16243B"/>
                </a:solidFill>
              </a:defRPr>
            </a:lvl8pPr>
            <a:lvl9pPr>
              <a:defRPr sz="1400" b="0">
                <a:solidFill>
                  <a:srgbClr val="16243B"/>
                </a:solidFill>
              </a:defRPr>
            </a:lvl9pPr>
          </a:lstStyle>
          <a:p xmlns:a="http://schemas.openxmlformats.org/drawingml/2006/main">
            <a:pPr>
              <a:defRPr sz="1400" b="0">
                <a:solidFill>
                  <a:srgbClr val="16243B"/>
                </a:solidFill>
              </a:defRPr>
            </a:pPr>
            <a:r>
              <a:rPr sz="1400" b="0">
                <a:solidFill>
                  <a:srgbClr val="16243B"/>
                </a:solidFill>
              </a:rPr>
              <a:t>监控模型衰减和预警，按月复盘，人工决定保留、降权或调整。</a:t>
            </a:r>
          </a:p>
        </p:txBody>
      </p:sp>
      <p:graphicFrame>
        <p:nvGraphicFrame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2BB23C9-EEE2-4FEA-A764-CB36171C9F15}"/>
              </a:ext>
            </a:extLst>
          </p:cNvPr>
          <p:cNvGraphicFramePr/>
          <p:nvPr/>
        </p:nvGraphicFramePr>
        <p:xfrm>
          <a:off xmlns:a="http://schemas.openxmlformats.org/drawingml/2006/main" x="2590800" y="6019800"/>
          <a:ext xmlns:a="http://schemas.openxmlformats.org/drawingml/2006/main" cx="9124950" cy="428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76475"/>
                <a:gridCol w="2276475"/>
                <a:gridCol w="2286000"/>
                <a:gridCol w="2286000"/>
              </a:tblGrid>
              <a:tr h="214313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Q1  基础准备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D7DDEA"/>
                      </a:solidFill>
                      <a:prstDash val="solid"/>
                    </a:lnL>
                    <a:lnR w="6668">
                      <a:solidFill>
                        <a:srgbClr val="D7DDEA"/>
                      </a:solidFill>
                      <a:prstDash val="solid"/>
                    </a:lnR>
                    <a:lnT w="6668">
                      <a:solidFill>
                        <a:srgbClr val="D7DDEA"/>
                      </a:solidFill>
                      <a:prstDash val="solid"/>
                    </a:lnT>
                    <a:lnB w="6668">
                      <a:solidFill>
                        <a:srgbClr val="D7DDEA"/>
                      </a:solidFill>
                      <a:prstDash val="solid"/>
                    </a:lnB>
                    <a:solidFill>
                      <a:srgbClr val="392B9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Q2  原型研究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7DDEA"/>
                      </a:solidFill>
                      <a:prstDash val="solid"/>
                    </a:lnR>
                    <a:lnT w="6668">
                      <a:solidFill>
                        <a:srgbClr val="D7DDEA"/>
                      </a:solidFill>
                      <a:prstDash val="solid"/>
                    </a:lnT>
                    <a:lnB w="6668">
                      <a:solidFill>
                        <a:srgbClr val="D7DDEA"/>
                      </a:solidFill>
                      <a:prstDash val="solid"/>
                    </a:lnB>
                    <a:solidFill>
                      <a:srgbClr val="392B9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Q3  严格检验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7DDEA"/>
                      </a:solidFill>
                      <a:prstDash val="solid"/>
                    </a:lnR>
                    <a:lnT w="6668">
                      <a:solidFill>
                        <a:srgbClr val="D7DDEA"/>
                      </a:solidFill>
                      <a:prstDash val="solid"/>
                    </a:lnT>
                    <a:lnB w="6668">
                      <a:solidFill>
                        <a:srgbClr val="D7DDEA"/>
                      </a:solidFill>
                      <a:prstDash val="solid"/>
                    </a:lnB>
                    <a:solidFill>
                      <a:srgbClr val="392B9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Q4  策略储备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7DDEA"/>
                      </a:solidFill>
                      <a:prstDash val="solid"/>
                    </a:lnR>
                    <a:lnT w="6668">
                      <a:solidFill>
                        <a:srgbClr val="D7DDEA"/>
                      </a:solidFill>
                      <a:prstDash val="solid"/>
                    </a:lnT>
                    <a:lnB w="6668">
                      <a:solidFill>
                        <a:srgbClr val="D7DDEA"/>
                      </a:solidFill>
                      <a:prstDash val="solid"/>
                    </a:lnB>
                    <a:solidFill>
                      <a:srgbClr val="392B91"/>
                    </a:solidFill>
                  </a:tcPr>
                </a:tc>
              </a:tr>
              <a:tr h="214313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6243B"/>
                          </a:solidFill>
                        </a:rPr>
                        <a:t>指标库、基准与股票池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D7DDEA"/>
                      </a:solidFill>
                      <a:prstDash val="solid"/>
                    </a:lnL>
                    <a:lnR w="6668">
                      <a:solidFill>
                        <a:srgbClr val="D7DDEA"/>
                      </a:solidFill>
                      <a:prstDash val="solid"/>
                    </a:lnR>
                    <a:lnB w="6668">
                      <a:solidFill>
                        <a:srgbClr val="D7DDEA"/>
                      </a:solidFill>
                      <a:prstDash val="soli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6243B"/>
                          </a:solidFill>
                        </a:rPr>
                        <a:t>因子筛选、配置对照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7DDEA"/>
                      </a:solidFill>
                      <a:prstDash val="solid"/>
                    </a:lnR>
                    <a:lnB w="6668">
                      <a:solidFill>
                        <a:srgbClr val="D7DDEA"/>
                      </a:solidFill>
                      <a:prstDash val="soli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6243B"/>
                          </a:solidFill>
                        </a:rPr>
                        <a:t>滚动样本外与成本压力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7DDEA"/>
                      </a:solidFill>
                      <a:prstDash val="solid"/>
                    </a:lnR>
                    <a:lnB w="6668">
                      <a:solidFill>
                        <a:srgbClr val="D7DDEA"/>
                      </a:solidFill>
                      <a:prstDash val="soli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6243B"/>
                          </a:solidFill>
                        </a:rPr>
                        <a:t>模拟盘、说明书与复盘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7DDEA"/>
                      </a:solidFill>
                      <a:prstDash val="solid"/>
                    </a:lnR>
                    <a:lnB w="6668">
                      <a:solidFill>
                        <a:srgbClr val="D7DDEA"/>
                      </a:solidFill>
                      <a:prstDash val="solid"/>
                    </a:lnB>
                    <a:solidFill>
                      <a:srgbClr val="F1F4F9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0980117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2026-10-26T06:30:28.1130000Z</dcterms:created>
  <dcterms:modified xsi:type="dcterms:W3CDTF">2026-10-26T06:30:28.1130000Z</dcterms:modified>
</coreProperties>
</file>