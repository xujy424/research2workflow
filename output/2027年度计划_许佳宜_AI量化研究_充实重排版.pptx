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62" r:id="rId1"/>
  </p:sldMasterIdLst>
  <p:notesMasterIdLst>
    <p:notesMasterId r:id="rId4"/>
  </p:notesMasterIdLst>
  <p:handoutMasterIdLst>
    <p:handoutMasterId r:id="rId5"/>
  </p:handoutMasterIdLst>
  <p:sldIdLst>
    <p:sldId id="2147377771" r:id="rId2"/>
    <p:sldId id="2147377772" r:id="rId3"/>
  </p:sldIdLst>
  <p:sldSz cx="12192000" cy="6858000"/>
  <p:notesSz cx="6807200" cy="9939338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4" clrIdx="0"/>
  <p:cmAuthor id="2" name="kongkaijia" initials="K" lastIdx="1" clrIdx="1"/>
  <p:cmAuthor id="3" name="8613967107247" initials="8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6A7"/>
    <a:srgbClr val="DAE3F3"/>
    <a:srgbClr val="392A96"/>
    <a:srgbClr val="4A589B"/>
    <a:srgbClr val="4469BE"/>
    <a:srgbClr val="547CC7"/>
    <a:srgbClr val="698CD2"/>
    <a:srgbClr val="FFFFFF"/>
    <a:srgbClr val="5677BB"/>
    <a:srgbClr val="416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13" autoAdjust="0"/>
    <p:restoredTop sz="93775" autoAdjust="0"/>
  </p:normalViewPr>
  <p:slideViewPr>
    <p:cSldViewPr snapToGrid="0" showGuides="1">
      <p:cViewPr varScale="1">
        <p:scale>
          <a:sx n="84" d="100"/>
          <a:sy n="84" d="100"/>
        </p:scale>
        <p:origin x="259" y="82"/>
      </p:cViewPr>
      <p:guideLst>
        <p:guide orient="horz" pos="2161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2026/10/26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6"/>
            <a:ext cx="5445760" cy="391361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依据用户周报、月报、项目代码与用户提供的</a:t>
            </a:r>
            <a:r>
              <a:rPr lang="en-US" altLang="zh-CN"/>
              <a:t>2027</a:t>
            </a:r>
            <a:r>
              <a:rPr lang="zh-CN" altLang="en-US"/>
              <a:t>年度经营计划</a:t>
            </a:r>
            <a:r>
              <a:rPr lang="en-US" altLang="zh-CN"/>
              <a:t>_</a:t>
            </a:r>
            <a:r>
              <a:rPr lang="zh-CN" altLang="en-US"/>
              <a:t>量化研究</a:t>
            </a:r>
            <a:r>
              <a:rPr lang="en-US" altLang="zh-CN"/>
              <a:t>_</a:t>
            </a:r>
            <a:r>
              <a:rPr lang="zh-CN" altLang="en-US"/>
              <a:t>结合月报周报</a:t>
            </a:r>
            <a:r>
              <a:rPr lang="en-US" altLang="zh-CN"/>
              <a:t>_</a:t>
            </a:r>
            <a:r>
              <a:rPr lang="zh-CN" altLang="en-US"/>
              <a:t>更新版</a:t>
            </a:r>
            <a:r>
              <a:rPr lang="en-US" altLang="zh-CN"/>
              <a:t>.pptx</a:t>
            </a:r>
            <a:r>
              <a:rPr lang="zh-CN" altLang="en-US"/>
              <a:t>拟定。状态门控、多任务学习与</a:t>
            </a:r>
            <a:r>
              <a:rPr lang="en-US" altLang="zh-CN"/>
              <a:t>AI</a:t>
            </a:r>
            <a:r>
              <a:rPr lang="zh-CN" altLang="en-US"/>
              <a:t>配权均为待验证研究，季度节点及交付物是</a:t>
            </a:r>
            <a:r>
              <a:rPr lang="en-US" altLang="zh-CN"/>
              <a:t>2027</a:t>
            </a:r>
            <a:r>
              <a:rPr lang="zh-CN" altLang="en-US"/>
              <a:t>年计划。指标可输出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 altLang="zh-CN"/>
              <a:t>12</a:t>
            </a:r>
            <a:r>
              <a:rPr lang="zh-CN" altLang="en-US"/>
              <a:t>、</a:t>
            </a:r>
            <a:r>
              <a:rPr lang="en-US" altLang="zh-CN"/>
              <a:t>36</a:t>
            </a:r>
            <a:r>
              <a:rPr lang="zh-CN" altLang="en-US"/>
              <a:t>个月历史分位，须满足历史长度。模型调参使用验证集，独立测试仅用于最终检验，边界按标签期限隔离。仅将通过样本外与成本检验的原型纳入模拟盘，不承诺收益。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依据用户周报、月报、项目代码与用户提供的</a:t>
            </a:r>
            <a:r>
              <a:rPr lang="en-US" altLang="zh-CN"/>
              <a:t>2027</a:t>
            </a:r>
            <a:r>
              <a:rPr lang="zh-CN" altLang="en-US"/>
              <a:t>年度经营计划</a:t>
            </a:r>
            <a:r>
              <a:rPr lang="en-US" altLang="zh-CN"/>
              <a:t>_</a:t>
            </a:r>
            <a:r>
              <a:rPr lang="zh-CN" altLang="en-US"/>
              <a:t>量化研究</a:t>
            </a:r>
            <a:r>
              <a:rPr lang="en-US" altLang="zh-CN"/>
              <a:t>_</a:t>
            </a:r>
            <a:r>
              <a:rPr lang="zh-CN" altLang="en-US"/>
              <a:t>结合月报周报</a:t>
            </a:r>
            <a:r>
              <a:rPr lang="en-US" altLang="zh-CN"/>
              <a:t>_</a:t>
            </a:r>
            <a:r>
              <a:rPr lang="zh-CN" altLang="en-US"/>
              <a:t>更新版</a:t>
            </a:r>
            <a:r>
              <a:rPr lang="en-US" altLang="zh-CN"/>
              <a:t>.pptx</a:t>
            </a:r>
            <a:r>
              <a:rPr lang="zh-CN" altLang="en-US"/>
              <a:t>拟定。状态门控、多任务学习与</a:t>
            </a:r>
            <a:r>
              <a:rPr lang="en-US" altLang="zh-CN"/>
              <a:t>AI</a:t>
            </a:r>
            <a:r>
              <a:rPr lang="zh-CN" altLang="en-US"/>
              <a:t>配权均为待验证研究，季度节点及交付物是</a:t>
            </a:r>
            <a:r>
              <a:rPr lang="en-US" altLang="zh-CN"/>
              <a:t>2027</a:t>
            </a:r>
            <a:r>
              <a:rPr lang="zh-CN" altLang="en-US"/>
              <a:t>年计划。指标可输出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 altLang="zh-CN"/>
              <a:t>12</a:t>
            </a:r>
            <a:r>
              <a:rPr lang="zh-CN" altLang="en-US"/>
              <a:t>、</a:t>
            </a:r>
            <a:r>
              <a:rPr lang="en-US" altLang="zh-CN"/>
              <a:t>36</a:t>
            </a:r>
            <a:r>
              <a:rPr lang="zh-CN" altLang="en-US"/>
              <a:t>个月历史分位，须满足历史长度。模型调参使用验证集，独立测试仅用于最终检验，边界按标签期限隔离。仅将通过样本外与成本检验的原型纳入模拟盘，不承诺收益。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9CF5-116C-4BCD-847A-AECE88C31DD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322-7507-45AB-B146-2ADEB5E5C724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0CF-EFCB-4FE1-9D94-F08D094C50A0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F9BF-B070-4016-8B98-8AD75DBCEBF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EF0-3D51-49F3-9230-D09BFCE66748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647E-AF21-4BC6-9085-9B2A80650086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70EE-688F-4DD6-964A-506A3731198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48FA-3A25-427F-B5C1-05FE651C4EB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443A-F0C5-444F-B401-77BAEFADDAB1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54E1-EE94-4FA9-9F0B-E66AC9E9D49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F72-5D5C-449E-A518-38358EAF45E2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4B3C-580F-4FB7-A2AC-067F76B98959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3759C-9C06-4EBB-AD2A-39C071E1AB49}" type="datetime1">
              <a:rPr lang="zh-CN" altLang="en-US" smtClean="0"/>
              <a:t>2026/10/26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B960-645A-40D2-898D-B4C821FD2B3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068DECB2-889C-4BA2-DFA3-EAA4AC33AE8F}"/>
              </a:ext>
            </a:extLst>
          </p:cNvPr>
          <p:cNvSpPr/>
          <p:nvPr/>
        </p:nvSpPr>
        <p:spPr>
          <a:xfrm>
            <a:off x="7186930" y="2986659"/>
            <a:ext cx="4526280" cy="2305202"/>
          </a:xfrm>
          <a:prstGeom prst="roundRect">
            <a:avLst/>
          </a:prstGeom>
          <a:solidFill>
            <a:srgbClr val="F9FB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773C862F-FF2F-3621-677E-2F9D9BFE64D0}"/>
              </a:ext>
            </a:extLst>
          </p:cNvPr>
          <p:cNvSpPr/>
          <p:nvPr/>
        </p:nvSpPr>
        <p:spPr>
          <a:xfrm>
            <a:off x="2590800" y="2970885"/>
            <a:ext cx="4526280" cy="2320975"/>
          </a:xfrm>
          <a:prstGeom prst="roundRect">
            <a:avLst/>
          </a:prstGeom>
          <a:solidFill>
            <a:srgbClr val="F9FB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3B2319BA-172F-E1CD-6FC5-60C81A1817CE}"/>
              </a:ext>
            </a:extLst>
          </p:cNvPr>
          <p:cNvSpPr/>
          <p:nvPr/>
        </p:nvSpPr>
        <p:spPr>
          <a:xfrm>
            <a:off x="7189470" y="2907792"/>
            <a:ext cx="4526280" cy="393192"/>
          </a:xfrm>
          <a:prstGeom prst="rect">
            <a:avLst/>
          </a:prstGeom>
          <a:solidFill>
            <a:srgbClr val="274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EB4E4A4-F9DA-D033-2B31-FD0545B7392C}"/>
              </a:ext>
            </a:extLst>
          </p:cNvPr>
          <p:cNvSpPr/>
          <p:nvPr/>
        </p:nvSpPr>
        <p:spPr>
          <a:xfrm>
            <a:off x="2590800" y="2912631"/>
            <a:ext cx="4526280" cy="393192"/>
          </a:xfrm>
          <a:prstGeom prst="rect">
            <a:avLst/>
          </a:prstGeom>
          <a:solidFill>
            <a:srgbClr val="274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文本框 2"/>
          <p:cNvSpPr txBox="1"/>
          <p:nvPr/>
        </p:nvSpPr>
        <p:spPr>
          <a:xfrm>
            <a:off x="714681" y="252804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新技术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black"/>
                </a:solidFill>
                <a:latin typeface="Times New Roman"/>
                <a:ea typeface="微软雅黑"/>
              </a:rPr>
              <a:t>1</a:t>
            </a:r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16" name="intro">
            <a:extLst>
              <a:ext uri="{FF2B5EF4-FFF2-40B4-BE49-F238E27FC236}">
                <a16:creationId xmlns:a16="http://schemas.microsoft.com/office/drawing/2014/main" id="{0E560F31-B7C4-C0AE-CD15-402ED44FC108}"/>
              </a:ext>
            </a:extLst>
          </p:cNvPr>
          <p:cNvSpPr>
            <a:spLocks noGrp="1"/>
          </p:cNvSpPr>
          <p:nvPr/>
        </p:nvSpPr>
        <p:spPr>
          <a:xfrm>
            <a:off x="2590800" y="1176909"/>
            <a:ext cx="904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16243B"/>
                </a:solidFill>
              </a:defRPr>
            </a:defPPr>
            <a:lvl1pPr>
              <a:defRPr sz="1600" b="1">
                <a:solidFill>
                  <a:srgbClr val="16243B"/>
                </a:solidFill>
              </a:defRPr>
            </a:lvl1pPr>
            <a:lvl2pPr>
              <a:defRPr sz="1600" b="1">
                <a:solidFill>
                  <a:srgbClr val="16243B"/>
                </a:solidFill>
              </a:defRPr>
            </a:lvl2pPr>
            <a:lvl3pPr>
              <a:defRPr sz="1600" b="1">
                <a:solidFill>
                  <a:srgbClr val="16243B"/>
                </a:solidFill>
              </a:defRPr>
            </a:lvl3pPr>
            <a:lvl4pPr>
              <a:defRPr sz="1600" b="1">
                <a:solidFill>
                  <a:srgbClr val="16243B"/>
                </a:solidFill>
              </a:defRPr>
            </a:lvl4pPr>
            <a:lvl5pPr>
              <a:defRPr sz="1600" b="1">
                <a:solidFill>
                  <a:srgbClr val="16243B"/>
                </a:solidFill>
              </a:defRPr>
            </a:lvl5pPr>
            <a:lvl6pPr>
              <a:defRPr sz="1600" b="1">
                <a:solidFill>
                  <a:srgbClr val="16243B"/>
                </a:solidFill>
              </a:defRPr>
            </a:lvl6pPr>
            <a:lvl7pPr>
              <a:defRPr sz="1600" b="1">
                <a:solidFill>
                  <a:srgbClr val="16243B"/>
                </a:solidFill>
              </a:defRPr>
            </a:lvl7pPr>
            <a:lvl8pPr>
              <a:defRPr sz="1600" b="1">
                <a:solidFill>
                  <a:srgbClr val="16243B"/>
                </a:solidFill>
              </a:defRPr>
            </a:lvl8pPr>
            <a:lvl9pPr>
              <a:defRPr sz="1600" b="1">
                <a:solidFill>
                  <a:srgbClr val="16243B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16243B"/>
                </a:solidFill>
              </a:defRPr>
            </a:pPr>
            <a:r>
              <a:rPr sz="1600" b="1">
                <a:solidFill>
                  <a:srgbClr val="16243B"/>
                </a:solidFill>
              </a:rPr>
              <a:t>以风格感知和多期限监督改造现有时序模型，形成2项可复用的AI研究组件。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E9349F5-008E-2067-737F-7A3F191E05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6867392"/>
              </p:ext>
            </p:extLst>
          </p:nvPr>
        </p:nvGraphicFramePr>
        <p:xfrm>
          <a:off x="2590800" y="1672209"/>
          <a:ext cx="9124950" cy="1135952"/>
        </p:xfrm>
        <a:graphic>
          <a:graphicData uri="http://schemas.openxmlformats.org/drawingml/2006/table">
            <a:tbl>
              <a:tblPr/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数据与因子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市场状态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AI模型结构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增量验证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L2量价、成长与预期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统一时点、缺失及异常值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大小盘、成长价值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趋势反转、行业轮动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历史风险分位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共享GRU主干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状态门控与1/3/5日预测头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无状态与单期限基线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滚动检验及成本后评价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heading-a">
            <a:extLst>
              <a:ext uri="{FF2B5EF4-FFF2-40B4-BE49-F238E27FC236}">
                <a16:creationId xmlns:a16="http://schemas.microsoft.com/office/drawing/2014/main" id="{D718B28F-CB38-55CA-786A-603D8B7A58A3}"/>
              </a:ext>
            </a:extLst>
          </p:cNvPr>
          <p:cNvSpPr>
            <a:spLocks noGrp="1"/>
          </p:cNvSpPr>
          <p:nvPr/>
        </p:nvSpPr>
        <p:spPr>
          <a:xfrm>
            <a:off x="2590800" y="2986659"/>
            <a:ext cx="43434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chemeClr val="bg1"/>
                </a:solidFill>
              </a:rPr>
              <a:t>改造一</a:t>
            </a:r>
            <a:r>
              <a:rPr sz="1600" b="1" dirty="0">
                <a:solidFill>
                  <a:schemeClr val="bg1"/>
                </a:solidFill>
              </a:rPr>
              <a:t>  </a:t>
            </a:r>
            <a:r>
              <a:rPr sz="1600" b="1" dirty="0" err="1">
                <a:solidFill>
                  <a:schemeClr val="bg1"/>
                </a:solidFill>
              </a:rPr>
              <a:t>PRIME式风格感知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19" name="heading-b">
            <a:extLst>
              <a:ext uri="{FF2B5EF4-FFF2-40B4-BE49-F238E27FC236}">
                <a16:creationId xmlns:a16="http://schemas.microsoft.com/office/drawing/2014/main" id="{4E767FA4-3AC9-2E0C-D263-3A98E4AEA868}"/>
              </a:ext>
            </a:extLst>
          </p:cNvPr>
          <p:cNvSpPr>
            <a:spLocks noGrp="1"/>
          </p:cNvSpPr>
          <p:nvPr/>
        </p:nvSpPr>
        <p:spPr>
          <a:xfrm>
            <a:off x="7277100" y="2986659"/>
            <a:ext cx="44386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chemeClr val="bg1"/>
                </a:solidFill>
              </a:rPr>
              <a:t>改造二</a:t>
            </a:r>
            <a:r>
              <a:rPr sz="1600" b="1" dirty="0">
                <a:solidFill>
                  <a:schemeClr val="bg1"/>
                </a:solidFill>
              </a:rPr>
              <a:t>  </a:t>
            </a:r>
            <a:r>
              <a:rPr sz="1600" b="1" dirty="0" err="1">
                <a:solidFill>
                  <a:schemeClr val="bg1"/>
                </a:solidFill>
              </a:rPr>
              <a:t>多期限标签联合学习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20" name="bullet-a0">
            <a:extLst>
              <a:ext uri="{FF2B5EF4-FFF2-40B4-BE49-F238E27FC236}">
                <a16:creationId xmlns:a16="http://schemas.microsoft.com/office/drawing/2014/main" id="{5AFC548C-6CDA-5D59-89F1-1241970C504D}"/>
              </a:ext>
            </a:extLst>
          </p:cNvPr>
          <p:cNvSpPr>
            <a:spLocks noGrp="1"/>
          </p:cNvSpPr>
          <p:nvPr/>
        </p:nvSpPr>
        <p:spPr>
          <a:xfrm>
            <a:off x="2676525" y="3419497"/>
            <a:ext cx="425767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建立状态指标与各类因子收益的历史样本，先用分位规则检验风格对因子强弱的解释力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21" name="bullet-b0">
            <a:extLst>
              <a:ext uri="{FF2B5EF4-FFF2-40B4-BE49-F238E27FC236}">
                <a16:creationId xmlns:a16="http://schemas.microsoft.com/office/drawing/2014/main" id="{5FFF8358-EC7B-4D77-A9A9-64F7ACE5C5DB}"/>
              </a:ext>
            </a:extLst>
          </p:cNvPr>
          <p:cNvSpPr>
            <a:spLocks noGrp="1"/>
          </p:cNvSpPr>
          <p:nvPr/>
        </p:nvSpPr>
        <p:spPr>
          <a:xfrm>
            <a:off x="7362825" y="3402288"/>
            <a:ext cx="435292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>
                <a:solidFill>
                  <a:srgbClr val="16243B"/>
                </a:solidFill>
              </a:rPr>
              <a:t>共享GRU主干，三个预测头分别拟合未来1、3、5日真实收益，初始任务损失等权求和。</a:t>
            </a:r>
          </a:p>
        </p:txBody>
      </p:sp>
      <p:sp>
        <p:nvSpPr>
          <p:cNvPr id="22" name="bullet-a1">
            <a:extLst>
              <a:ext uri="{FF2B5EF4-FFF2-40B4-BE49-F238E27FC236}">
                <a16:creationId xmlns:a16="http://schemas.microsoft.com/office/drawing/2014/main" id="{FB144CB1-7C2E-1FF2-E32D-8F5D7D79F330}"/>
              </a:ext>
            </a:extLst>
          </p:cNvPr>
          <p:cNvSpPr>
            <a:spLocks noGrp="1"/>
          </p:cNvSpPr>
          <p:nvPr/>
        </p:nvSpPr>
        <p:spPr>
          <a:xfrm>
            <a:off x="2676525" y="4007739"/>
            <a:ext cx="425767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将市场状态作为GRU的条件输入或门控变量，与无状态模型比较，观察不同阶段的权重变化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23" name="bullet-b1">
            <a:extLst>
              <a:ext uri="{FF2B5EF4-FFF2-40B4-BE49-F238E27FC236}">
                <a16:creationId xmlns:a16="http://schemas.microsoft.com/office/drawing/2014/main" id="{AC92E0E2-5F7E-2AEB-1AA6-628285355831}"/>
              </a:ext>
            </a:extLst>
          </p:cNvPr>
          <p:cNvSpPr>
            <a:spLocks noGrp="1"/>
          </p:cNvSpPr>
          <p:nvPr/>
        </p:nvSpPr>
        <p:spPr>
          <a:xfrm>
            <a:off x="7362825" y="4016375"/>
            <a:ext cx="435292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>
                <a:solidFill>
                  <a:srgbClr val="16243B"/>
                </a:solidFill>
              </a:rPr>
              <a:t>先与单一5日标签比较RankIC、收益单调性和成本后收益，确认增益后再试自适应任务权重。</a:t>
            </a:r>
          </a:p>
        </p:txBody>
      </p:sp>
      <p:sp>
        <p:nvSpPr>
          <p:cNvPr id="24" name="bullet-a2">
            <a:extLst>
              <a:ext uri="{FF2B5EF4-FFF2-40B4-BE49-F238E27FC236}">
                <a16:creationId xmlns:a16="http://schemas.microsoft.com/office/drawing/2014/main" id="{44C252AF-2E82-EADE-24DC-5D14AFA29FCE}"/>
              </a:ext>
            </a:extLst>
          </p:cNvPr>
          <p:cNvSpPr>
            <a:spLocks noGrp="1"/>
          </p:cNvSpPr>
          <p:nvPr/>
        </p:nvSpPr>
        <p:spPr>
          <a:xfrm>
            <a:off x="2676525" y="4611180"/>
            <a:ext cx="425767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滚动训练并逐项移除状态特征，检验前瞻预测增量，区分事后解释与可交易信号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25" name="bullet-b2">
            <a:extLst>
              <a:ext uri="{FF2B5EF4-FFF2-40B4-BE49-F238E27FC236}">
                <a16:creationId xmlns:a16="http://schemas.microsoft.com/office/drawing/2014/main" id="{5217C1BD-ECBE-5337-D1FD-3F0EF2B7A26F}"/>
              </a:ext>
            </a:extLst>
          </p:cNvPr>
          <p:cNvSpPr>
            <a:spLocks noGrp="1"/>
          </p:cNvSpPr>
          <p:nvPr/>
        </p:nvSpPr>
        <p:spPr>
          <a:xfrm>
            <a:off x="7360285" y="4625110"/>
            <a:ext cx="435292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训练与验证按标签期隔离，在验证集选择参数，独立测试集终检，避免反复调参透支样本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21928747-C5C3-4902-B07D-44E41142C6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9926742"/>
              </p:ext>
            </p:extLst>
          </p:nvPr>
        </p:nvGraphicFramePr>
        <p:xfrm>
          <a:off x="2590800" y="5429360"/>
          <a:ext cx="9124950" cy="870077"/>
        </p:xfrm>
        <a:graphic>
          <a:graphicData uri="http://schemas.openxmlformats.org/drawingml/2006/table">
            <a:tbl>
              <a:tblPr/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Q1  数据与基线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Q2  模型原型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Q3  增量验收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Q4  组件交付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统一数据口径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状态库与单任务基线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dirty="0" err="1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状态门控与多任务</a:t>
                      </a:r>
                      <a:endParaRPr sz="1400" b="0" dirty="0">
                        <a:solidFill>
                          <a:srgbClr val="16243B"/>
                        </a:solidFill>
                        <a:latin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dirty="0" err="1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固定实验对照组</a:t>
                      </a:r>
                      <a:endParaRPr sz="1400" b="0" dirty="0">
                        <a:solidFill>
                          <a:srgbClr val="16243B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消融、分域与成本检验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记录有效及失效场景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dirty="0" err="1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通过检验后模拟跟踪</a:t>
                      </a:r>
                      <a:endParaRPr sz="1400" b="0" dirty="0">
                        <a:solidFill>
                          <a:srgbClr val="16243B"/>
                        </a:solidFill>
                        <a:latin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dirty="0" err="1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模型配置与报告入库</a:t>
                      </a:r>
                      <a:endParaRPr sz="1400" b="0" dirty="0">
                        <a:solidFill>
                          <a:srgbClr val="16243B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C4B81D84-B6C0-8163-EE0E-AF32A6C9A67D}"/>
              </a:ext>
            </a:extLst>
          </p:cNvPr>
          <p:cNvSpPr/>
          <p:nvPr/>
        </p:nvSpPr>
        <p:spPr>
          <a:xfrm>
            <a:off x="2431161" y="3705527"/>
            <a:ext cx="9198864" cy="2096485"/>
          </a:xfrm>
          <a:prstGeom prst="roundRect">
            <a:avLst/>
          </a:prstGeom>
          <a:solidFill>
            <a:srgbClr val="F9FB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679E7B87-F643-2ECC-4467-9A45423EBA91}"/>
              </a:ext>
            </a:extLst>
          </p:cNvPr>
          <p:cNvSpPr/>
          <p:nvPr/>
        </p:nvSpPr>
        <p:spPr>
          <a:xfrm>
            <a:off x="2428620" y="3694098"/>
            <a:ext cx="1800479" cy="2105659"/>
          </a:xfrm>
          <a:prstGeom prst="rect">
            <a:avLst/>
          </a:prstGeom>
          <a:solidFill>
            <a:srgbClr val="E2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15">
            <a:extLst>
              <a:ext uri="{FF2B5EF4-FFF2-40B4-BE49-F238E27FC236}">
                <a16:creationId xmlns:a16="http://schemas.microsoft.com/office/drawing/2014/main" id="{A7817648-A6B0-860D-A665-2E3F286BF812}"/>
              </a:ext>
            </a:extLst>
          </p:cNvPr>
          <p:cNvSpPr/>
          <p:nvPr/>
        </p:nvSpPr>
        <p:spPr>
          <a:xfrm>
            <a:off x="2474023" y="1548413"/>
            <a:ext cx="9198864" cy="2096485"/>
          </a:xfrm>
          <a:prstGeom prst="roundRect">
            <a:avLst/>
          </a:prstGeom>
          <a:solidFill>
            <a:srgbClr val="F9FB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87C7B1D5-D423-DBE1-D0AC-921D4E1A7ED1}"/>
              </a:ext>
            </a:extLst>
          </p:cNvPr>
          <p:cNvSpPr/>
          <p:nvPr/>
        </p:nvSpPr>
        <p:spPr>
          <a:xfrm>
            <a:off x="2428620" y="1539239"/>
            <a:ext cx="1800480" cy="2105659"/>
          </a:xfrm>
          <a:prstGeom prst="rect">
            <a:avLst/>
          </a:prstGeom>
          <a:solidFill>
            <a:srgbClr val="E2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新策略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black"/>
                </a:solidFill>
                <a:latin typeface="Times New Roman"/>
                <a:ea typeface="微软雅黑"/>
              </a:rPr>
              <a:t>2</a:t>
            </a:r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16" name="intro">
            <a:extLst>
              <a:ext uri="{FF2B5EF4-FFF2-40B4-BE49-F238E27FC236}">
                <a16:creationId xmlns:a16="http://schemas.microsoft.com/office/drawing/2014/main" id="{DA2F9397-971E-9F69-7F02-2DAC6AB68694}"/>
              </a:ext>
            </a:extLst>
          </p:cNvPr>
          <p:cNvSpPr>
            <a:spLocks noGrp="1"/>
          </p:cNvSpPr>
          <p:nvPr/>
        </p:nvSpPr>
        <p:spPr>
          <a:xfrm>
            <a:off x="2590800" y="1167414"/>
            <a:ext cx="91249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16243B"/>
                </a:solidFill>
              </a:defRPr>
            </a:defPPr>
            <a:lvl1pPr>
              <a:defRPr sz="1600" b="1">
                <a:solidFill>
                  <a:srgbClr val="16243B"/>
                </a:solidFill>
              </a:defRPr>
            </a:lvl1pPr>
            <a:lvl2pPr>
              <a:defRPr sz="1600" b="1">
                <a:solidFill>
                  <a:srgbClr val="16243B"/>
                </a:solidFill>
              </a:defRPr>
            </a:lvl2pPr>
            <a:lvl3pPr>
              <a:defRPr sz="1600" b="1">
                <a:solidFill>
                  <a:srgbClr val="16243B"/>
                </a:solidFill>
              </a:defRPr>
            </a:lvl3pPr>
            <a:lvl4pPr>
              <a:defRPr sz="1600" b="1">
                <a:solidFill>
                  <a:srgbClr val="16243B"/>
                </a:solidFill>
              </a:defRPr>
            </a:lvl4pPr>
            <a:lvl5pPr>
              <a:defRPr sz="1600" b="1">
                <a:solidFill>
                  <a:srgbClr val="16243B"/>
                </a:solidFill>
              </a:defRPr>
            </a:lvl5pPr>
            <a:lvl6pPr>
              <a:defRPr sz="1600" b="1">
                <a:solidFill>
                  <a:srgbClr val="16243B"/>
                </a:solidFill>
              </a:defRPr>
            </a:lvl6pPr>
            <a:lvl7pPr>
              <a:defRPr sz="1600" b="1">
                <a:solidFill>
                  <a:srgbClr val="16243B"/>
                </a:solidFill>
              </a:defRPr>
            </a:lvl7pPr>
            <a:lvl8pPr>
              <a:defRPr sz="1600" b="1">
                <a:solidFill>
                  <a:srgbClr val="16243B"/>
                </a:solidFill>
              </a:defRPr>
            </a:lvl8pPr>
            <a:lvl9pPr>
              <a:defRPr sz="1600" b="1">
                <a:solidFill>
                  <a:srgbClr val="16243B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16243B"/>
                </a:solidFill>
              </a:defRPr>
            </a:pPr>
            <a:r>
              <a:rPr sz="1600" b="1" dirty="0">
                <a:solidFill>
                  <a:srgbClr val="16243B"/>
                </a:solidFill>
              </a:rPr>
              <a:t>储备L2微观结构增强指增与AI状态感知配置两项策略，以成本后表现和模拟盘验收。</a:t>
            </a:r>
          </a:p>
        </p:txBody>
      </p:sp>
      <p:sp>
        <p:nvSpPr>
          <p:cNvPr id="17" name="strategy1">
            <a:extLst>
              <a:ext uri="{FF2B5EF4-FFF2-40B4-BE49-F238E27FC236}">
                <a16:creationId xmlns:a16="http://schemas.microsoft.com/office/drawing/2014/main" id="{C1AE5ABA-9B59-AC62-0741-5213C4A01172}"/>
              </a:ext>
            </a:extLst>
          </p:cNvPr>
          <p:cNvSpPr>
            <a:spLocks noGrp="1"/>
          </p:cNvSpPr>
          <p:nvPr/>
        </p:nvSpPr>
        <p:spPr>
          <a:xfrm>
            <a:off x="2590800" y="1680110"/>
            <a:ext cx="16383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rgbClr val="3256A7"/>
                </a:solidFill>
              </a:rPr>
              <a:t>策略一</a:t>
            </a:r>
            <a:endParaRPr sz="1600" b="1" dirty="0">
              <a:solidFill>
                <a:srgbClr val="3256A7"/>
              </a:solidFill>
            </a:endParaRPr>
          </a:p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>
                <a:solidFill>
                  <a:srgbClr val="3256A7"/>
                </a:solidFill>
              </a:rPr>
              <a:t>L2微观结构</a:t>
            </a:r>
          </a:p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rgbClr val="3256A7"/>
                </a:solidFill>
              </a:rPr>
              <a:t>增强指增</a:t>
            </a:r>
            <a:endParaRPr sz="1600" b="1" dirty="0">
              <a:solidFill>
                <a:srgbClr val="3256A7"/>
              </a:solidFill>
            </a:endParaRPr>
          </a:p>
        </p:txBody>
      </p:sp>
      <p:sp>
        <p:nvSpPr>
          <p:cNvPr id="18" name="strategy1-purpose">
            <a:extLst>
              <a:ext uri="{FF2B5EF4-FFF2-40B4-BE49-F238E27FC236}">
                <a16:creationId xmlns:a16="http://schemas.microsoft.com/office/drawing/2014/main" id="{463DF140-FE4D-0E9F-ACFC-D7FA9344EDCC}"/>
              </a:ext>
            </a:extLst>
          </p:cNvPr>
          <p:cNvSpPr>
            <a:spLocks noGrp="1"/>
          </p:cNvSpPr>
          <p:nvPr/>
        </p:nvSpPr>
        <p:spPr>
          <a:xfrm>
            <a:off x="2590800" y="2731389"/>
            <a:ext cx="16954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订单行为形成</a:t>
            </a:r>
            <a:endParaRPr sz="1400" b="0" dirty="0">
              <a:solidFill>
                <a:srgbClr val="16243B"/>
              </a:solidFill>
            </a:endParaRPr>
          </a:p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日频信号，补充</a:t>
            </a:r>
            <a:endParaRPr sz="1400" b="0" dirty="0">
              <a:solidFill>
                <a:srgbClr val="16243B"/>
              </a:solidFill>
            </a:endParaRPr>
          </a:p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成长与预期因子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19" name="s1-head">
            <a:extLst>
              <a:ext uri="{FF2B5EF4-FFF2-40B4-BE49-F238E27FC236}">
                <a16:creationId xmlns:a16="http://schemas.microsoft.com/office/drawing/2014/main" id="{A59D1C4C-2C66-1BEE-28C6-684E99DD4976}"/>
              </a:ext>
            </a:extLst>
          </p:cNvPr>
          <p:cNvSpPr>
            <a:spLocks noGrp="1"/>
          </p:cNvSpPr>
          <p:nvPr/>
        </p:nvSpPr>
        <p:spPr>
          <a:xfrm>
            <a:off x="4552950" y="1680110"/>
            <a:ext cx="4143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rgbClr val="3256A7"/>
                </a:solidFill>
              </a:rPr>
              <a:t>信号构造与AI筛选</a:t>
            </a:r>
            <a:endParaRPr sz="1600" b="1" dirty="0">
              <a:solidFill>
                <a:srgbClr val="3256A7"/>
              </a:solidFill>
            </a:endParaRPr>
          </a:p>
        </p:txBody>
      </p:sp>
      <p:sp>
        <p:nvSpPr>
          <p:cNvPr id="20" name="bullet-s1a">
            <a:extLst>
              <a:ext uri="{FF2B5EF4-FFF2-40B4-BE49-F238E27FC236}">
                <a16:creationId xmlns:a16="http://schemas.microsoft.com/office/drawing/2014/main" id="{297BED01-B671-8C3C-2F0D-47AE5F59D2A0}"/>
              </a:ext>
            </a:extLst>
          </p:cNvPr>
          <p:cNvSpPr>
            <a:spLocks noGrp="1"/>
          </p:cNvSpPr>
          <p:nvPr/>
        </p:nvSpPr>
        <p:spPr>
          <a:xfrm>
            <a:off x="4552950" y="2102739"/>
            <a:ext cx="4389882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按时段、订单规模及主动方向拆分样本，构造订单流不平衡、交易聚集和冲击后流动性恢复因子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21" name="bullet-s1b">
            <a:extLst>
              <a:ext uri="{FF2B5EF4-FFF2-40B4-BE49-F238E27FC236}">
                <a16:creationId xmlns:a16="http://schemas.microsoft.com/office/drawing/2014/main" id="{AC907602-F34A-F6D5-218D-084BC833DEE2}"/>
              </a:ext>
            </a:extLst>
          </p:cNvPr>
          <p:cNvSpPr>
            <a:spLocks noGrp="1"/>
          </p:cNvSpPr>
          <p:nvPr/>
        </p:nvSpPr>
        <p:spPr>
          <a:xfrm>
            <a:off x="4552950" y="2772537"/>
            <a:ext cx="4057650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控制行业市值和动量反转，以机器学习检验新增信息，结合ICIR、相关性及分组收益筛选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22" name="s1-eval">
            <a:extLst>
              <a:ext uri="{FF2B5EF4-FFF2-40B4-BE49-F238E27FC236}">
                <a16:creationId xmlns:a16="http://schemas.microsoft.com/office/drawing/2014/main" id="{7283D021-177C-7600-B98E-5BA3832108D6}"/>
              </a:ext>
            </a:extLst>
          </p:cNvPr>
          <p:cNvSpPr>
            <a:spLocks noGrp="1"/>
          </p:cNvSpPr>
          <p:nvPr/>
        </p:nvSpPr>
        <p:spPr>
          <a:xfrm>
            <a:off x="9148762" y="1649827"/>
            <a:ext cx="2609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rgbClr val="3256A7"/>
                </a:solidFill>
              </a:rPr>
              <a:t>组合约束与验收</a:t>
            </a:r>
            <a:endParaRPr sz="1600" b="1" dirty="0">
              <a:solidFill>
                <a:srgbClr val="3256A7"/>
              </a:solidFill>
            </a:endParaRPr>
          </a:p>
        </p:txBody>
      </p:sp>
      <p:sp>
        <p:nvSpPr>
          <p:cNvPr id="23" name="bullet-s1c">
            <a:extLst>
              <a:ext uri="{FF2B5EF4-FFF2-40B4-BE49-F238E27FC236}">
                <a16:creationId xmlns:a16="http://schemas.microsoft.com/office/drawing/2014/main" id="{86E09081-4F8F-11FD-5BE5-DF9BB58B569E}"/>
              </a:ext>
            </a:extLst>
          </p:cNvPr>
          <p:cNvSpPr>
            <a:spLocks noGrp="1"/>
          </p:cNvSpPr>
          <p:nvPr/>
        </p:nvSpPr>
        <p:spPr>
          <a:xfrm>
            <a:off x="9105900" y="2026475"/>
            <a:ext cx="2524125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接入风险模型，限制行业偏离、个股权重及换手，按成交额检验容量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24" name="bullet-s1d">
            <a:extLst>
              <a:ext uri="{FF2B5EF4-FFF2-40B4-BE49-F238E27FC236}">
                <a16:creationId xmlns:a16="http://schemas.microsoft.com/office/drawing/2014/main" id="{A144CA7D-ED77-F3AE-3400-6A6B78AB77AF}"/>
              </a:ext>
            </a:extLst>
          </p:cNvPr>
          <p:cNvSpPr>
            <a:spLocks noGrp="1"/>
          </p:cNvSpPr>
          <p:nvPr/>
        </p:nvSpPr>
        <p:spPr>
          <a:xfrm>
            <a:off x="9105900" y="2832546"/>
            <a:ext cx="2524125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比较基础组合与新增因子组合，报告成本后超额、回撤和换手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25" name="strategy2">
            <a:extLst>
              <a:ext uri="{FF2B5EF4-FFF2-40B4-BE49-F238E27FC236}">
                <a16:creationId xmlns:a16="http://schemas.microsoft.com/office/drawing/2014/main" id="{C9115F3C-DD89-6DBA-4447-08A819657942}"/>
              </a:ext>
            </a:extLst>
          </p:cNvPr>
          <p:cNvSpPr>
            <a:spLocks noGrp="1"/>
          </p:cNvSpPr>
          <p:nvPr/>
        </p:nvSpPr>
        <p:spPr>
          <a:xfrm>
            <a:off x="2581275" y="3747483"/>
            <a:ext cx="17145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rgbClr val="3256A7"/>
                </a:solidFill>
              </a:rPr>
              <a:t>策略二</a:t>
            </a:r>
            <a:endParaRPr sz="1600" b="1" dirty="0">
              <a:solidFill>
                <a:srgbClr val="3256A7"/>
              </a:solidFill>
            </a:endParaRPr>
          </a:p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rgbClr val="3256A7"/>
                </a:solidFill>
              </a:rPr>
              <a:t>AI状态感知</a:t>
            </a:r>
            <a:endParaRPr sz="1600" b="1" dirty="0">
              <a:solidFill>
                <a:srgbClr val="3256A7"/>
              </a:solidFill>
            </a:endParaRPr>
          </a:p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rgbClr val="3256A7"/>
                </a:solidFill>
              </a:rPr>
              <a:t>动态因子配置</a:t>
            </a:r>
            <a:endParaRPr sz="1600" b="1" dirty="0">
              <a:solidFill>
                <a:srgbClr val="3256A7"/>
              </a:solidFill>
            </a:endParaRPr>
          </a:p>
        </p:txBody>
      </p:sp>
      <p:sp>
        <p:nvSpPr>
          <p:cNvPr id="26" name="strategy2-purpose">
            <a:extLst>
              <a:ext uri="{FF2B5EF4-FFF2-40B4-BE49-F238E27FC236}">
                <a16:creationId xmlns:a16="http://schemas.microsoft.com/office/drawing/2014/main" id="{3B6821FC-4D80-21F0-FD62-3027E5266E32}"/>
              </a:ext>
            </a:extLst>
          </p:cNvPr>
          <p:cNvSpPr>
            <a:spLocks noGrp="1"/>
          </p:cNvSpPr>
          <p:nvPr/>
        </p:nvSpPr>
        <p:spPr>
          <a:xfrm>
            <a:off x="2569369" y="4715009"/>
            <a:ext cx="1714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提前识别因子强弱</a:t>
            </a:r>
            <a:r>
              <a:rPr sz="1400" b="0" dirty="0">
                <a:solidFill>
                  <a:srgbClr val="16243B"/>
                </a:solidFill>
              </a:rPr>
              <a:t>，</a:t>
            </a:r>
          </a:p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检验动态配权对</a:t>
            </a:r>
            <a:endParaRPr sz="1400" b="0" dirty="0">
              <a:solidFill>
                <a:srgbClr val="16243B"/>
              </a:solidFill>
            </a:endParaRPr>
          </a:p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固定配置的增益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27" name="s2-head">
            <a:extLst>
              <a:ext uri="{FF2B5EF4-FFF2-40B4-BE49-F238E27FC236}">
                <a16:creationId xmlns:a16="http://schemas.microsoft.com/office/drawing/2014/main" id="{7CACFA54-EB0F-C789-DB22-0948F8DB8A30}"/>
              </a:ext>
            </a:extLst>
          </p:cNvPr>
          <p:cNvSpPr>
            <a:spLocks noGrp="1"/>
          </p:cNvSpPr>
          <p:nvPr/>
        </p:nvSpPr>
        <p:spPr>
          <a:xfrm>
            <a:off x="4552950" y="3750025"/>
            <a:ext cx="4143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rgbClr val="3256A7"/>
                </a:solidFill>
              </a:rPr>
              <a:t>状态指标与动态配权</a:t>
            </a:r>
            <a:endParaRPr sz="1600" b="1" dirty="0">
              <a:solidFill>
                <a:srgbClr val="3256A7"/>
              </a:solidFill>
            </a:endParaRPr>
          </a:p>
        </p:txBody>
      </p:sp>
      <p:sp>
        <p:nvSpPr>
          <p:cNvPr id="28" name="bullet-s2a">
            <a:extLst>
              <a:ext uri="{FF2B5EF4-FFF2-40B4-BE49-F238E27FC236}">
                <a16:creationId xmlns:a16="http://schemas.microsoft.com/office/drawing/2014/main" id="{6E283D46-73D7-7AA1-2AAD-CFDA7B197200}"/>
              </a:ext>
            </a:extLst>
          </p:cNvPr>
          <p:cNvSpPr>
            <a:spLocks noGrp="1"/>
          </p:cNvSpPr>
          <p:nvPr/>
        </p:nvSpPr>
        <p:spPr>
          <a:xfrm>
            <a:off x="4552950" y="4170872"/>
            <a:ext cx="4057650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建设大小盘、行业轮动、ETF申赎与流动性压力指标，输出多窗口历史分位，区分模型输入与监控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29" name="bullet-s2b">
            <a:extLst>
              <a:ext uri="{FF2B5EF4-FFF2-40B4-BE49-F238E27FC236}">
                <a16:creationId xmlns:a16="http://schemas.microsoft.com/office/drawing/2014/main" id="{522E873E-A857-6A5A-9347-DADFADEAC595}"/>
              </a:ext>
            </a:extLst>
          </p:cNvPr>
          <p:cNvSpPr>
            <a:spLocks noGrp="1"/>
          </p:cNvSpPr>
          <p:nvPr/>
        </p:nvSpPr>
        <p:spPr>
          <a:xfrm>
            <a:off x="4552950" y="4987736"/>
            <a:ext cx="4234434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以动量、反转、价值、成长和低波为候选，比较等权、固定ICIR、分位规则与AI状态门控配置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30" name="s2-eval">
            <a:extLst>
              <a:ext uri="{FF2B5EF4-FFF2-40B4-BE49-F238E27FC236}">
                <a16:creationId xmlns:a16="http://schemas.microsoft.com/office/drawing/2014/main" id="{F93A1021-1B75-92D5-C5CF-6255B0A25849}"/>
              </a:ext>
            </a:extLst>
          </p:cNvPr>
          <p:cNvSpPr>
            <a:spLocks noGrp="1"/>
          </p:cNvSpPr>
          <p:nvPr/>
        </p:nvSpPr>
        <p:spPr>
          <a:xfrm>
            <a:off x="9148762" y="3774694"/>
            <a:ext cx="2609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 dirty="0" err="1">
                <a:solidFill>
                  <a:srgbClr val="3256A7"/>
                </a:solidFill>
              </a:rPr>
              <a:t>前瞻检验与模拟跟踪</a:t>
            </a:r>
            <a:endParaRPr sz="1600" b="1" dirty="0">
              <a:solidFill>
                <a:srgbClr val="3256A7"/>
              </a:solidFill>
            </a:endParaRPr>
          </a:p>
        </p:txBody>
      </p:sp>
      <p:sp>
        <p:nvSpPr>
          <p:cNvPr id="31" name="bullet-s2c">
            <a:extLst>
              <a:ext uri="{FF2B5EF4-FFF2-40B4-BE49-F238E27FC236}">
                <a16:creationId xmlns:a16="http://schemas.microsoft.com/office/drawing/2014/main" id="{20253540-28DA-9919-DE8A-FEEFB1191D46}"/>
              </a:ext>
            </a:extLst>
          </p:cNvPr>
          <p:cNvSpPr>
            <a:spLocks noGrp="1"/>
          </p:cNvSpPr>
          <p:nvPr/>
        </p:nvSpPr>
        <p:spPr>
          <a:xfrm>
            <a:off x="9148762" y="4093942"/>
            <a:ext cx="2524125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固定风险和交易约束，检验未来因子收益，拆解风格暴露与配权贡献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sp>
        <p:nvSpPr>
          <p:cNvPr id="32" name="bullet-s2d">
            <a:extLst>
              <a:ext uri="{FF2B5EF4-FFF2-40B4-BE49-F238E27FC236}">
                <a16:creationId xmlns:a16="http://schemas.microsoft.com/office/drawing/2014/main" id="{844F87EF-F880-7AE9-588A-ED3B0F6B4816}"/>
              </a:ext>
            </a:extLst>
          </p:cNvPr>
          <p:cNvSpPr>
            <a:spLocks noGrp="1"/>
          </p:cNvSpPr>
          <p:nvPr/>
        </p:nvSpPr>
        <p:spPr>
          <a:xfrm>
            <a:off x="9191625" y="4960232"/>
            <a:ext cx="2524125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 dirty="0" err="1">
                <a:solidFill>
                  <a:srgbClr val="16243B"/>
                </a:solidFill>
              </a:rPr>
              <a:t>监控模型衰减和预警，按月复盘，人工决定保留、降权或调整</a:t>
            </a:r>
            <a:r>
              <a:rPr sz="1400" b="0" dirty="0">
                <a:solidFill>
                  <a:srgbClr val="16243B"/>
                </a:solidFill>
              </a:rPr>
              <a:t>。</a:t>
            </a:r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C04AF268-77FB-7F22-4546-2BA1EEE52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286729"/>
              </p:ext>
            </p:extLst>
          </p:nvPr>
        </p:nvGraphicFramePr>
        <p:xfrm>
          <a:off x="2590800" y="5846064"/>
          <a:ext cx="9124950" cy="595504"/>
        </p:xfrm>
        <a:graphic>
          <a:graphicData uri="http://schemas.openxmlformats.org/drawingml/2006/table">
            <a:tbl>
              <a:tblPr/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Q1  基础准备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Q2  原型研究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Q3  严格检验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Q4  策略储备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指标库、基准与股票池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因子筛选、配置对照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滚动样本外与成本压力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模拟盘、说明书与复盘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9615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2bc9c3-220c-4331-8f1a-c5a9fa4b9c63"/>
  <p:tag name="COMMONDATA" val="eyJoZGlkIjoiYTJjMGQ2MDZmYmFkNjQ3NmEyYzI1YTMxNDI2Njk2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3311</TotalTime>
  <Words>514</Words>
  <Application>Microsoft Office PowerPoint</Application>
  <PresentationFormat>宽屏</PresentationFormat>
  <Paragraphs>87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微软雅黑</vt:lpstr>
      <vt:lpstr>Arial</vt:lpstr>
      <vt:lpstr>Calibri</vt:lpstr>
      <vt:lpstr>Calibri Light</vt:lpstr>
      <vt:lpstr>Segoe UI Symbol</vt:lpstr>
      <vt:lpstr>Times New Roman</vt:lpstr>
      <vt:lpstr>3_Office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洪梅</dc:creator>
  <cp:lastModifiedBy>许佳宜</cp:lastModifiedBy>
  <cp:revision>3591</cp:revision>
  <cp:lastPrinted>2025-11-18T11:22:18Z</cp:lastPrinted>
  <dcterms:created xsi:type="dcterms:W3CDTF">2022-03-16T10:45:00Z</dcterms:created>
  <dcterms:modified xsi:type="dcterms:W3CDTF">2026-10-26T06:51:49Z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8FD771090EF148E8A0D654D6642B5319_13</vt:lpwstr>
  </property>
  <property fmtid="{D5CDD505-2E9C-101B-9397-08002B2CF9AE}" pid="3" name="KSOProductBuildVer">
    <vt:lpwstr>2052-12.1.0.18912</vt:lpwstr>
  </property>
</Properties>
</file>