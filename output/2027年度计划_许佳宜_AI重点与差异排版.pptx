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62" r:id="rId1"/>
  </p:sldMasterIdLst>
  <p:notesMasterIdLst>
    <p:notesMasterId r:id="rId4"/>
  </p:notesMasterIdLst>
  <p:handoutMasterIdLst>
    <p:handoutMasterId r:id="rId5"/>
  </p:handoutMasterIdLst>
  <p:sldIdLst>
    <p:sldId id="2147377771" r:id="rId2"/>
    <p:sldId id="16671322" r:id="rId3"/>
  </p:sldIdLst>
  <p:sldSz cx="12192000" cy="6858000"/>
  <p:notesSz cx="6807200" cy="9939338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4" clrIdx="0"/>
  <p:cmAuthor id="2" name="kongkaijia" initials="K" lastIdx="1" clrIdx="1"/>
  <p:cmAuthor id="3" name="8613967107247" initials="8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392A96"/>
    <a:srgbClr val="4A589B"/>
    <a:srgbClr val="4469BE"/>
    <a:srgbClr val="547CC7"/>
    <a:srgbClr val="698CD2"/>
    <a:srgbClr val="FFFFFF"/>
    <a:srgbClr val="5677BB"/>
    <a:srgbClr val="4168B0"/>
    <a:srgbClr val="3256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613" autoAdjust="0"/>
    <p:restoredTop sz="93775" autoAdjust="0"/>
  </p:normalViewPr>
  <p:slideViewPr>
    <p:cSldViewPr snapToGrid="0" showGuides="1">
      <p:cViewPr varScale="1">
        <p:scale>
          <a:sx n="84" d="100"/>
          <a:sy n="84" d="100"/>
        </p:scale>
        <p:origin x="79" y="192"/>
      </p:cViewPr>
      <p:guideLst>
        <p:guide orient="horz" pos="2161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52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  <a:t>2026/10/26</a:t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1" y="4783306"/>
            <a:ext cx="5445760" cy="3913615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依据用户周报、月报及项目代码拟定</a:t>
            </a:r>
            <a:r>
              <a:rPr lang="en-US" altLang="zh-CN"/>
              <a:t>2027</a:t>
            </a:r>
            <a:r>
              <a:rPr lang="zh-CN" altLang="en-US"/>
              <a:t>年计划。</a:t>
            </a:r>
            <a:r>
              <a:rPr lang="en-US" altLang="zh-CN"/>
              <a:t>PRIME</a:t>
            </a:r>
            <a:r>
              <a:rPr lang="zh-CN" altLang="en-US"/>
              <a:t>风格感知和标签自适应均为待检验方向。自适应权重在验证集选择，独立样本仅用于最终检验。</a:t>
            </a:r>
            <a:r>
              <a:rPr lang="en-US" altLang="zh-CN"/>
              <a:t>GRU</a:t>
            </a:r>
            <a:r>
              <a:rPr lang="zh-CN" altLang="en-US"/>
              <a:t>与机器学习即本页</a:t>
            </a:r>
            <a:r>
              <a:rPr lang="en-US" altLang="zh-CN"/>
              <a:t>AI</a:t>
            </a:r>
            <a:r>
              <a:rPr lang="zh-CN" altLang="en-US"/>
              <a:t>技术的具体应用，不等同于大语言模型。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55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依据用户周报与月报拟定</a:t>
            </a:r>
            <a:r>
              <a:rPr lang="en-US" altLang="zh-CN"/>
              <a:t>2027</a:t>
            </a:r>
            <a:r>
              <a:rPr lang="zh-CN" altLang="en-US"/>
              <a:t>年计划。</a:t>
            </a:r>
            <a:r>
              <a:rPr lang="en-US" altLang="zh-CN"/>
              <a:t>AI</a:t>
            </a:r>
            <a:r>
              <a:rPr lang="zh-CN" altLang="en-US"/>
              <a:t>用于因子增量检验、风格感知和条件配权，监控与复盘保留人工判断。模拟盘仅纳入通过样本外与成本检验的原型，不将待研究功能写作已有成果。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09CF5-116C-4BCD-847A-AECE88C31DD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70322-7507-45AB-B146-2ADEB5E5C724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800CF-EFCB-4FE1-9D94-F08D094C50A0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F9BF-B070-4016-8B98-8AD75DBCEBF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FEF0-3D51-49F3-9230-D09BFCE66748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647E-AF21-4BC6-9085-9B2A80650086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70EE-688F-4DD6-964A-506A3731198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48FA-3A25-427F-B5C1-05FE651C4EB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443A-F0C5-444F-B401-77BAEFADDAB1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54E1-EE94-4FA9-9F0B-E66AC9E9D49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5F72-5D5C-449E-A518-38358EAF45E2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4B3C-580F-4FB7-A2AC-067F76B98959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3759C-9C06-4EBB-AD2A-39C071E1AB49}" type="datetime1">
              <a:rPr lang="zh-CN" altLang="en-US" smtClean="0"/>
              <a:t>2026/10/26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AA2EF9-2AFE-43D0-BC3E-73A7881286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2B960-645A-40D2-898D-B4C821FD2B3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三、业务计划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新技术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D8B3E80-239A-0A03-9B45-25CEA452DE94}"/>
              </a:ext>
            </a:extLst>
          </p:cNvPr>
          <p:cNvGrpSpPr/>
          <p:nvPr/>
        </p:nvGrpSpPr>
        <p:grpSpPr>
          <a:xfrm>
            <a:off x="7783854" y="1271601"/>
            <a:ext cx="3211155" cy="5221274"/>
            <a:chOff x="7771237" y="1044200"/>
            <a:chExt cx="3233618" cy="5257799"/>
          </a:xfrm>
        </p:grpSpPr>
        <p:sp>
          <p:nvSpPr>
            <p:cNvPr id="10" name="箭头: 环形 9">
              <a:extLst>
                <a:ext uri="{FF2B5EF4-FFF2-40B4-BE49-F238E27FC236}">
                  <a16:creationId xmlns:a16="http://schemas.microsoft.com/office/drawing/2014/main" id="{F5CE000B-52F3-AB09-1065-B9127840C4A2}"/>
                </a:ext>
              </a:extLst>
            </p:cNvPr>
            <p:cNvSpPr/>
            <p:nvPr/>
          </p:nvSpPr>
          <p:spPr>
            <a:xfrm>
              <a:off x="8474136" y="1044200"/>
              <a:ext cx="2530719" cy="2531104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08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BE795D23-EBFC-9560-BAE4-566A3040B121}"/>
                </a:ext>
              </a:extLst>
            </p:cNvPr>
            <p:cNvSpPr/>
            <p:nvPr/>
          </p:nvSpPr>
          <p:spPr>
            <a:xfrm>
              <a:off x="9033508" y="1958005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AI</a:t>
              </a: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风格感知</a:t>
              </a:r>
              <a:endParaRPr lang="zh-CN" altLang="en-US" sz="1600" b="1" kern="1200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形状 11">
              <a:extLst>
                <a:ext uri="{FF2B5EF4-FFF2-40B4-BE49-F238E27FC236}">
                  <a16:creationId xmlns:a16="http://schemas.microsoft.com/office/drawing/2014/main" id="{44C310D8-74E2-02F7-A3EC-B40CF40E5A34}"/>
                </a:ext>
              </a:extLst>
            </p:cNvPr>
            <p:cNvSpPr/>
            <p:nvPr/>
          </p:nvSpPr>
          <p:spPr>
            <a:xfrm>
              <a:off x="7771237" y="2498507"/>
              <a:ext cx="2530719" cy="2531104"/>
            </a:xfrm>
            <a:prstGeom prst="leftCircularArrow">
              <a:avLst>
                <a:gd name="adj1" fmla="val 10980"/>
                <a:gd name="adj2" fmla="val 1142322"/>
                <a:gd name="adj3" fmla="val 6300000"/>
                <a:gd name="adj4" fmla="val 189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3DC86F38-A254-4BB4-B24A-D04FED6020EA}"/>
                </a:ext>
              </a:extLst>
            </p:cNvPr>
            <p:cNvSpPr/>
            <p:nvPr/>
          </p:nvSpPr>
          <p:spPr>
            <a:xfrm>
              <a:off x="8171367" y="3420725"/>
              <a:ext cx="1730460" cy="702967"/>
            </a:xfrm>
            <a:custGeom>
              <a:avLst/>
              <a:gdLst>
                <a:gd name="connsiteX0" fmla="*/ 0 w 1730460"/>
                <a:gd name="connsiteY0" fmla="*/ 0 h 702967"/>
                <a:gd name="connsiteX1" fmla="*/ 1730460 w 1730460"/>
                <a:gd name="connsiteY1" fmla="*/ 0 h 702967"/>
                <a:gd name="connsiteX2" fmla="*/ 1730460 w 1730460"/>
                <a:gd name="connsiteY2" fmla="*/ 702967 h 702967"/>
                <a:gd name="connsiteX3" fmla="*/ 0 w 1730460"/>
                <a:gd name="connsiteY3" fmla="*/ 702967 h 702967"/>
                <a:gd name="connsiteX4" fmla="*/ 0 w 1730460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460" h="702967">
                  <a:moveTo>
                    <a:pt x="0" y="0"/>
                  </a:moveTo>
                  <a:lnTo>
                    <a:pt x="1730460" y="0"/>
                  </a:lnTo>
                  <a:lnTo>
                    <a:pt x="1730460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多任务学习</a:t>
              </a:r>
              <a:endParaRPr lang="zh-CN" altLang="en-US" sz="1600" b="1" kern="1200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空心弧 13">
              <a:extLst>
                <a:ext uri="{FF2B5EF4-FFF2-40B4-BE49-F238E27FC236}">
                  <a16:creationId xmlns:a16="http://schemas.microsoft.com/office/drawing/2014/main" id="{30BD113A-6086-EC98-8BB9-BCC5EB8D71AD}"/>
                </a:ext>
              </a:extLst>
            </p:cNvPr>
            <p:cNvSpPr/>
            <p:nvPr/>
          </p:nvSpPr>
          <p:spPr>
            <a:xfrm>
              <a:off x="8654257" y="4126848"/>
              <a:ext cx="2174280" cy="2175151"/>
            </a:xfrm>
            <a:prstGeom prst="blockArc">
              <a:avLst>
                <a:gd name="adj1" fmla="val 13500000"/>
                <a:gd name="adj2" fmla="val 10800000"/>
                <a:gd name="adj3" fmla="val 1274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7C6A0CCB-92C1-EBC7-EF60-1559666AB7FD}"/>
                </a:ext>
              </a:extLst>
            </p:cNvPr>
            <p:cNvSpPr/>
            <p:nvPr/>
          </p:nvSpPr>
          <p:spPr>
            <a:xfrm>
              <a:off x="9036835" y="4885548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样本外验证</a:t>
              </a:r>
              <a:endParaRPr lang="zh-CN" altLang="en-US" sz="1600" b="1" kern="12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b="0">
                <a:solidFill>
                  <a:prstClr val="black"/>
                </a:solidFill>
                <a:latin typeface="微软雅黑" panose="020B0503020204020204" pitchFamily="34" charset="-122"/>
                <a:ea typeface="微软雅黑"/>
              </a:rPr>
              <a:t>1</a:t>
            </a:r>
            <a:endParaRPr lang="zh-CN" altLang="en-US" sz="1100" b="0" dirty="0">
              <a:solidFill>
                <a:prstClr val="black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6BD552-204D-B356-442E-D53F1D074E88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/>
              <a:t>2027</a:t>
            </a:r>
            <a:r>
              <a:rPr lang="zh-CN" altLang="en-US" sz="1600"/>
              <a:t>年目标：验证</a:t>
            </a:r>
            <a:r>
              <a:rPr lang="en-US" altLang="zh-CN" sz="1600"/>
              <a:t>AI</a:t>
            </a:r>
            <a:r>
              <a:rPr lang="zh-CN" altLang="en-US" sz="1600"/>
              <a:t>风格感知与多任务学习的模型增益。</a:t>
            </a:r>
            <a:endParaRPr lang="zh-CN" altLang="en-US" sz="16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820750-F626-1836-2E9F-25E1C1DCA7EA}"/>
              </a:ext>
            </a:extLst>
          </p:cNvPr>
          <p:cNvSpPr>
            <a:spLocks noGrp="1"/>
          </p:cNvSpPr>
          <p:nvPr/>
        </p:nvSpPr>
        <p:spPr>
          <a:xfrm>
            <a:off x="2600325" y="17430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AI风格感知：检验PRIME思路的适用性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6E001A-1A59-9808-ED48-8F702BE7FE67}"/>
              </a:ext>
            </a:extLst>
          </p:cNvPr>
          <p:cNvSpPr>
            <a:spLocks noGrp="1"/>
          </p:cNvSpPr>
          <p:nvPr/>
        </p:nvSpPr>
        <p:spPr>
          <a:xfrm>
            <a:off x="2838450" y="20288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Q1整理宏观与风格指标，结合各类因子，为现有时序模型补充市场状态输入。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0FC64E-F395-E9FF-F8A4-E49BA783D811}"/>
              </a:ext>
            </a:extLst>
          </p:cNvPr>
          <p:cNvSpPr>
            <a:spLocks noGrp="1"/>
          </p:cNvSpPr>
          <p:nvPr/>
        </p:nvSpPr>
        <p:spPr>
          <a:xfrm>
            <a:off x="2838450" y="25431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Q2比较有无风格感知的模型，检查不同市场阶段的因子权重与样本外表现。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BF41F3-6BCA-00DA-5A62-25F6DC741DB6}"/>
              </a:ext>
            </a:extLst>
          </p:cNvPr>
          <p:cNvSpPr>
            <a:spLocks noGrp="1"/>
          </p:cNvSpPr>
          <p:nvPr/>
        </p:nvSpPr>
        <p:spPr>
          <a:xfrm>
            <a:off x="2600325" y="305752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多任务学习：共享GRU，预测不同期限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2C0881-A261-8607-A382-BD46B4C523B0}"/>
              </a:ext>
            </a:extLst>
          </p:cNvPr>
          <p:cNvSpPr>
            <a:spLocks noGrp="1"/>
          </p:cNvSpPr>
          <p:nvPr/>
        </p:nvSpPr>
        <p:spPr>
          <a:xfrm>
            <a:off x="2838450" y="33432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设置1、3、5日收益预测头，先以等权损失训练，与单一5日标签模型对比。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100DAA-E2F7-FA20-A2DD-F21A42F46B97}"/>
              </a:ext>
            </a:extLst>
          </p:cNvPr>
          <p:cNvSpPr>
            <a:spLocks noGrp="1"/>
          </p:cNvSpPr>
          <p:nvPr/>
        </p:nvSpPr>
        <p:spPr>
          <a:xfrm>
            <a:off x="2838450" y="38576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5日RankIC与成本后收益改善后，再研究自适应标签权重，另留独立样本检验。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E88A6BE-E862-11D6-7386-7A6B63B830DC}"/>
              </a:ext>
            </a:extLst>
          </p:cNvPr>
          <p:cNvSpPr>
            <a:spLocks noGrp="1"/>
          </p:cNvSpPr>
          <p:nvPr/>
        </p:nvSpPr>
        <p:spPr>
          <a:xfrm>
            <a:off x="2600325" y="43719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模型验证：固定基线，保留实验依据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046BA5-B018-62FD-7A93-26D38C42C25F}"/>
              </a:ext>
            </a:extLst>
          </p:cNvPr>
          <p:cNvSpPr>
            <a:spLocks noGrp="1"/>
          </p:cNvSpPr>
          <p:nvPr/>
        </p:nvSpPr>
        <p:spPr>
          <a:xfrm>
            <a:off x="2838450" y="46577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复用多数据源、分域损失测试，统一股票池和回测口径，按标签期限隔离训练与验证。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31B3FD-0449-297D-BEC8-AC8D096E6DF8}"/>
              </a:ext>
            </a:extLst>
          </p:cNvPr>
          <p:cNvSpPr>
            <a:spLocks noGrp="1"/>
          </p:cNvSpPr>
          <p:nvPr/>
        </p:nvSpPr>
        <p:spPr>
          <a:xfrm>
            <a:off x="2838450" y="51720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Q3至Q4交付AI模型对照报告与实验配置，说明增益来源、适用场景及失效条件。</a:t>
            </a:r>
          </a:p>
        </p:txBody>
      </p:sp>
    </p:spTree>
    <p:extLst>
      <p:ext uri="{BB962C8B-B14F-4D97-AF65-F5344CB8AC3E}">
        <p14:creationId xmlns:p14="http://schemas.microsoft.com/office/powerpoint/2010/main" val="37247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10362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三、业务计划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新策略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38200" y="121031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: 圆角 8"/>
          <p:cNvSpPr/>
          <p:nvPr/>
        </p:nvSpPr>
        <p:spPr>
          <a:xfrm>
            <a:off x="3069943" y="1557361"/>
            <a:ext cx="996287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因子输入</a:t>
            </a:r>
            <a:endParaRPr lang="zh-CN" altLang="en-US" sz="1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5434397" y="1557361"/>
            <a:ext cx="996287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轮动</a:t>
            </a:r>
            <a:endParaRPr lang="zh-CN" altLang="en-US" sz="1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7798851" y="1557364"/>
            <a:ext cx="1389344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组合回测</a:t>
            </a:r>
            <a:endParaRPr lang="zh-CN" altLang="en-US" sz="1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10315092" y="1557364"/>
            <a:ext cx="1266530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监控复盘</a:t>
            </a:r>
            <a:endParaRPr lang="zh-CN" altLang="en-US" sz="1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箭头: 右 16"/>
          <p:cNvSpPr/>
          <p:nvPr/>
        </p:nvSpPr>
        <p:spPr>
          <a:xfrm>
            <a:off x="4310827" y="1615358"/>
            <a:ext cx="771099" cy="4026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/>
          <p:cNvSpPr/>
          <p:nvPr/>
        </p:nvSpPr>
        <p:spPr>
          <a:xfrm>
            <a:off x="6834234" y="1622399"/>
            <a:ext cx="771099" cy="4026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/>
          <p:cNvSpPr/>
          <p:nvPr/>
        </p:nvSpPr>
        <p:spPr>
          <a:xfrm>
            <a:off x="9392206" y="1622398"/>
            <a:ext cx="771099" cy="4026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172"/>
          <p:cNvSpPr/>
          <p:nvPr/>
        </p:nvSpPr>
        <p:spPr>
          <a:xfrm>
            <a:off x="2585616" y="2332128"/>
            <a:ext cx="2010410" cy="4088906"/>
          </a:xfrm>
          <a:custGeom>
            <a:avLst/>
            <a:gdLst/>
            <a:ahLst/>
            <a:cxnLst/>
            <a:rect l="0" t="0" r="r" b="b"/>
            <a:pathLst>
              <a:path w="5584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4" y="163"/>
                </a:cubicBezTo>
                <a:cubicBezTo>
                  <a:pt x="32" y="147"/>
                  <a:pt x="42" y="132"/>
                  <a:pt x="53" y="117"/>
                </a:cubicBezTo>
                <a:cubicBezTo>
                  <a:pt x="65" y="103"/>
                  <a:pt x="78" y="89"/>
                  <a:pt x="93" y="77"/>
                </a:cubicBezTo>
                <a:cubicBezTo>
                  <a:pt x="108" y="65"/>
                  <a:pt x="124" y="54"/>
                  <a:pt x="141" y="44"/>
                </a:cubicBezTo>
                <a:cubicBezTo>
                  <a:pt x="158" y="35"/>
                  <a:pt x="177" y="26"/>
                  <a:pt x="196" y="20"/>
                </a:cubicBezTo>
                <a:cubicBezTo>
                  <a:pt x="215" y="13"/>
                  <a:pt x="235" y="8"/>
                  <a:pt x="255" y="5"/>
                </a:cubicBezTo>
                <a:cubicBezTo>
                  <a:pt x="276" y="1"/>
                  <a:pt x="296" y="0"/>
                  <a:pt x="317" y="0"/>
                </a:cubicBezTo>
                <a:lnTo>
                  <a:pt x="5266" y="0"/>
                </a:lnTo>
                <a:cubicBezTo>
                  <a:pt x="5287" y="0"/>
                  <a:pt x="5308" y="1"/>
                  <a:pt x="5328" y="5"/>
                </a:cubicBezTo>
                <a:cubicBezTo>
                  <a:pt x="5348" y="8"/>
                  <a:pt x="5368" y="13"/>
                  <a:pt x="5388" y="20"/>
                </a:cubicBezTo>
                <a:cubicBezTo>
                  <a:pt x="5407" y="26"/>
                  <a:pt x="5425" y="35"/>
                  <a:pt x="5442" y="44"/>
                </a:cubicBezTo>
                <a:cubicBezTo>
                  <a:pt x="5460" y="54"/>
                  <a:pt x="5476" y="65"/>
                  <a:pt x="5491" y="77"/>
                </a:cubicBezTo>
                <a:cubicBezTo>
                  <a:pt x="5505" y="89"/>
                  <a:pt x="5518" y="103"/>
                  <a:pt x="5530" y="117"/>
                </a:cubicBezTo>
                <a:cubicBezTo>
                  <a:pt x="5542" y="132"/>
                  <a:pt x="5551" y="147"/>
                  <a:pt x="5559" y="163"/>
                </a:cubicBezTo>
                <a:cubicBezTo>
                  <a:pt x="5567" y="179"/>
                  <a:pt x="5573" y="196"/>
                  <a:pt x="5577" y="213"/>
                </a:cubicBezTo>
                <a:cubicBezTo>
                  <a:pt x="5582" y="230"/>
                  <a:pt x="5584" y="247"/>
                  <a:pt x="5584" y="264"/>
                </a:cubicBezTo>
                <a:lnTo>
                  <a:pt x="5584" y="12648"/>
                </a:lnTo>
                <a:cubicBezTo>
                  <a:pt x="5584" y="12669"/>
                  <a:pt x="5582" y="12689"/>
                  <a:pt x="5577" y="12710"/>
                </a:cubicBezTo>
                <a:cubicBezTo>
                  <a:pt x="5573" y="12730"/>
                  <a:pt x="5567" y="12750"/>
                  <a:pt x="5559" y="12769"/>
                </a:cubicBezTo>
                <a:cubicBezTo>
                  <a:pt x="5551" y="12788"/>
                  <a:pt x="5542" y="12807"/>
                  <a:pt x="5530" y="12824"/>
                </a:cubicBezTo>
                <a:cubicBezTo>
                  <a:pt x="5518" y="12841"/>
                  <a:pt x="5505" y="12857"/>
                  <a:pt x="5491" y="12872"/>
                </a:cubicBezTo>
                <a:cubicBezTo>
                  <a:pt x="5476" y="12887"/>
                  <a:pt x="5460" y="12900"/>
                  <a:pt x="5442" y="12912"/>
                </a:cubicBezTo>
                <a:cubicBezTo>
                  <a:pt x="5425" y="12923"/>
                  <a:pt x="5407" y="12933"/>
                  <a:pt x="5388" y="12941"/>
                </a:cubicBezTo>
                <a:cubicBezTo>
                  <a:pt x="5368" y="12949"/>
                  <a:pt x="5348" y="12955"/>
                  <a:pt x="5328" y="12959"/>
                </a:cubicBezTo>
                <a:cubicBezTo>
                  <a:pt x="5308" y="12963"/>
                  <a:pt x="5287" y="12965"/>
                  <a:pt x="5266" y="12965"/>
                </a:cubicBezTo>
                <a:lnTo>
                  <a:pt x="317" y="12965"/>
                </a:lnTo>
                <a:cubicBezTo>
                  <a:pt x="296" y="12965"/>
                  <a:pt x="276" y="12963"/>
                  <a:pt x="255" y="12959"/>
                </a:cubicBezTo>
                <a:cubicBezTo>
                  <a:pt x="235" y="12955"/>
                  <a:pt x="215" y="12949"/>
                  <a:pt x="196" y="12941"/>
                </a:cubicBezTo>
                <a:cubicBezTo>
                  <a:pt x="177" y="12933"/>
                  <a:pt x="158" y="12923"/>
                  <a:pt x="141" y="12912"/>
                </a:cubicBezTo>
                <a:cubicBezTo>
                  <a:pt x="124" y="12900"/>
                  <a:pt x="108" y="12887"/>
                  <a:pt x="93" y="12872"/>
                </a:cubicBezTo>
                <a:cubicBezTo>
                  <a:pt x="78" y="12857"/>
                  <a:pt x="65" y="12841"/>
                  <a:pt x="53" y="12824"/>
                </a:cubicBezTo>
                <a:cubicBezTo>
                  <a:pt x="42" y="12807"/>
                  <a:pt x="32" y="12788"/>
                  <a:pt x="24" y="12769"/>
                </a:cubicBezTo>
                <a:cubicBezTo>
                  <a:pt x="16" y="12750"/>
                  <a:pt x="10" y="12730"/>
                  <a:pt x="6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任意多边形 173"/>
          <p:cNvSpPr/>
          <p:nvPr/>
        </p:nvSpPr>
        <p:spPr>
          <a:xfrm>
            <a:off x="2585496" y="2217767"/>
            <a:ext cx="2010240" cy="114480"/>
          </a:xfrm>
          <a:custGeom>
            <a:avLst/>
            <a:gdLst/>
            <a:ahLst/>
            <a:cxnLst/>
            <a:rect l="0" t="0" r="r" b="b"/>
            <a:pathLst>
              <a:path w="5584" h="318">
                <a:moveTo>
                  <a:pt x="0" y="0"/>
                </a:moveTo>
                <a:lnTo>
                  <a:pt x="5584" y="0"/>
                </a:lnTo>
                <a:lnTo>
                  <a:pt x="5584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754263" y="2762730"/>
            <a:ext cx="1736615" cy="43088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微观结构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与预期因子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392A9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618535" y="3238384"/>
            <a:ext cx="1847850" cy="2510816"/>
          </a:xfrm>
          <a:prstGeom prst="rect">
            <a:avLst/>
          </a:prstGeom>
          <a:noFill/>
        </p:spPr>
        <p:txBody>
          <a:bodyPr wrap="square" lIns="101600" rIns="5080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Wingdings" panose="05000000000000000000" charset="0"/>
              <a:buChar char="▪"/>
              <a:defRPr/>
            </a:pP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Q1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至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Q2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积累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Level2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、成长及一致预期因子，统一清洗与检验。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Wingdings" panose="05000000000000000000" charset="0"/>
              <a:buChar char="▪"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以机器学习比较新增因子的预测贡献，剔除冗余信号。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任意多边形 176"/>
          <p:cNvSpPr/>
          <p:nvPr/>
        </p:nvSpPr>
        <p:spPr>
          <a:xfrm>
            <a:off x="4989381" y="2359802"/>
            <a:ext cx="2009775" cy="4061232"/>
          </a:xfrm>
          <a:custGeom>
            <a:avLst/>
            <a:gdLst/>
            <a:ahLst/>
            <a:cxnLst/>
            <a:rect l="0" t="0" r="r" b="b"/>
            <a:pathLst>
              <a:path w="5583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4" y="163"/>
                </a:cubicBezTo>
                <a:cubicBezTo>
                  <a:pt x="32" y="147"/>
                  <a:pt x="41" y="132"/>
                  <a:pt x="53" y="117"/>
                </a:cubicBezTo>
                <a:cubicBezTo>
                  <a:pt x="65" y="103"/>
                  <a:pt x="78" y="89"/>
                  <a:pt x="93" y="77"/>
                </a:cubicBezTo>
                <a:cubicBezTo>
                  <a:pt x="107" y="65"/>
                  <a:pt x="123" y="54"/>
                  <a:pt x="141" y="44"/>
                </a:cubicBezTo>
                <a:cubicBezTo>
                  <a:pt x="158" y="35"/>
                  <a:pt x="176" y="26"/>
                  <a:pt x="196" y="20"/>
                </a:cubicBezTo>
                <a:cubicBezTo>
                  <a:pt x="215" y="13"/>
                  <a:pt x="235" y="8"/>
                  <a:pt x="255" y="5"/>
                </a:cubicBezTo>
                <a:cubicBezTo>
                  <a:pt x="276" y="1"/>
                  <a:pt x="296" y="0"/>
                  <a:pt x="317" y="0"/>
                </a:cubicBezTo>
                <a:lnTo>
                  <a:pt x="5266" y="0"/>
                </a:lnTo>
                <a:cubicBezTo>
                  <a:pt x="5287" y="0"/>
                  <a:pt x="5307" y="1"/>
                  <a:pt x="5328" y="5"/>
                </a:cubicBezTo>
                <a:cubicBezTo>
                  <a:pt x="5348" y="8"/>
                  <a:pt x="5368" y="13"/>
                  <a:pt x="5387" y="20"/>
                </a:cubicBezTo>
                <a:cubicBezTo>
                  <a:pt x="5407" y="26"/>
                  <a:pt x="5425" y="35"/>
                  <a:pt x="5442" y="44"/>
                </a:cubicBezTo>
                <a:cubicBezTo>
                  <a:pt x="5459" y="54"/>
                  <a:pt x="5476" y="65"/>
                  <a:pt x="5490" y="77"/>
                </a:cubicBezTo>
                <a:cubicBezTo>
                  <a:pt x="5505" y="89"/>
                  <a:pt x="5518" y="103"/>
                  <a:pt x="5530" y="117"/>
                </a:cubicBezTo>
                <a:cubicBezTo>
                  <a:pt x="5541" y="132"/>
                  <a:pt x="5551" y="147"/>
                  <a:pt x="5559" y="163"/>
                </a:cubicBezTo>
                <a:cubicBezTo>
                  <a:pt x="5567" y="179"/>
                  <a:pt x="5573" y="196"/>
                  <a:pt x="5577" y="213"/>
                </a:cubicBezTo>
                <a:cubicBezTo>
                  <a:pt x="5581" y="230"/>
                  <a:pt x="5583" y="247"/>
                  <a:pt x="5583" y="264"/>
                </a:cubicBezTo>
                <a:lnTo>
                  <a:pt x="5583" y="12648"/>
                </a:lnTo>
                <a:cubicBezTo>
                  <a:pt x="5583" y="12669"/>
                  <a:pt x="5581" y="12689"/>
                  <a:pt x="5577" y="12710"/>
                </a:cubicBezTo>
                <a:cubicBezTo>
                  <a:pt x="5573" y="12730"/>
                  <a:pt x="5567" y="12750"/>
                  <a:pt x="5559" y="12769"/>
                </a:cubicBezTo>
                <a:cubicBezTo>
                  <a:pt x="5551" y="12788"/>
                  <a:pt x="5541" y="12807"/>
                  <a:pt x="5530" y="12824"/>
                </a:cubicBezTo>
                <a:cubicBezTo>
                  <a:pt x="5518" y="12841"/>
                  <a:pt x="5505" y="12857"/>
                  <a:pt x="5490" y="12872"/>
                </a:cubicBezTo>
                <a:cubicBezTo>
                  <a:pt x="5476" y="12887"/>
                  <a:pt x="5459" y="12900"/>
                  <a:pt x="5442" y="12912"/>
                </a:cubicBezTo>
                <a:cubicBezTo>
                  <a:pt x="5425" y="12923"/>
                  <a:pt x="5407" y="12933"/>
                  <a:pt x="5387" y="12941"/>
                </a:cubicBezTo>
                <a:cubicBezTo>
                  <a:pt x="5368" y="12949"/>
                  <a:pt x="5348" y="12955"/>
                  <a:pt x="5328" y="12959"/>
                </a:cubicBezTo>
                <a:cubicBezTo>
                  <a:pt x="5307" y="12963"/>
                  <a:pt x="5287" y="12965"/>
                  <a:pt x="5266" y="12965"/>
                </a:cubicBezTo>
                <a:lnTo>
                  <a:pt x="317" y="12965"/>
                </a:lnTo>
                <a:cubicBezTo>
                  <a:pt x="296" y="12965"/>
                  <a:pt x="276" y="12963"/>
                  <a:pt x="255" y="12959"/>
                </a:cubicBezTo>
                <a:cubicBezTo>
                  <a:pt x="235" y="12955"/>
                  <a:pt x="215" y="12949"/>
                  <a:pt x="196" y="12941"/>
                </a:cubicBezTo>
                <a:cubicBezTo>
                  <a:pt x="176" y="12933"/>
                  <a:pt x="158" y="12923"/>
                  <a:pt x="141" y="12912"/>
                </a:cubicBezTo>
                <a:cubicBezTo>
                  <a:pt x="123" y="12900"/>
                  <a:pt x="107" y="12887"/>
                  <a:pt x="93" y="12872"/>
                </a:cubicBezTo>
                <a:cubicBezTo>
                  <a:pt x="78" y="12857"/>
                  <a:pt x="65" y="12841"/>
                  <a:pt x="53" y="12824"/>
                </a:cubicBezTo>
                <a:cubicBezTo>
                  <a:pt x="41" y="12807"/>
                  <a:pt x="32" y="12788"/>
                  <a:pt x="24" y="12769"/>
                </a:cubicBezTo>
                <a:cubicBezTo>
                  <a:pt x="16" y="12750"/>
                  <a:pt x="10" y="12730"/>
                  <a:pt x="6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任意多边形 177"/>
          <p:cNvSpPr/>
          <p:nvPr/>
        </p:nvSpPr>
        <p:spPr>
          <a:xfrm>
            <a:off x="4989366" y="2245441"/>
            <a:ext cx="2009880" cy="114480"/>
          </a:xfrm>
          <a:custGeom>
            <a:avLst/>
            <a:gdLst/>
            <a:ahLst/>
            <a:cxnLst/>
            <a:rect l="0" t="0" r="r" b="b"/>
            <a:pathLst>
              <a:path w="5583" h="318">
                <a:moveTo>
                  <a:pt x="0" y="0"/>
                </a:moveTo>
                <a:lnTo>
                  <a:pt x="5583" y="0"/>
                </a:lnTo>
                <a:lnTo>
                  <a:pt x="5583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914400"/>
            <a:endParaRPr lang="en-US" sz="2400">
              <a:solidFill>
                <a:srgbClr val="FFFFFF"/>
              </a:soli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34" name="任意多边形 178"/>
          <p:cNvSpPr/>
          <p:nvPr/>
        </p:nvSpPr>
        <p:spPr>
          <a:xfrm>
            <a:off x="5779926" y="2386467"/>
            <a:ext cx="428760" cy="343080"/>
          </a:xfrm>
          <a:custGeom>
            <a:avLst/>
            <a:gdLst/>
            <a:ahLst/>
            <a:cxnLst/>
            <a:rect l="0" t="0" r="r" b="b"/>
            <a:pathLst>
              <a:path w="1191" h="953">
                <a:moveTo>
                  <a:pt x="326" y="725"/>
                </a:moveTo>
                <a:cubicBezTo>
                  <a:pt x="308" y="755"/>
                  <a:pt x="298" y="789"/>
                  <a:pt x="298" y="824"/>
                </a:cubicBezTo>
                <a:cubicBezTo>
                  <a:pt x="280" y="831"/>
                  <a:pt x="260" y="834"/>
                  <a:pt x="239" y="834"/>
                </a:cubicBezTo>
                <a:cubicBezTo>
                  <a:pt x="140" y="834"/>
                  <a:pt x="60" y="754"/>
                  <a:pt x="60" y="656"/>
                </a:cubicBezTo>
                <a:lnTo>
                  <a:pt x="60" y="120"/>
                </a:lnTo>
                <a:cubicBezTo>
                  <a:pt x="27" y="120"/>
                  <a:pt x="0" y="93"/>
                  <a:pt x="0" y="60"/>
                </a:cubicBezTo>
                <a:cubicBezTo>
                  <a:pt x="0" y="27"/>
                  <a:pt x="27" y="0"/>
                  <a:pt x="60" y="0"/>
                </a:cubicBezTo>
                <a:lnTo>
                  <a:pt x="179" y="0"/>
                </a:lnTo>
                <a:lnTo>
                  <a:pt x="298" y="0"/>
                </a:lnTo>
                <a:lnTo>
                  <a:pt x="417" y="0"/>
                </a:lnTo>
                <a:cubicBezTo>
                  <a:pt x="450" y="0"/>
                  <a:pt x="477" y="27"/>
                  <a:pt x="477" y="60"/>
                </a:cubicBezTo>
                <a:cubicBezTo>
                  <a:pt x="477" y="93"/>
                  <a:pt x="450" y="120"/>
                  <a:pt x="417" y="120"/>
                </a:cubicBezTo>
                <a:lnTo>
                  <a:pt x="417" y="577"/>
                </a:lnTo>
                <a:lnTo>
                  <a:pt x="326" y="725"/>
                </a:lnTo>
                <a:moveTo>
                  <a:pt x="179" y="120"/>
                </a:moveTo>
                <a:lnTo>
                  <a:pt x="179" y="298"/>
                </a:lnTo>
                <a:lnTo>
                  <a:pt x="298" y="298"/>
                </a:lnTo>
                <a:lnTo>
                  <a:pt x="298" y="120"/>
                </a:lnTo>
                <a:lnTo>
                  <a:pt x="179" y="120"/>
                </a:lnTo>
                <a:moveTo>
                  <a:pt x="655" y="0"/>
                </a:moveTo>
                <a:lnTo>
                  <a:pt x="894" y="0"/>
                </a:lnTo>
                <a:lnTo>
                  <a:pt x="953" y="0"/>
                </a:lnTo>
                <a:cubicBezTo>
                  <a:pt x="986" y="0"/>
                  <a:pt x="1013" y="27"/>
                  <a:pt x="1013" y="60"/>
                </a:cubicBezTo>
                <a:cubicBezTo>
                  <a:pt x="1013" y="93"/>
                  <a:pt x="986" y="120"/>
                  <a:pt x="953" y="120"/>
                </a:cubicBezTo>
                <a:lnTo>
                  <a:pt x="953" y="401"/>
                </a:lnTo>
                <a:lnTo>
                  <a:pt x="1172" y="756"/>
                </a:lnTo>
                <a:cubicBezTo>
                  <a:pt x="1185" y="777"/>
                  <a:pt x="1191" y="800"/>
                  <a:pt x="1191" y="824"/>
                </a:cubicBezTo>
                <a:cubicBezTo>
                  <a:pt x="1191" y="895"/>
                  <a:pt x="1133" y="953"/>
                  <a:pt x="1062" y="953"/>
                </a:cubicBezTo>
                <a:lnTo>
                  <a:pt x="487" y="953"/>
                </a:lnTo>
                <a:cubicBezTo>
                  <a:pt x="416" y="953"/>
                  <a:pt x="358" y="895"/>
                  <a:pt x="358" y="824"/>
                </a:cubicBezTo>
                <a:cubicBezTo>
                  <a:pt x="358" y="800"/>
                  <a:pt x="364" y="777"/>
                  <a:pt x="377" y="756"/>
                </a:cubicBezTo>
                <a:lnTo>
                  <a:pt x="596" y="401"/>
                </a:lnTo>
                <a:lnTo>
                  <a:pt x="596" y="120"/>
                </a:lnTo>
                <a:cubicBezTo>
                  <a:pt x="563" y="120"/>
                  <a:pt x="536" y="93"/>
                  <a:pt x="536" y="60"/>
                </a:cubicBezTo>
                <a:cubicBezTo>
                  <a:pt x="536" y="27"/>
                  <a:pt x="563" y="0"/>
                  <a:pt x="596" y="0"/>
                </a:cubicBezTo>
                <a:lnTo>
                  <a:pt x="655" y="0"/>
                </a:lnTo>
                <a:moveTo>
                  <a:pt x="715" y="120"/>
                </a:moveTo>
                <a:lnTo>
                  <a:pt x="715" y="418"/>
                </a:lnTo>
                <a:cubicBezTo>
                  <a:pt x="715" y="428"/>
                  <a:pt x="712" y="439"/>
                  <a:pt x="706" y="449"/>
                </a:cubicBezTo>
                <a:lnTo>
                  <a:pt x="615" y="596"/>
                </a:lnTo>
                <a:lnTo>
                  <a:pt x="934" y="596"/>
                </a:lnTo>
                <a:lnTo>
                  <a:pt x="843" y="449"/>
                </a:lnTo>
                <a:cubicBezTo>
                  <a:pt x="837" y="439"/>
                  <a:pt x="834" y="429"/>
                  <a:pt x="834" y="418"/>
                </a:cubicBezTo>
                <a:lnTo>
                  <a:pt x="834" y="120"/>
                </a:lnTo>
                <a:lnTo>
                  <a:pt x="715" y="120"/>
                </a:lnTo>
                <a:close/>
              </a:path>
            </a:pathLst>
          </a:custGeom>
          <a:solidFill>
            <a:srgbClr val="392A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609547" y="2832272"/>
            <a:ext cx="718145" cy="4308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zh-CN"/>
            </a:defPPr>
            <a:lvl1pPr>
              <a:defRPr sz="1500" b="1" i="0" u="none" strike="noStrike">
                <a:solidFill>
                  <a:srgbClr val="392A96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风格感知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动态配权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392A96"/>
              </a:solidFill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035736" y="3235702"/>
            <a:ext cx="1847850" cy="2510816"/>
          </a:xfrm>
          <a:prstGeom prst="rect">
            <a:avLst/>
          </a:prstGeom>
          <a:noFill/>
        </p:spPr>
        <p:txBody>
          <a:bodyPr wrap="square" lIns="101600" rIns="50800" rtlCol="0">
            <a:spAutoFit/>
          </a:bodyPr>
          <a:lstStyle>
            <a:defPPr>
              <a:defRPr lang="en-US"/>
            </a:defPPr>
            <a:lvl1pPr marL="285750" marR="0" lvl="0" indent="-285750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</a:defRPr>
            </a:lvl1pPr>
          </a:lstStyle>
          <a:p>
            <a:pPr>
              <a:spcAft>
                <a:spcPts val="1600"/>
              </a:spcAft>
              <a:buChar char="▪"/>
            </a:pPr>
            <a:r>
              <a:rPr lang="en-US" altLang="zh-CN" sz="1400">
                <a:latin typeface="微软雅黑" panose="020B0503020204020204" pitchFamily="34" charset="-122"/>
              </a:rPr>
              <a:t>Q2</a:t>
            </a:r>
            <a:r>
              <a:rPr lang="zh-CN" altLang="en-US" sz="1400">
                <a:latin typeface="微软雅黑" panose="020B0503020204020204" pitchFamily="34" charset="-122"/>
              </a:rPr>
              <a:t>利用</a:t>
            </a:r>
            <a:r>
              <a:rPr lang="en-US" altLang="zh-CN" sz="1400">
                <a:latin typeface="微软雅黑" panose="020B0503020204020204" pitchFamily="34" charset="-122"/>
              </a:rPr>
              <a:t>AI</a:t>
            </a:r>
            <a:r>
              <a:rPr lang="zh-CN" altLang="en-US" sz="1400">
                <a:latin typeface="微软雅黑" panose="020B0503020204020204" pitchFamily="34" charset="-122"/>
              </a:rPr>
              <a:t>模型识别风格状态，研究不同因子的条件权重。</a:t>
            </a:r>
          </a:p>
          <a:p>
            <a:pPr>
              <a:spcAft>
                <a:spcPts val="1600"/>
              </a:spcAft>
              <a:buChar char="▪"/>
            </a:pPr>
            <a:r>
              <a:rPr lang="zh-CN" altLang="en-US" sz="1400">
                <a:latin typeface="微软雅黑" panose="020B0503020204020204" pitchFamily="34" charset="-122"/>
              </a:rPr>
              <a:t>对比等权与</a:t>
            </a:r>
            <a:r>
              <a:rPr lang="en-US" altLang="zh-CN" sz="1400">
                <a:latin typeface="微软雅黑" panose="020B0503020204020204" pitchFamily="34" charset="-122"/>
              </a:rPr>
              <a:t>ICIR</a:t>
            </a:r>
            <a:r>
              <a:rPr lang="zh-CN" altLang="en-US" sz="1400">
                <a:latin typeface="微软雅黑" panose="020B0503020204020204" pitchFamily="34" charset="-122"/>
              </a:rPr>
              <a:t>配置，检验轮动收益是否来自风格暴露。</a:t>
            </a:r>
            <a:endParaRPr lang="zh-CN" altLang="en-US" sz="1400" dirty="0">
              <a:latin typeface="微软雅黑" panose="020B0503020204020204" pitchFamily="34" charset="-122"/>
            </a:endParaRPr>
          </a:p>
        </p:txBody>
      </p:sp>
      <p:sp>
        <p:nvSpPr>
          <p:cNvPr id="38" name="任意多边形 182"/>
          <p:cNvSpPr/>
          <p:nvPr/>
        </p:nvSpPr>
        <p:spPr>
          <a:xfrm>
            <a:off x="7522152" y="2359802"/>
            <a:ext cx="2019300" cy="4061232"/>
          </a:xfrm>
          <a:custGeom>
            <a:avLst/>
            <a:gdLst/>
            <a:ahLst/>
            <a:cxnLst/>
            <a:rect l="0" t="0" r="r" b="b"/>
            <a:pathLst>
              <a:path w="5610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4" y="163"/>
                </a:cubicBezTo>
                <a:cubicBezTo>
                  <a:pt x="32" y="147"/>
                  <a:pt x="42" y="132"/>
                  <a:pt x="54" y="117"/>
                </a:cubicBezTo>
                <a:cubicBezTo>
                  <a:pt x="65" y="103"/>
                  <a:pt x="78" y="89"/>
                  <a:pt x="93" y="77"/>
                </a:cubicBezTo>
                <a:cubicBezTo>
                  <a:pt x="108" y="65"/>
                  <a:pt x="124" y="54"/>
                  <a:pt x="141" y="44"/>
                </a:cubicBezTo>
                <a:cubicBezTo>
                  <a:pt x="159" y="35"/>
                  <a:pt x="177" y="26"/>
                  <a:pt x="196" y="20"/>
                </a:cubicBezTo>
                <a:cubicBezTo>
                  <a:pt x="216" y="13"/>
                  <a:pt x="235" y="8"/>
                  <a:pt x="256" y="5"/>
                </a:cubicBezTo>
                <a:cubicBezTo>
                  <a:pt x="276" y="1"/>
                  <a:pt x="297" y="0"/>
                  <a:pt x="318" y="0"/>
                </a:cubicBezTo>
                <a:lnTo>
                  <a:pt x="5292" y="0"/>
                </a:lnTo>
                <a:cubicBezTo>
                  <a:pt x="5313" y="0"/>
                  <a:pt x="5333" y="1"/>
                  <a:pt x="5354" y="5"/>
                </a:cubicBezTo>
                <a:cubicBezTo>
                  <a:pt x="5374" y="8"/>
                  <a:pt x="5394" y="13"/>
                  <a:pt x="5413" y="20"/>
                </a:cubicBezTo>
                <a:cubicBezTo>
                  <a:pt x="5433" y="26"/>
                  <a:pt x="5451" y="35"/>
                  <a:pt x="5468" y="44"/>
                </a:cubicBezTo>
                <a:cubicBezTo>
                  <a:pt x="5486" y="54"/>
                  <a:pt x="5502" y="65"/>
                  <a:pt x="5517" y="77"/>
                </a:cubicBezTo>
                <a:cubicBezTo>
                  <a:pt x="5532" y="89"/>
                  <a:pt x="5545" y="103"/>
                  <a:pt x="5557" y="117"/>
                </a:cubicBezTo>
                <a:cubicBezTo>
                  <a:pt x="5568" y="132"/>
                  <a:pt x="5578" y="147"/>
                  <a:pt x="5586" y="163"/>
                </a:cubicBezTo>
                <a:cubicBezTo>
                  <a:pt x="5594" y="179"/>
                  <a:pt x="5600" y="196"/>
                  <a:pt x="5604" y="213"/>
                </a:cubicBezTo>
                <a:cubicBezTo>
                  <a:pt x="5608" y="230"/>
                  <a:pt x="5610" y="247"/>
                  <a:pt x="5610" y="264"/>
                </a:cubicBezTo>
                <a:lnTo>
                  <a:pt x="5610" y="12648"/>
                </a:lnTo>
                <a:cubicBezTo>
                  <a:pt x="5610" y="12669"/>
                  <a:pt x="5608" y="12689"/>
                  <a:pt x="5604" y="12710"/>
                </a:cubicBezTo>
                <a:cubicBezTo>
                  <a:pt x="5600" y="12730"/>
                  <a:pt x="5594" y="12750"/>
                  <a:pt x="5586" y="12769"/>
                </a:cubicBezTo>
                <a:cubicBezTo>
                  <a:pt x="5578" y="12788"/>
                  <a:pt x="5568" y="12807"/>
                  <a:pt x="5557" y="12824"/>
                </a:cubicBezTo>
                <a:cubicBezTo>
                  <a:pt x="5545" y="12841"/>
                  <a:pt x="5532" y="12857"/>
                  <a:pt x="5517" y="12872"/>
                </a:cubicBezTo>
                <a:cubicBezTo>
                  <a:pt x="5502" y="12887"/>
                  <a:pt x="5486" y="12900"/>
                  <a:pt x="5468" y="12912"/>
                </a:cubicBezTo>
                <a:cubicBezTo>
                  <a:pt x="5451" y="12923"/>
                  <a:pt x="5433" y="12933"/>
                  <a:pt x="5413" y="12941"/>
                </a:cubicBezTo>
                <a:cubicBezTo>
                  <a:pt x="5394" y="12949"/>
                  <a:pt x="5374" y="12955"/>
                  <a:pt x="5354" y="12959"/>
                </a:cubicBezTo>
                <a:cubicBezTo>
                  <a:pt x="5333" y="12963"/>
                  <a:pt x="5313" y="12965"/>
                  <a:pt x="5292" y="12965"/>
                </a:cubicBezTo>
                <a:lnTo>
                  <a:pt x="318" y="12965"/>
                </a:lnTo>
                <a:cubicBezTo>
                  <a:pt x="297" y="12965"/>
                  <a:pt x="276" y="12963"/>
                  <a:pt x="256" y="12959"/>
                </a:cubicBezTo>
                <a:cubicBezTo>
                  <a:pt x="235" y="12955"/>
                  <a:pt x="216" y="12949"/>
                  <a:pt x="196" y="12941"/>
                </a:cubicBezTo>
                <a:cubicBezTo>
                  <a:pt x="177" y="12933"/>
                  <a:pt x="159" y="12923"/>
                  <a:pt x="141" y="12912"/>
                </a:cubicBezTo>
                <a:cubicBezTo>
                  <a:pt x="124" y="12900"/>
                  <a:pt x="108" y="12887"/>
                  <a:pt x="93" y="12872"/>
                </a:cubicBezTo>
                <a:cubicBezTo>
                  <a:pt x="78" y="12857"/>
                  <a:pt x="65" y="12841"/>
                  <a:pt x="54" y="12824"/>
                </a:cubicBezTo>
                <a:cubicBezTo>
                  <a:pt x="42" y="12807"/>
                  <a:pt x="32" y="12788"/>
                  <a:pt x="24" y="12769"/>
                </a:cubicBezTo>
                <a:cubicBezTo>
                  <a:pt x="16" y="12750"/>
                  <a:pt x="10" y="12730"/>
                  <a:pt x="6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任意多边形 183"/>
          <p:cNvSpPr/>
          <p:nvPr/>
        </p:nvSpPr>
        <p:spPr>
          <a:xfrm>
            <a:off x="7521882" y="2245441"/>
            <a:ext cx="2019600" cy="114480"/>
          </a:xfrm>
          <a:custGeom>
            <a:avLst/>
            <a:gdLst/>
            <a:ahLst/>
            <a:cxnLst/>
            <a:rect l="0" t="0" r="r" b="b"/>
            <a:pathLst>
              <a:path w="5610" h="318">
                <a:moveTo>
                  <a:pt x="0" y="0"/>
                </a:moveTo>
                <a:lnTo>
                  <a:pt x="5610" y="0"/>
                </a:lnTo>
                <a:lnTo>
                  <a:pt x="5610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914400"/>
            <a:endParaRPr lang="en-US" sz="2400">
              <a:solidFill>
                <a:srgbClr val="FFFFFF"/>
              </a:soli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813536" y="2855918"/>
            <a:ext cx="718145" cy="4308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zh-CN"/>
            </a:defPPr>
            <a:lvl1pPr>
              <a:defRPr sz="1500" b="1" i="0" u="none" strike="noStrike">
                <a:solidFill>
                  <a:srgbClr val="392A96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成本与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交易约束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392A96"/>
              </a:solidFill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564062" y="3245862"/>
            <a:ext cx="1847850" cy="2510816"/>
          </a:xfrm>
          <a:prstGeom prst="rect">
            <a:avLst/>
          </a:prstGeom>
          <a:noFill/>
        </p:spPr>
        <p:txBody>
          <a:bodyPr wrap="square" lIns="101600" rIns="50800" rtlCol="0">
            <a:spAutoFit/>
          </a:bodyPr>
          <a:lstStyle>
            <a:defPPr>
              <a:defRPr lang="en-US"/>
            </a:defPPr>
            <a:lvl1pPr marL="285750" marR="0" lvl="0" indent="-285750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</a:defRPr>
            </a:lvl1pPr>
          </a:lstStyle>
          <a:p>
            <a:pPr>
              <a:spcAft>
                <a:spcPts val="1600"/>
              </a:spcAft>
              <a:buChar char="▪"/>
            </a:pPr>
            <a:r>
              <a:rPr lang="zh-CN" altLang="en-US" sz="1400">
                <a:latin typeface="微软雅黑" panose="020B0503020204020204" pitchFamily="34" charset="-122"/>
              </a:rPr>
              <a:t>固定行业、个股及换手约束，检查</a:t>
            </a:r>
            <a:r>
              <a:rPr lang="en-US" altLang="zh-CN" sz="1400">
                <a:latin typeface="微软雅黑" panose="020B0503020204020204" pitchFamily="34" charset="-122"/>
              </a:rPr>
              <a:t>AI</a:t>
            </a:r>
            <a:r>
              <a:rPr lang="zh-CN" altLang="en-US" sz="1400">
                <a:latin typeface="微软雅黑" panose="020B0503020204020204" pitchFamily="34" charset="-122"/>
              </a:rPr>
              <a:t>信号的成本后收益。</a:t>
            </a:r>
          </a:p>
          <a:p>
            <a:pPr>
              <a:spcAft>
                <a:spcPts val="1600"/>
              </a:spcAft>
              <a:buChar char="▪"/>
            </a:pPr>
            <a:r>
              <a:rPr lang="en-US" altLang="zh-CN" sz="1400">
                <a:latin typeface="微软雅黑" panose="020B0503020204020204" pitchFamily="34" charset="-122"/>
              </a:rPr>
              <a:t>Q3</a:t>
            </a:r>
            <a:r>
              <a:rPr lang="zh-CN" altLang="en-US" sz="1400">
                <a:latin typeface="微软雅黑" panose="020B0503020204020204" pitchFamily="34" charset="-122"/>
              </a:rPr>
              <a:t>将验证通过的组合纳入模拟盘，记录预测与执行偏差。</a:t>
            </a:r>
            <a:endParaRPr lang="zh-CN" altLang="en-US" sz="1400" dirty="0">
              <a:latin typeface="微软雅黑" panose="020B0503020204020204" pitchFamily="34" charset="-122"/>
            </a:endParaRPr>
          </a:p>
        </p:txBody>
      </p:sp>
      <p:sp>
        <p:nvSpPr>
          <p:cNvPr id="44" name="任意多边形 188"/>
          <p:cNvSpPr/>
          <p:nvPr/>
        </p:nvSpPr>
        <p:spPr>
          <a:xfrm>
            <a:off x="9943084" y="2359802"/>
            <a:ext cx="2010410" cy="4061232"/>
          </a:xfrm>
          <a:custGeom>
            <a:avLst/>
            <a:gdLst/>
            <a:ahLst/>
            <a:cxnLst/>
            <a:rect l="0" t="0" r="r" b="b"/>
            <a:pathLst>
              <a:path w="5584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7" y="213"/>
                </a:cubicBezTo>
                <a:cubicBezTo>
                  <a:pt x="11" y="196"/>
                  <a:pt x="17" y="179"/>
                  <a:pt x="25" y="163"/>
                </a:cubicBezTo>
                <a:cubicBezTo>
                  <a:pt x="33" y="147"/>
                  <a:pt x="42" y="132"/>
                  <a:pt x="54" y="117"/>
                </a:cubicBezTo>
                <a:cubicBezTo>
                  <a:pt x="66" y="103"/>
                  <a:pt x="79" y="89"/>
                  <a:pt x="93" y="77"/>
                </a:cubicBezTo>
                <a:cubicBezTo>
                  <a:pt x="108" y="65"/>
                  <a:pt x="124" y="54"/>
                  <a:pt x="142" y="44"/>
                </a:cubicBezTo>
                <a:cubicBezTo>
                  <a:pt x="159" y="35"/>
                  <a:pt x="177" y="26"/>
                  <a:pt x="196" y="20"/>
                </a:cubicBezTo>
                <a:cubicBezTo>
                  <a:pt x="216" y="13"/>
                  <a:pt x="236" y="8"/>
                  <a:pt x="256" y="5"/>
                </a:cubicBezTo>
                <a:cubicBezTo>
                  <a:pt x="276" y="1"/>
                  <a:pt x="297" y="0"/>
                  <a:pt x="318" y="0"/>
                </a:cubicBezTo>
                <a:lnTo>
                  <a:pt x="5267" y="0"/>
                </a:lnTo>
                <a:cubicBezTo>
                  <a:pt x="5287" y="0"/>
                  <a:pt x="5308" y="1"/>
                  <a:pt x="5329" y="5"/>
                </a:cubicBezTo>
                <a:cubicBezTo>
                  <a:pt x="5349" y="8"/>
                  <a:pt x="5369" y="13"/>
                  <a:pt x="5388" y="20"/>
                </a:cubicBezTo>
                <a:cubicBezTo>
                  <a:pt x="5407" y="26"/>
                  <a:pt x="5426" y="35"/>
                  <a:pt x="5443" y="44"/>
                </a:cubicBezTo>
                <a:cubicBezTo>
                  <a:pt x="5460" y="54"/>
                  <a:pt x="5476" y="65"/>
                  <a:pt x="5491" y="77"/>
                </a:cubicBezTo>
                <a:cubicBezTo>
                  <a:pt x="5506" y="89"/>
                  <a:pt x="5519" y="103"/>
                  <a:pt x="5531" y="117"/>
                </a:cubicBezTo>
                <a:cubicBezTo>
                  <a:pt x="5542" y="132"/>
                  <a:pt x="5552" y="147"/>
                  <a:pt x="5560" y="163"/>
                </a:cubicBezTo>
                <a:cubicBezTo>
                  <a:pt x="5568" y="179"/>
                  <a:pt x="5574" y="196"/>
                  <a:pt x="5578" y="213"/>
                </a:cubicBezTo>
                <a:cubicBezTo>
                  <a:pt x="5582" y="230"/>
                  <a:pt x="5584" y="247"/>
                  <a:pt x="5584" y="264"/>
                </a:cubicBezTo>
                <a:lnTo>
                  <a:pt x="5584" y="12648"/>
                </a:lnTo>
                <a:cubicBezTo>
                  <a:pt x="5584" y="12669"/>
                  <a:pt x="5582" y="12689"/>
                  <a:pt x="5578" y="12710"/>
                </a:cubicBezTo>
                <a:cubicBezTo>
                  <a:pt x="5574" y="12730"/>
                  <a:pt x="5568" y="12750"/>
                  <a:pt x="5560" y="12769"/>
                </a:cubicBezTo>
                <a:cubicBezTo>
                  <a:pt x="5552" y="12788"/>
                  <a:pt x="5542" y="12807"/>
                  <a:pt x="5531" y="12824"/>
                </a:cubicBezTo>
                <a:cubicBezTo>
                  <a:pt x="5519" y="12841"/>
                  <a:pt x="5506" y="12857"/>
                  <a:pt x="5491" y="12872"/>
                </a:cubicBezTo>
                <a:cubicBezTo>
                  <a:pt x="5476" y="12887"/>
                  <a:pt x="5460" y="12900"/>
                  <a:pt x="5443" y="12912"/>
                </a:cubicBezTo>
                <a:cubicBezTo>
                  <a:pt x="5426" y="12923"/>
                  <a:pt x="5407" y="12933"/>
                  <a:pt x="5388" y="12941"/>
                </a:cubicBezTo>
                <a:cubicBezTo>
                  <a:pt x="5369" y="12949"/>
                  <a:pt x="5349" y="12955"/>
                  <a:pt x="5329" y="12959"/>
                </a:cubicBezTo>
                <a:cubicBezTo>
                  <a:pt x="5308" y="12963"/>
                  <a:pt x="5287" y="12965"/>
                  <a:pt x="5267" y="12965"/>
                </a:cubicBezTo>
                <a:lnTo>
                  <a:pt x="318" y="12965"/>
                </a:lnTo>
                <a:cubicBezTo>
                  <a:pt x="297" y="12965"/>
                  <a:pt x="276" y="12963"/>
                  <a:pt x="256" y="12959"/>
                </a:cubicBezTo>
                <a:cubicBezTo>
                  <a:pt x="236" y="12955"/>
                  <a:pt x="216" y="12949"/>
                  <a:pt x="196" y="12941"/>
                </a:cubicBezTo>
                <a:cubicBezTo>
                  <a:pt x="177" y="12933"/>
                  <a:pt x="159" y="12923"/>
                  <a:pt x="142" y="12912"/>
                </a:cubicBezTo>
                <a:cubicBezTo>
                  <a:pt x="124" y="12900"/>
                  <a:pt x="108" y="12887"/>
                  <a:pt x="93" y="12872"/>
                </a:cubicBezTo>
                <a:cubicBezTo>
                  <a:pt x="79" y="12857"/>
                  <a:pt x="66" y="12841"/>
                  <a:pt x="54" y="12824"/>
                </a:cubicBezTo>
                <a:cubicBezTo>
                  <a:pt x="42" y="12807"/>
                  <a:pt x="33" y="12788"/>
                  <a:pt x="25" y="12769"/>
                </a:cubicBezTo>
                <a:cubicBezTo>
                  <a:pt x="17" y="12750"/>
                  <a:pt x="11" y="12730"/>
                  <a:pt x="7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任意多边形 189"/>
          <p:cNvSpPr/>
          <p:nvPr/>
        </p:nvSpPr>
        <p:spPr>
          <a:xfrm>
            <a:off x="9943389" y="2245441"/>
            <a:ext cx="2010240" cy="114480"/>
          </a:xfrm>
          <a:custGeom>
            <a:avLst/>
            <a:gdLst/>
            <a:ahLst/>
            <a:cxnLst/>
            <a:rect l="0" t="0" r="r" b="b"/>
            <a:pathLst>
              <a:path w="5584" h="318">
                <a:moveTo>
                  <a:pt x="0" y="0"/>
                </a:moveTo>
                <a:lnTo>
                  <a:pt x="5584" y="0"/>
                </a:lnTo>
                <a:lnTo>
                  <a:pt x="5584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914400"/>
            <a:endParaRPr lang="en-US" sz="2400">
              <a:solidFill>
                <a:srgbClr val="FFFFFF"/>
              </a:soli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46" name="任意多边形 190"/>
          <p:cNvSpPr/>
          <p:nvPr/>
        </p:nvSpPr>
        <p:spPr>
          <a:xfrm>
            <a:off x="10733949" y="2386467"/>
            <a:ext cx="429120" cy="343080"/>
          </a:xfrm>
          <a:custGeom>
            <a:avLst/>
            <a:gdLst/>
            <a:ahLst/>
            <a:cxnLst/>
            <a:rect l="0" t="0" r="r" b="b"/>
            <a:pathLst>
              <a:path w="1192" h="953">
                <a:moveTo>
                  <a:pt x="596" y="0"/>
                </a:moveTo>
                <a:cubicBezTo>
                  <a:pt x="629" y="0"/>
                  <a:pt x="656" y="27"/>
                  <a:pt x="656" y="60"/>
                </a:cubicBezTo>
                <a:lnTo>
                  <a:pt x="656" y="179"/>
                </a:lnTo>
                <a:lnTo>
                  <a:pt x="880" y="179"/>
                </a:lnTo>
                <a:cubicBezTo>
                  <a:pt x="954" y="179"/>
                  <a:pt x="1013" y="239"/>
                  <a:pt x="1013" y="313"/>
                </a:cubicBezTo>
                <a:lnTo>
                  <a:pt x="1013" y="819"/>
                </a:lnTo>
                <a:cubicBezTo>
                  <a:pt x="1013" y="893"/>
                  <a:pt x="954" y="953"/>
                  <a:pt x="880" y="953"/>
                </a:cubicBezTo>
                <a:lnTo>
                  <a:pt x="313" y="953"/>
                </a:lnTo>
                <a:cubicBezTo>
                  <a:pt x="239" y="953"/>
                  <a:pt x="179" y="893"/>
                  <a:pt x="179" y="819"/>
                </a:cubicBezTo>
                <a:lnTo>
                  <a:pt x="179" y="313"/>
                </a:lnTo>
                <a:cubicBezTo>
                  <a:pt x="179" y="239"/>
                  <a:pt x="239" y="179"/>
                  <a:pt x="313" y="179"/>
                </a:cubicBezTo>
                <a:lnTo>
                  <a:pt x="536" y="179"/>
                </a:lnTo>
                <a:lnTo>
                  <a:pt x="536" y="60"/>
                </a:lnTo>
                <a:cubicBezTo>
                  <a:pt x="536" y="27"/>
                  <a:pt x="563" y="0"/>
                  <a:pt x="596" y="0"/>
                </a:cubicBezTo>
                <a:moveTo>
                  <a:pt x="387" y="715"/>
                </a:moveTo>
                <a:cubicBezTo>
                  <a:pt x="371" y="715"/>
                  <a:pt x="358" y="729"/>
                  <a:pt x="358" y="745"/>
                </a:cubicBezTo>
                <a:cubicBezTo>
                  <a:pt x="358" y="761"/>
                  <a:pt x="371" y="775"/>
                  <a:pt x="387" y="775"/>
                </a:cubicBezTo>
                <a:lnTo>
                  <a:pt x="447" y="775"/>
                </a:lnTo>
                <a:cubicBezTo>
                  <a:pt x="463" y="775"/>
                  <a:pt x="477" y="761"/>
                  <a:pt x="477" y="745"/>
                </a:cubicBezTo>
                <a:cubicBezTo>
                  <a:pt x="477" y="729"/>
                  <a:pt x="463" y="715"/>
                  <a:pt x="447" y="715"/>
                </a:cubicBezTo>
                <a:lnTo>
                  <a:pt x="387" y="715"/>
                </a:lnTo>
                <a:moveTo>
                  <a:pt x="566" y="715"/>
                </a:moveTo>
                <a:cubicBezTo>
                  <a:pt x="550" y="715"/>
                  <a:pt x="536" y="729"/>
                  <a:pt x="536" y="745"/>
                </a:cubicBezTo>
                <a:cubicBezTo>
                  <a:pt x="536" y="761"/>
                  <a:pt x="550" y="775"/>
                  <a:pt x="566" y="775"/>
                </a:cubicBezTo>
                <a:lnTo>
                  <a:pt x="626" y="775"/>
                </a:lnTo>
                <a:cubicBezTo>
                  <a:pt x="643" y="775"/>
                  <a:pt x="656" y="761"/>
                  <a:pt x="656" y="745"/>
                </a:cubicBezTo>
                <a:cubicBezTo>
                  <a:pt x="656" y="729"/>
                  <a:pt x="643" y="715"/>
                  <a:pt x="626" y="715"/>
                </a:cubicBezTo>
                <a:lnTo>
                  <a:pt x="566" y="715"/>
                </a:lnTo>
                <a:moveTo>
                  <a:pt x="746" y="715"/>
                </a:moveTo>
                <a:cubicBezTo>
                  <a:pt x="729" y="715"/>
                  <a:pt x="716" y="729"/>
                  <a:pt x="716" y="745"/>
                </a:cubicBezTo>
                <a:cubicBezTo>
                  <a:pt x="716" y="761"/>
                  <a:pt x="729" y="775"/>
                  <a:pt x="746" y="775"/>
                </a:cubicBezTo>
                <a:lnTo>
                  <a:pt x="805" y="775"/>
                </a:lnTo>
                <a:cubicBezTo>
                  <a:pt x="822" y="775"/>
                  <a:pt x="835" y="761"/>
                  <a:pt x="835" y="745"/>
                </a:cubicBezTo>
                <a:cubicBezTo>
                  <a:pt x="835" y="729"/>
                  <a:pt x="822" y="715"/>
                  <a:pt x="805" y="715"/>
                </a:cubicBezTo>
                <a:lnTo>
                  <a:pt x="746" y="715"/>
                </a:lnTo>
                <a:moveTo>
                  <a:pt x="492" y="477"/>
                </a:moveTo>
                <a:cubicBezTo>
                  <a:pt x="492" y="467"/>
                  <a:pt x="490" y="458"/>
                  <a:pt x="486" y="449"/>
                </a:cubicBezTo>
                <a:cubicBezTo>
                  <a:pt x="482" y="439"/>
                  <a:pt x="477" y="431"/>
                  <a:pt x="470" y="424"/>
                </a:cubicBezTo>
                <a:cubicBezTo>
                  <a:pt x="463" y="417"/>
                  <a:pt x="455" y="412"/>
                  <a:pt x="446" y="408"/>
                </a:cubicBezTo>
                <a:cubicBezTo>
                  <a:pt x="437" y="405"/>
                  <a:pt x="427" y="403"/>
                  <a:pt x="417" y="403"/>
                </a:cubicBezTo>
                <a:cubicBezTo>
                  <a:pt x="407" y="403"/>
                  <a:pt x="398" y="405"/>
                  <a:pt x="389" y="408"/>
                </a:cubicBezTo>
                <a:cubicBezTo>
                  <a:pt x="380" y="412"/>
                  <a:pt x="372" y="417"/>
                  <a:pt x="365" y="424"/>
                </a:cubicBezTo>
                <a:cubicBezTo>
                  <a:pt x="358" y="431"/>
                  <a:pt x="352" y="439"/>
                  <a:pt x="348" y="449"/>
                </a:cubicBezTo>
                <a:cubicBezTo>
                  <a:pt x="345" y="458"/>
                  <a:pt x="343" y="467"/>
                  <a:pt x="343" y="477"/>
                </a:cubicBezTo>
                <a:cubicBezTo>
                  <a:pt x="343" y="487"/>
                  <a:pt x="345" y="496"/>
                  <a:pt x="348" y="506"/>
                </a:cubicBezTo>
                <a:cubicBezTo>
                  <a:pt x="352" y="515"/>
                  <a:pt x="358" y="523"/>
                  <a:pt x="365" y="530"/>
                </a:cubicBezTo>
                <a:cubicBezTo>
                  <a:pt x="372" y="537"/>
                  <a:pt x="380" y="542"/>
                  <a:pt x="389" y="546"/>
                </a:cubicBezTo>
                <a:cubicBezTo>
                  <a:pt x="398" y="550"/>
                  <a:pt x="407" y="551"/>
                  <a:pt x="417" y="551"/>
                </a:cubicBezTo>
                <a:cubicBezTo>
                  <a:pt x="427" y="551"/>
                  <a:pt x="437" y="550"/>
                  <a:pt x="446" y="546"/>
                </a:cubicBezTo>
                <a:cubicBezTo>
                  <a:pt x="455" y="542"/>
                  <a:pt x="463" y="537"/>
                  <a:pt x="470" y="530"/>
                </a:cubicBezTo>
                <a:cubicBezTo>
                  <a:pt x="477" y="523"/>
                  <a:pt x="482" y="515"/>
                  <a:pt x="486" y="506"/>
                </a:cubicBezTo>
                <a:cubicBezTo>
                  <a:pt x="490" y="496"/>
                  <a:pt x="492" y="487"/>
                  <a:pt x="492" y="477"/>
                </a:cubicBezTo>
                <a:moveTo>
                  <a:pt x="775" y="551"/>
                </a:moveTo>
                <a:cubicBezTo>
                  <a:pt x="785" y="551"/>
                  <a:pt x="795" y="550"/>
                  <a:pt x="804" y="546"/>
                </a:cubicBezTo>
                <a:cubicBezTo>
                  <a:pt x="813" y="542"/>
                  <a:pt x="821" y="537"/>
                  <a:pt x="828" y="530"/>
                </a:cubicBezTo>
                <a:cubicBezTo>
                  <a:pt x="835" y="523"/>
                  <a:pt x="840" y="515"/>
                  <a:pt x="844" y="506"/>
                </a:cubicBezTo>
                <a:cubicBezTo>
                  <a:pt x="848" y="496"/>
                  <a:pt x="850" y="487"/>
                  <a:pt x="850" y="477"/>
                </a:cubicBezTo>
                <a:cubicBezTo>
                  <a:pt x="850" y="467"/>
                  <a:pt x="848" y="458"/>
                  <a:pt x="844" y="449"/>
                </a:cubicBezTo>
                <a:cubicBezTo>
                  <a:pt x="840" y="439"/>
                  <a:pt x="835" y="431"/>
                  <a:pt x="828" y="424"/>
                </a:cubicBezTo>
                <a:cubicBezTo>
                  <a:pt x="821" y="417"/>
                  <a:pt x="813" y="412"/>
                  <a:pt x="804" y="408"/>
                </a:cubicBezTo>
                <a:cubicBezTo>
                  <a:pt x="795" y="405"/>
                  <a:pt x="785" y="403"/>
                  <a:pt x="775" y="403"/>
                </a:cubicBezTo>
                <a:cubicBezTo>
                  <a:pt x="765" y="403"/>
                  <a:pt x="756" y="405"/>
                  <a:pt x="747" y="408"/>
                </a:cubicBezTo>
                <a:cubicBezTo>
                  <a:pt x="738" y="412"/>
                  <a:pt x="730" y="417"/>
                  <a:pt x="723" y="424"/>
                </a:cubicBezTo>
                <a:cubicBezTo>
                  <a:pt x="716" y="431"/>
                  <a:pt x="710" y="439"/>
                  <a:pt x="707" y="449"/>
                </a:cubicBezTo>
                <a:cubicBezTo>
                  <a:pt x="703" y="458"/>
                  <a:pt x="701" y="467"/>
                  <a:pt x="701" y="477"/>
                </a:cubicBezTo>
                <a:cubicBezTo>
                  <a:pt x="701" y="487"/>
                  <a:pt x="703" y="496"/>
                  <a:pt x="707" y="506"/>
                </a:cubicBezTo>
                <a:cubicBezTo>
                  <a:pt x="710" y="515"/>
                  <a:pt x="716" y="523"/>
                  <a:pt x="723" y="530"/>
                </a:cubicBezTo>
                <a:cubicBezTo>
                  <a:pt x="730" y="537"/>
                  <a:pt x="738" y="542"/>
                  <a:pt x="747" y="546"/>
                </a:cubicBezTo>
                <a:cubicBezTo>
                  <a:pt x="756" y="550"/>
                  <a:pt x="765" y="551"/>
                  <a:pt x="775" y="551"/>
                </a:cubicBezTo>
                <a:moveTo>
                  <a:pt x="90" y="418"/>
                </a:moveTo>
                <a:lnTo>
                  <a:pt x="120" y="418"/>
                </a:lnTo>
                <a:lnTo>
                  <a:pt x="120" y="775"/>
                </a:lnTo>
                <a:lnTo>
                  <a:pt x="90" y="775"/>
                </a:lnTo>
                <a:cubicBezTo>
                  <a:pt x="40" y="775"/>
                  <a:pt x="0" y="735"/>
                  <a:pt x="0" y="685"/>
                </a:cubicBezTo>
                <a:lnTo>
                  <a:pt x="0" y="507"/>
                </a:lnTo>
                <a:cubicBezTo>
                  <a:pt x="0" y="458"/>
                  <a:pt x="40" y="418"/>
                  <a:pt x="90" y="418"/>
                </a:cubicBezTo>
                <a:moveTo>
                  <a:pt x="1103" y="418"/>
                </a:moveTo>
                <a:cubicBezTo>
                  <a:pt x="1152" y="418"/>
                  <a:pt x="1192" y="458"/>
                  <a:pt x="1192" y="507"/>
                </a:cubicBezTo>
                <a:lnTo>
                  <a:pt x="1192" y="685"/>
                </a:lnTo>
                <a:cubicBezTo>
                  <a:pt x="1192" y="735"/>
                  <a:pt x="1152" y="775"/>
                  <a:pt x="1103" y="775"/>
                </a:cubicBezTo>
                <a:lnTo>
                  <a:pt x="1073" y="775"/>
                </a:lnTo>
                <a:lnTo>
                  <a:pt x="1073" y="418"/>
                </a:lnTo>
                <a:lnTo>
                  <a:pt x="1103" y="418"/>
                </a:lnTo>
                <a:close/>
              </a:path>
            </a:pathLst>
          </a:custGeom>
          <a:solidFill>
            <a:srgbClr val="392A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171049" y="2810067"/>
            <a:ext cx="1677173" cy="43088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>
              <a:defRPr sz="1500" b="1" i="0" u="none" strike="noStrike">
                <a:solidFill>
                  <a:srgbClr val="392A96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模型跟踪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人工复核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392A96"/>
              </a:solidFill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024364" y="3277634"/>
            <a:ext cx="1847850" cy="2510816"/>
          </a:xfrm>
          <a:prstGeom prst="rect">
            <a:avLst/>
          </a:prstGeom>
          <a:noFill/>
        </p:spPr>
        <p:txBody>
          <a:bodyPr wrap="square" lIns="101600" rIns="50800" rtlCol="0">
            <a:spAutoFit/>
          </a:bodyPr>
          <a:lstStyle>
            <a:defPPr>
              <a:defRPr lang="en-US"/>
            </a:defPPr>
            <a:lvl1pPr marL="285750" marR="0" lvl="0" indent="-285750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</a:defRPr>
            </a:lvl1pPr>
          </a:lstStyle>
          <a:p>
            <a:pPr>
              <a:spcAft>
                <a:spcPts val="1600"/>
              </a:spcAft>
              <a:buChar char="▪"/>
            </a:pPr>
            <a:r>
              <a:rPr lang="zh-CN" altLang="en-US" sz="1400">
                <a:latin typeface="微软雅黑" panose="020B0503020204020204" pitchFamily="34" charset="-122"/>
              </a:rPr>
              <a:t>将风格和流动性指标接入监控面板，跟踪模型衰减。</a:t>
            </a:r>
          </a:p>
          <a:p>
            <a:pPr>
              <a:spcAft>
                <a:spcPts val="1600"/>
              </a:spcAft>
              <a:buChar char="▪"/>
            </a:pPr>
            <a:r>
              <a:rPr lang="en-US" altLang="zh-CN" sz="1400">
                <a:latin typeface="微软雅黑" panose="020B0503020204020204" pitchFamily="34" charset="-122"/>
              </a:rPr>
              <a:t>Q3</a:t>
            </a:r>
            <a:r>
              <a:rPr lang="zh-CN" altLang="en-US" sz="1400">
                <a:latin typeface="微软雅黑" panose="020B0503020204020204" pitchFamily="34" charset="-122"/>
              </a:rPr>
              <a:t>至</a:t>
            </a:r>
            <a:r>
              <a:rPr lang="en-US" altLang="zh-CN" sz="1400">
                <a:latin typeface="微软雅黑" panose="020B0503020204020204" pitchFamily="34" charset="-122"/>
              </a:rPr>
              <a:t>Q4</a:t>
            </a:r>
            <a:r>
              <a:rPr lang="zh-CN" altLang="en-US" sz="1400">
                <a:latin typeface="微软雅黑" panose="020B0503020204020204" pitchFamily="34" charset="-122"/>
              </a:rPr>
              <a:t>按月复盘超额与预警，人工决定保留或调整策略。</a:t>
            </a:r>
            <a:endParaRPr lang="zh-CN" altLang="en-US" sz="1400" dirty="0">
              <a:latin typeface="微软雅黑" panose="020B0503020204020204" pitchFamily="34" charset="-122"/>
            </a:endParaRPr>
          </a:p>
        </p:txBody>
      </p:sp>
      <p:pic>
        <p:nvPicPr>
          <p:cNvPr id="50" name="图形 49" descr="上升趋势条形图 纯色填充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75039" y="2336251"/>
            <a:ext cx="386093" cy="386093"/>
          </a:xfrm>
          <a:prstGeom prst="rect">
            <a:avLst/>
          </a:prstGeom>
        </p:spPr>
      </p:pic>
      <p:sp>
        <p:nvSpPr>
          <p:cNvPr id="28" name="任意多边形 174"/>
          <p:cNvSpPr/>
          <p:nvPr/>
        </p:nvSpPr>
        <p:spPr>
          <a:xfrm>
            <a:off x="8381381" y="2407100"/>
            <a:ext cx="300600" cy="343080"/>
          </a:xfrm>
          <a:custGeom>
            <a:avLst/>
            <a:gdLst/>
            <a:ahLst/>
            <a:cxnLst/>
            <a:rect l="0" t="0" r="r" b="b"/>
            <a:pathLst>
              <a:path w="835" h="953">
                <a:moveTo>
                  <a:pt x="417" y="31"/>
                </a:moveTo>
                <a:cubicBezTo>
                  <a:pt x="404" y="31"/>
                  <a:pt x="397" y="25"/>
                  <a:pt x="388" y="18"/>
                </a:cubicBezTo>
                <a:cubicBezTo>
                  <a:pt x="376" y="10"/>
                  <a:pt x="361" y="0"/>
                  <a:pt x="328" y="0"/>
                </a:cubicBezTo>
                <a:cubicBezTo>
                  <a:pt x="271" y="0"/>
                  <a:pt x="231" y="82"/>
                  <a:pt x="205" y="167"/>
                </a:cubicBezTo>
                <a:cubicBezTo>
                  <a:pt x="117" y="183"/>
                  <a:pt x="60" y="210"/>
                  <a:pt x="60" y="239"/>
                </a:cubicBezTo>
                <a:cubicBezTo>
                  <a:pt x="60" y="266"/>
                  <a:pt x="106" y="289"/>
                  <a:pt x="180" y="306"/>
                </a:cubicBezTo>
                <a:cubicBezTo>
                  <a:pt x="179" y="313"/>
                  <a:pt x="179" y="321"/>
                  <a:pt x="179" y="328"/>
                </a:cubicBezTo>
                <a:cubicBezTo>
                  <a:pt x="179" y="360"/>
                  <a:pt x="185" y="390"/>
                  <a:pt x="196" y="418"/>
                </a:cubicBezTo>
                <a:lnTo>
                  <a:pt x="85" y="418"/>
                </a:lnTo>
                <a:cubicBezTo>
                  <a:pt x="71" y="418"/>
                  <a:pt x="60" y="429"/>
                  <a:pt x="60" y="442"/>
                </a:cubicBezTo>
                <a:cubicBezTo>
                  <a:pt x="60" y="446"/>
                  <a:pt x="60" y="449"/>
                  <a:pt x="61" y="452"/>
                </a:cubicBezTo>
                <a:lnTo>
                  <a:pt x="134" y="632"/>
                </a:lnTo>
                <a:cubicBezTo>
                  <a:pt x="53" y="692"/>
                  <a:pt x="0" y="789"/>
                  <a:pt x="0" y="898"/>
                </a:cubicBezTo>
                <a:cubicBezTo>
                  <a:pt x="0" y="929"/>
                  <a:pt x="25" y="953"/>
                  <a:pt x="55" y="953"/>
                </a:cubicBezTo>
                <a:lnTo>
                  <a:pt x="779" y="953"/>
                </a:lnTo>
                <a:cubicBezTo>
                  <a:pt x="810" y="953"/>
                  <a:pt x="835" y="929"/>
                  <a:pt x="835" y="898"/>
                </a:cubicBezTo>
                <a:cubicBezTo>
                  <a:pt x="835" y="789"/>
                  <a:pt x="782" y="693"/>
                  <a:pt x="701" y="632"/>
                </a:cubicBezTo>
                <a:lnTo>
                  <a:pt x="773" y="452"/>
                </a:lnTo>
                <a:cubicBezTo>
                  <a:pt x="774" y="449"/>
                  <a:pt x="775" y="446"/>
                  <a:pt x="775" y="442"/>
                </a:cubicBezTo>
                <a:cubicBezTo>
                  <a:pt x="775" y="429"/>
                  <a:pt x="764" y="418"/>
                  <a:pt x="750" y="418"/>
                </a:cubicBezTo>
                <a:lnTo>
                  <a:pt x="639" y="418"/>
                </a:lnTo>
                <a:cubicBezTo>
                  <a:pt x="650" y="390"/>
                  <a:pt x="656" y="360"/>
                  <a:pt x="656" y="328"/>
                </a:cubicBezTo>
                <a:cubicBezTo>
                  <a:pt x="656" y="321"/>
                  <a:pt x="656" y="313"/>
                  <a:pt x="655" y="306"/>
                </a:cubicBezTo>
                <a:cubicBezTo>
                  <a:pt x="728" y="289"/>
                  <a:pt x="775" y="266"/>
                  <a:pt x="775" y="239"/>
                </a:cubicBezTo>
                <a:cubicBezTo>
                  <a:pt x="775" y="210"/>
                  <a:pt x="718" y="183"/>
                  <a:pt x="630" y="167"/>
                </a:cubicBezTo>
                <a:cubicBezTo>
                  <a:pt x="604" y="82"/>
                  <a:pt x="564" y="0"/>
                  <a:pt x="506" y="0"/>
                </a:cubicBezTo>
                <a:cubicBezTo>
                  <a:pt x="473" y="0"/>
                  <a:pt x="458" y="10"/>
                  <a:pt x="446" y="18"/>
                </a:cubicBezTo>
                <a:cubicBezTo>
                  <a:pt x="437" y="25"/>
                  <a:pt x="429" y="31"/>
                  <a:pt x="417" y="31"/>
                </a:cubicBezTo>
                <a:moveTo>
                  <a:pt x="522" y="418"/>
                </a:moveTo>
                <a:lnTo>
                  <a:pt x="498" y="418"/>
                </a:lnTo>
                <a:cubicBezTo>
                  <a:pt x="467" y="418"/>
                  <a:pt x="440" y="398"/>
                  <a:pt x="430" y="369"/>
                </a:cubicBezTo>
                <a:cubicBezTo>
                  <a:pt x="426" y="356"/>
                  <a:pt x="408" y="356"/>
                  <a:pt x="403" y="369"/>
                </a:cubicBezTo>
                <a:cubicBezTo>
                  <a:pt x="394" y="398"/>
                  <a:pt x="366" y="418"/>
                  <a:pt x="336" y="418"/>
                </a:cubicBezTo>
                <a:lnTo>
                  <a:pt x="313" y="418"/>
                </a:lnTo>
                <a:cubicBezTo>
                  <a:pt x="272" y="418"/>
                  <a:pt x="238" y="384"/>
                  <a:pt x="238" y="343"/>
                </a:cubicBezTo>
                <a:lnTo>
                  <a:pt x="238" y="316"/>
                </a:lnTo>
                <a:cubicBezTo>
                  <a:pt x="291" y="324"/>
                  <a:pt x="352" y="328"/>
                  <a:pt x="417" y="328"/>
                </a:cubicBezTo>
                <a:cubicBezTo>
                  <a:pt x="482" y="328"/>
                  <a:pt x="544" y="324"/>
                  <a:pt x="596" y="316"/>
                </a:cubicBezTo>
                <a:lnTo>
                  <a:pt x="596" y="343"/>
                </a:lnTo>
                <a:cubicBezTo>
                  <a:pt x="596" y="384"/>
                  <a:pt x="563" y="418"/>
                  <a:pt x="522" y="418"/>
                </a:cubicBezTo>
                <a:moveTo>
                  <a:pt x="357" y="596"/>
                </a:moveTo>
                <a:lnTo>
                  <a:pt x="387" y="656"/>
                </a:lnTo>
                <a:lnTo>
                  <a:pt x="328" y="894"/>
                </a:lnTo>
                <a:lnTo>
                  <a:pt x="238" y="537"/>
                </a:lnTo>
                <a:lnTo>
                  <a:pt x="357" y="596"/>
                </a:lnTo>
                <a:moveTo>
                  <a:pt x="596" y="537"/>
                </a:moveTo>
                <a:lnTo>
                  <a:pt x="506" y="894"/>
                </a:lnTo>
                <a:lnTo>
                  <a:pt x="447" y="656"/>
                </a:lnTo>
                <a:lnTo>
                  <a:pt x="476" y="596"/>
                </a:lnTo>
                <a:lnTo>
                  <a:pt x="596" y="537"/>
                </a:lnTo>
                <a:close/>
              </a:path>
            </a:pathLst>
          </a:custGeom>
          <a:solidFill>
            <a:srgbClr val="392A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6C711BE2-EFF0-17B5-1629-EB59278D02CB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b="0">
                <a:solidFill>
                  <a:prstClr val="black"/>
                </a:solidFill>
                <a:latin typeface="微软雅黑" panose="020B0503020204020204" pitchFamily="34" charset="-122"/>
                <a:ea typeface="微软雅黑"/>
              </a:rPr>
              <a:t>2</a:t>
            </a:r>
            <a:endParaRPr lang="zh-CN" altLang="en-US" sz="1100" b="0" dirty="0">
              <a:solidFill>
                <a:prstClr val="black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1B0623-F833-3C15-72A2-7210C7CB93B5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/>
              <a:t>2027</a:t>
            </a:r>
            <a:r>
              <a:rPr lang="zh-CN" altLang="en-US" sz="1600"/>
              <a:t>年目标：形成</a:t>
            </a:r>
            <a:r>
              <a:rPr lang="en-US" altLang="zh-CN" sz="1600"/>
              <a:t>AI</a:t>
            </a:r>
            <a:r>
              <a:rPr lang="zh-CN" altLang="en-US" sz="1600"/>
              <a:t>驱动的因子轮动与模拟跟踪方案。</a:t>
            </a:r>
            <a:endParaRPr lang="zh-CN" altLang="en-US" sz="16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d2bc9c3-220c-4331-8f1a-c5a9fa4b9c63"/>
  <p:tag name="COMMONDATA" val="eyJoZGlkIjoiYTJjMGQ2MDZmYmFkNjQ3NmEyYzI1YTMxNDI2Njk2Y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3298</TotalTime>
  <Words>429</Words>
  <Application>Microsoft Office PowerPoint</Application>
  <PresentationFormat>宽屏</PresentationFormat>
  <Paragraphs>54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微软雅黑</vt:lpstr>
      <vt:lpstr>Arial</vt:lpstr>
      <vt:lpstr>Calibri</vt:lpstr>
      <vt:lpstr>Calibri Light</vt:lpstr>
      <vt:lpstr>Segoe UI Symbol</vt:lpstr>
      <vt:lpstr>Times New Roman</vt:lpstr>
      <vt:lpstr>Wingdings</vt:lpstr>
      <vt:lpstr>3_Office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洪梅</dc:creator>
  <cp:lastModifiedBy>许佳宜</cp:lastModifiedBy>
  <cp:revision>3588</cp:revision>
  <cp:lastPrinted>2025-11-18T11:22:18Z</cp:lastPrinted>
  <dcterms:created xsi:type="dcterms:W3CDTF">2022-03-16T10:45:00Z</dcterms:created>
  <dcterms:modified xsi:type="dcterms:W3CDTF">2026-10-26T06:12:19Z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8FD771090EF148E8A0D654D6642B5319_13</vt:lpwstr>
  </property>
  <property fmtid="{D5CDD505-2E9C-101B-9397-08002B2CF9AE}" pid="3" name="KSOProductBuildVer">
    <vt:lpwstr>2052-12.1.0.18912</vt:lpwstr>
  </property>
</Properties>
</file>